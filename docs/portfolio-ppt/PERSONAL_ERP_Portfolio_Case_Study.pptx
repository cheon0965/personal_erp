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3F0F5E-E0B6-6CB7-8930-F1EA6036D8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29FF5AB-B7CA-BB97-56C3-32A2B23A15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883EE9-ACE4-332F-716E-6A84865B5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F305C-4675-41AE-B1D8-29D1BCA68AEB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C889F70-A5E6-32B3-6F0B-CE63B6045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255FA9-A240-852B-CE1C-2538336C7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FBCC6-3220-43CF-93C7-EC17E63C70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04587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EF2208-94BC-F5F9-F362-35535DA82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E9E949-1FC7-3C3C-1410-A377335541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5EEAAD-9076-5C5F-305E-F29096C43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F305C-4675-41AE-B1D8-29D1BCA68AEB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C6DA5C-8502-3028-447B-EEF82F628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78406E-A78D-8816-B5DA-DFCC4C995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FBCC6-3220-43CF-93C7-EC17E63C70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543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E1A4D8-B697-670B-E505-525394331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335544-24C1-3D88-6DDF-8DA9256368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2F377F-ADD3-8913-43E3-2514ADDCB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F305C-4675-41AE-B1D8-29D1BCA68AEB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A0C660-63EC-633C-88D0-1CB85A48A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C1C512-A029-0473-D872-92430A6C4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FBCC6-3220-43CF-93C7-EC17E63C70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64409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03397A-BC01-B666-2D73-A13778CF6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69B361-A724-06DE-40BB-B5458D9A12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BE09678-8679-5A2C-9D9D-108629AFD6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7C7D3E2-37F2-0A4C-3292-B23E3642A8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F305C-4675-41AE-B1D8-29D1BCA68AEB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5119F11-FCF4-D9F8-F7D7-8BF918236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22BF922-3720-8BBD-FF97-A6E36DF71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FBCC6-3220-43CF-93C7-EC17E63C70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07259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FC767A-CB60-FC2A-E237-76E75D6A6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AC708D-3C47-938C-1E45-71428D53CE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47CAA4C-0B7D-ACAA-5656-17BA5B8E2F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79586F7-4F03-DA88-2E01-D8B789F94C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1C3D88-A81C-E9CA-251D-23DA3C5D53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7C2B533-B38A-2722-B466-42028517C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F305C-4675-41AE-B1D8-29D1BCA68AEB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0B01F65-B578-15E4-8608-5BC9FC4F0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D734ADC-5E6A-DC47-7E0B-C1245B5CC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FBCC6-3220-43CF-93C7-EC17E63C70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3926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89CDE1-4E7F-578D-E26C-D1D3F7262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71233E9-3323-3AB6-D89A-8F07A4BBB8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F305C-4675-41AE-B1D8-29D1BCA68AEB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BA8708C-6FFA-68B9-8513-01D12F9C6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7E75DF5-7676-B82B-7735-288992DCF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FBCC6-3220-43CF-93C7-EC17E63C70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6662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A2DC1C7-50AC-9616-C399-C229FB25B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F305C-4675-41AE-B1D8-29D1BCA68AEB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989F77B-CF7F-E2DB-8705-C2A68BF6C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4D9950-4E24-67F6-4344-2D446845E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FBCC6-3220-43CF-93C7-EC17E63C70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3818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1E5025-31C4-76D2-5165-966000F47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2B67A9-9A12-3401-F71D-B6BC5A0AF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7693174-CE34-D153-ED50-9DC58F102B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16D3E52-DEEC-846C-0EA1-BD85D9706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F305C-4675-41AE-B1D8-29D1BCA68AEB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77A3E4-D3D5-557E-0A80-510712E78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F8A85B7-705A-7093-E676-9B6F2F06C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FBCC6-3220-43CF-93C7-EC17E63C70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103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FB24C8-67DD-5245-972B-7EB4E868C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A39253B-ABDF-BF83-CAB8-D895BCD47D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986E576-E5D4-E406-4C00-A59B76200A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708DEA-5230-63E1-BB1B-41556D143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F305C-4675-41AE-B1D8-29D1BCA68AEB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2F1E305-BDF8-09F6-77C2-760A20BF3D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6EE0E3-8B43-701E-7C27-E6DE6E5B5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FBCC6-3220-43CF-93C7-EC17E63C70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6699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274FE0-9551-0814-DB05-14499A143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4E759F5-46BD-E391-73EE-F6582466B8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CDEDF11-6177-9CDA-4C37-476BBFAF97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F305C-4675-41AE-B1D8-29D1BCA68AEB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C5E27E-D3F0-9BF8-87EF-8FDE6D460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812ABC-5333-4D6A-765C-534086BDB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FBCC6-3220-43CF-93C7-EC17E63C70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7085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67C00EE-1992-C77F-C238-542D4F361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EBEFBDF-AFDE-CE03-24F4-FCD6E5DB39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6F58CD-6643-EE92-6B84-7E5EB2EAC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F305C-4675-41AE-B1D8-29D1BCA68AEB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DD3DC1A-1B7D-E3A2-D926-C8408C7C2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B27334D-690C-7B87-4B95-00D56FCA1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FBCC6-3220-43CF-93C7-EC17E63C70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6307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3079E2E-A769-8CD2-A478-401B8A6D6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D909AFC-B5FF-7307-1FD2-8BB610A2AA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D45934C-9D24-6837-8044-23B6C3640D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2F305C-4675-41AE-B1D8-29D1BCA68AEB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19D413-43BC-3948-5528-7150157663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DF3D25A-678F-F052-84A4-5CB9F91696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4FBCC6-3220-43CF-93C7-EC17E63C70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4439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C49B848-99A9-6AD5-55F5-5C6D315A32E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4587698-A126-E7E9-8452-8CF661743E62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2538355-0A93-12AE-8BC1-5BDB5E08FAC3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CE5702F-1065-2924-7041-2D77C5B55037}"/>
              </a:ext>
            </a:extLst>
          </p:cNvPr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00A4DA8-4FAA-C189-C6C8-BB1955E6FDF3}"/>
              </a:ext>
            </a:extLst>
          </p:cNvPr>
          <p:cNvSpPr/>
          <p:nvPr/>
        </p:nvSpPr>
        <p:spPr>
          <a:xfrm>
            <a:off x="109728" y="0"/>
            <a:ext cx="45720" cy="6858000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C97BC093-BB81-AE13-3895-451FC53D3F82}"/>
              </a:ext>
            </a:extLst>
          </p:cNvPr>
          <p:cNvSpPr/>
          <p:nvPr/>
        </p:nvSpPr>
        <p:spPr>
          <a:xfrm>
            <a:off x="658368" y="713232"/>
            <a:ext cx="1508760" cy="256032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8FA18A-4BE2-1188-2D84-EB768946BB2A}"/>
              </a:ext>
            </a:extLst>
          </p:cNvPr>
          <p:cNvSpPr txBox="1"/>
          <p:nvPr/>
        </p:nvSpPr>
        <p:spPr>
          <a:xfrm>
            <a:off x="731520" y="763524"/>
            <a:ext cx="1362456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Portfolio Case Study</a:t>
            </a:r>
            <a:endParaRPr lang="ko-KR" altLang="en-US" sz="78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F3690B-5B16-2D0E-FC75-1EFAB3888513}"/>
              </a:ext>
            </a:extLst>
          </p:cNvPr>
          <p:cNvSpPr txBox="1"/>
          <p:nvPr/>
        </p:nvSpPr>
        <p:spPr>
          <a:xfrm>
            <a:off x="640080" y="1188720"/>
            <a:ext cx="5120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en-US" altLang="ko-KR" sz="36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</a:t>
            </a:r>
            <a:endParaRPr lang="ko-KR" altLang="en-US" sz="3600" b="1">
              <a:solidFill>
                <a:srgbClr val="FFFFFF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992C46C-B8F9-208E-53F9-13EE40F68B19}"/>
              </a:ext>
            </a:extLst>
          </p:cNvPr>
          <p:cNvSpPr/>
          <p:nvPr/>
        </p:nvSpPr>
        <p:spPr>
          <a:xfrm>
            <a:off x="694944" y="1856232"/>
            <a:ext cx="1234440" cy="73152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F435F2-9EB4-DAC0-41E8-EB95318767F9}"/>
              </a:ext>
            </a:extLst>
          </p:cNvPr>
          <p:cNvSpPr txBox="1"/>
          <p:nvPr/>
        </p:nvSpPr>
        <p:spPr>
          <a:xfrm>
            <a:off x="640080" y="2212848"/>
            <a:ext cx="50292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>
                <a:solidFill>
                  <a:srgbClr val="E5E7E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</a:t>
            </a:r>
            <a:r>
              <a:rPr lang="ko-KR" altLang="en-US">
                <a:solidFill>
                  <a:srgbClr val="E5E7E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인 사업자와 소상공인의 월별 재무 운영을 계획부터 마감까지 연결하는 </a:t>
            </a:r>
            <a:r>
              <a:rPr lang="en-US" altLang="ko-KR">
                <a:solidFill>
                  <a:srgbClr val="E5E7E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ERP</a:t>
            </a:r>
            <a:endParaRPr lang="ko-KR" altLang="en-US">
              <a:solidFill>
                <a:srgbClr val="E5E7E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AEF6C43-54DA-301F-D8A1-6BF0FECDD4FE}"/>
              </a:ext>
            </a:extLst>
          </p:cNvPr>
          <p:cNvSpPr/>
          <p:nvPr/>
        </p:nvSpPr>
        <p:spPr>
          <a:xfrm>
            <a:off x="676656" y="3310128"/>
            <a:ext cx="73152" cy="7315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51F6E8-A909-5012-998C-E27AC5FA4EBB}"/>
              </a:ext>
            </a:extLst>
          </p:cNvPr>
          <p:cNvSpPr txBox="1"/>
          <p:nvPr/>
        </p:nvSpPr>
        <p:spPr>
          <a:xfrm>
            <a:off x="859536" y="3236976"/>
            <a:ext cx="429768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</a:t>
            </a:r>
            <a:r>
              <a:rPr lang="en-US" altLang="ko-KR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</a:t>
            </a:r>
            <a:r>
              <a:rPr lang="en-US" altLang="ko-KR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</a:t>
            </a:r>
            <a:r>
              <a:rPr lang="en-US" altLang="ko-KR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</a:t>
            </a:r>
            <a:r>
              <a:rPr lang="en-US" altLang="ko-KR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보고를 하나의 월 운영 흐름으로 구성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F627A66-B93D-27E0-581E-F06003B3EE23}"/>
              </a:ext>
            </a:extLst>
          </p:cNvPr>
          <p:cNvSpPr/>
          <p:nvPr/>
        </p:nvSpPr>
        <p:spPr>
          <a:xfrm>
            <a:off x="676656" y="3694176"/>
            <a:ext cx="73152" cy="7315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5530F6-7227-AD4F-E95F-E4F04C5182BA}"/>
              </a:ext>
            </a:extLst>
          </p:cNvPr>
          <p:cNvSpPr txBox="1"/>
          <p:nvPr/>
        </p:nvSpPr>
        <p:spPr>
          <a:xfrm>
            <a:off x="859536" y="3621024"/>
            <a:ext cx="429768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거래와 전표를 분리해 운영 데이터와 공식 기록의 경계를 명확화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CE5C828-8EFD-7D77-99D9-306156CCEC29}"/>
              </a:ext>
            </a:extLst>
          </p:cNvPr>
          <p:cNvSpPr/>
          <p:nvPr/>
        </p:nvSpPr>
        <p:spPr>
          <a:xfrm>
            <a:off x="676656" y="4078224"/>
            <a:ext cx="73152" cy="7315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603AFB4-7934-1698-FEEE-6D01DC5D5987}"/>
              </a:ext>
            </a:extLst>
          </p:cNvPr>
          <p:cNvSpPr txBox="1"/>
          <p:nvPr/>
        </p:nvSpPr>
        <p:spPr>
          <a:xfrm>
            <a:off x="859536" y="4005072"/>
            <a:ext cx="429768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공개 데모</a:t>
            </a:r>
            <a:r>
              <a:rPr lang="en-US" altLang="ko-KR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검증 체계</a:t>
            </a:r>
            <a:r>
              <a:rPr lang="en-US" altLang="ko-KR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배포 문서까지 갖춘 풀스택 케이스 스터디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EA1BA835-FE90-3F6F-43AD-BFD5D03857BB}"/>
              </a:ext>
            </a:extLst>
          </p:cNvPr>
          <p:cNvSpPr/>
          <p:nvPr/>
        </p:nvSpPr>
        <p:spPr>
          <a:xfrm>
            <a:off x="5989320" y="768096"/>
            <a:ext cx="5468112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B974E4E-5B7F-D61F-E1F4-A1C87DA99158}"/>
              </a:ext>
            </a:extLst>
          </p:cNvPr>
          <p:cNvSpPr/>
          <p:nvPr/>
        </p:nvSpPr>
        <p:spPr>
          <a:xfrm>
            <a:off x="5989320" y="768096"/>
            <a:ext cx="5468112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90E3B82D-5A7D-F0F3-E1B8-6B1617914F4B}"/>
              </a:ext>
            </a:extLst>
          </p:cNvPr>
          <p:cNvSpPr/>
          <p:nvPr/>
        </p:nvSpPr>
        <p:spPr>
          <a:xfrm>
            <a:off x="6153912" y="905256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BB050080-448B-7348-72BD-A145BDCDBC47}"/>
              </a:ext>
            </a:extLst>
          </p:cNvPr>
          <p:cNvSpPr/>
          <p:nvPr/>
        </p:nvSpPr>
        <p:spPr>
          <a:xfrm>
            <a:off x="6300216" y="905256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2EC94A14-9939-B863-DFA9-98234A1C63D8}"/>
              </a:ext>
            </a:extLst>
          </p:cNvPr>
          <p:cNvSpPr/>
          <p:nvPr/>
        </p:nvSpPr>
        <p:spPr>
          <a:xfrm>
            <a:off x="6446520" y="905256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643312-8713-2DF7-ECF1-59FD6599F7DC}"/>
              </a:ext>
            </a:extLst>
          </p:cNvPr>
          <p:cNvSpPr txBox="1"/>
          <p:nvPr/>
        </p:nvSpPr>
        <p:spPr>
          <a:xfrm>
            <a:off x="6629400" y="877824"/>
            <a:ext cx="45537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공개 홈 </a:t>
            </a:r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 </a:t>
            </a:r>
            <a:r>
              <a:rPr lang="ko-KR" altLang="en-US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대시보드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3BE648-7D26-09F3-B711-39F0A71F095B}"/>
              </a:ext>
            </a:extLst>
          </p:cNvPr>
          <p:cNvSpPr txBox="1"/>
          <p:nvPr/>
        </p:nvSpPr>
        <p:spPr>
          <a:xfrm>
            <a:off x="6217920" y="1499616"/>
            <a:ext cx="50109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41F0F9-3109-0E78-CCCA-5030A4744CBF}"/>
              </a:ext>
            </a:extLst>
          </p:cNvPr>
          <p:cNvSpPr txBox="1"/>
          <p:nvPr/>
        </p:nvSpPr>
        <p:spPr>
          <a:xfrm>
            <a:off x="6309360" y="3031236"/>
            <a:ext cx="4828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01-public-home.png </a:t>
            </a:r>
            <a:r>
              <a:rPr lang="ko-KR" altLang="en-US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또는 </a:t>
            </a:r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03-dashboard.png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EEDB3D-4D35-4997-E4AC-CCE4C8F95007}"/>
              </a:ext>
            </a:extLst>
          </p:cNvPr>
          <p:cNvSpPr txBox="1"/>
          <p:nvPr/>
        </p:nvSpPr>
        <p:spPr>
          <a:xfrm>
            <a:off x="6492240" y="3470148"/>
            <a:ext cx="446227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0ABD7BD-D613-D49C-64DE-C1F78D0806F4}"/>
              </a:ext>
            </a:extLst>
          </p:cNvPr>
          <p:cNvSpPr/>
          <p:nvPr/>
        </p:nvSpPr>
        <p:spPr>
          <a:xfrm>
            <a:off x="5623560" y="5989320"/>
            <a:ext cx="987552" cy="8229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4AC09F5-FEE6-A7DE-6B39-4EC4C1E2B5DB}"/>
              </a:ext>
            </a:extLst>
          </p:cNvPr>
          <p:cNvSpPr/>
          <p:nvPr/>
        </p:nvSpPr>
        <p:spPr>
          <a:xfrm>
            <a:off x="6729984" y="5989320"/>
            <a:ext cx="987552" cy="8229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CABE43C-B7C0-9BB6-B130-D149EDC24036}"/>
              </a:ext>
            </a:extLst>
          </p:cNvPr>
          <p:cNvSpPr/>
          <p:nvPr/>
        </p:nvSpPr>
        <p:spPr>
          <a:xfrm>
            <a:off x="7836408" y="5989320"/>
            <a:ext cx="987552" cy="8229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E037ADE-31F1-B9E2-3B19-BB9AFA7AF57E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A1A1A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A1A1A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0F79239-63CF-0735-FE8B-3BE970BEE842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A1A1A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01</a:t>
            </a:r>
            <a:endParaRPr lang="ko-KR" altLang="en-US" sz="780">
              <a:solidFill>
                <a:srgbClr val="A1A1A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0609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3021ECD-1618-0703-1511-D937D2661CF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6254E2E-B8DA-010A-CBEC-DE43B626B16F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C4E7B03B-F9D7-9078-06DC-F658EA25EDF9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A31BBE-7DFB-BBCF-2C82-0112697A9CBF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SUMMARY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8D27EE-9366-C08B-32F4-26E99F55E6C9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프로젝트를 한 장으로 요약하면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7C34A80-A1D2-818B-AEDF-705119CE8641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2F901B95-A5DC-6834-4C8B-407DE5390368}"/>
              </a:ext>
            </a:extLst>
          </p:cNvPr>
          <p:cNvSpPr/>
          <p:nvPr/>
        </p:nvSpPr>
        <p:spPr>
          <a:xfrm>
            <a:off x="621792" y="1444752"/>
            <a:ext cx="2596896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D394E94-2668-D93A-3EE0-E609853D3983}"/>
              </a:ext>
            </a:extLst>
          </p:cNvPr>
          <p:cNvSpPr/>
          <p:nvPr/>
        </p:nvSpPr>
        <p:spPr>
          <a:xfrm>
            <a:off x="621792" y="1444752"/>
            <a:ext cx="64008" cy="93268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69C3E6-3058-0EC3-6BC0-8F426739723D}"/>
              </a:ext>
            </a:extLst>
          </p:cNvPr>
          <p:cNvSpPr txBox="1"/>
          <p:nvPr/>
        </p:nvSpPr>
        <p:spPr>
          <a:xfrm>
            <a:off x="786384" y="1545336"/>
            <a:ext cx="23042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대상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BACEDF-A86E-67E5-6349-954968DD0B5D}"/>
              </a:ext>
            </a:extLst>
          </p:cNvPr>
          <p:cNvSpPr txBox="1"/>
          <p:nvPr/>
        </p:nvSpPr>
        <p:spPr>
          <a:xfrm>
            <a:off x="786384" y="1792224"/>
            <a:ext cx="2304288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반복적인 월별 재무 운영을 직접 챙겨야 하는 소규모 사업자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8BACBBD-E52A-5368-9F19-8DF4D9025217}"/>
              </a:ext>
            </a:extLst>
          </p:cNvPr>
          <p:cNvSpPr/>
          <p:nvPr/>
        </p:nvSpPr>
        <p:spPr>
          <a:xfrm>
            <a:off x="3438144" y="1444752"/>
            <a:ext cx="2596896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49720-DE5A-EAFF-1E75-D90FE0CD9AD7}"/>
              </a:ext>
            </a:extLst>
          </p:cNvPr>
          <p:cNvSpPr/>
          <p:nvPr/>
        </p:nvSpPr>
        <p:spPr>
          <a:xfrm>
            <a:off x="3438144" y="1444752"/>
            <a:ext cx="64008" cy="93268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963B2E-0004-1A46-A58F-1EA7FC371CFC}"/>
              </a:ext>
            </a:extLst>
          </p:cNvPr>
          <p:cNvSpPr txBox="1"/>
          <p:nvPr/>
        </p:nvSpPr>
        <p:spPr>
          <a:xfrm>
            <a:off x="3602736" y="1545336"/>
            <a:ext cx="23042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핵심 문제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91CE51-E5CD-561F-FFEF-8A6ED811CE0F}"/>
              </a:ext>
            </a:extLst>
          </p:cNvPr>
          <p:cNvSpPr txBox="1"/>
          <p:nvPr/>
        </p:nvSpPr>
        <p:spPr>
          <a:xfrm>
            <a:off x="3602736" y="1792224"/>
            <a:ext cx="2304288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예정 거래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실제 거래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보고가 서로 끊겨 있음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AF1C921-FF95-3B1E-3D01-0EA336703FB7}"/>
              </a:ext>
            </a:extLst>
          </p:cNvPr>
          <p:cNvSpPr/>
          <p:nvPr/>
        </p:nvSpPr>
        <p:spPr>
          <a:xfrm>
            <a:off x="6254496" y="1444752"/>
            <a:ext cx="2596896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B17FF5D-7FAD-C850-55A7-5A87C2AFA9E1}"/>
              </a:ext>
            </a:extLst>
          </p:cNvPr>
          <p:cNvSpPr/>
          <p:nvPr/>
        </p:nvSpPr>
        <p:spPr>
          <a:xfrm>
            <a:off x="6254496" y="1444752"/>
            <a:ext cx="64008" cy="93268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425E75-67F0-8180-9D7B-750B9C691EB4}"/>
              </a:ext>
            </a:extLst>
          </p:cNvPr>
          <p:cNvSpPr txBox="1"/>
          <p:nvPr/>
        </p:nvSpPr>
        <p:spPr>
          <a:xfrm>
            <a:off x="6419088" y="1545336"/>
            <a:ext cx="23042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제품 해법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A70047-C57E-5B72-F221-4FB7576AC09C}"/>
              </a:ext>
            </a:extLst>
          </p:cNvPr>
          <p:cNvSpPr txBox="1"/>
          <p:nvPr/>
        </p:nvSpPr>
        <p:spPr>
          <a:xfrm>
            <a:off x="6419088" y="1792224"/>
            <a:ext cx="2304288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한 달의 운영을 열고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수집하고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확정하고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닫는 흐름 제공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5C7B91E-ADB4-6873-7BB5-D82A6D407CF7}"/>
              </a:ext>
            </a:extLst>
          </p:cNvPr>
          <p:cNvSpPr/>
          <p:nvPr/>
        </p:nvSpPr>
        <p:spPr>
          <a:xfrm>
            <a:off x="9070848" y="1444752"/>
            <a:ext cx="2596896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E5D6E9D-556C-16BC-A29B-73A0FEFCB3C7}"/>
              </a:ext>
            </a:extLst>
          </p:cNvPr>
          <p:cNvSpPr/>
          <p:nvPr/>
        </p:nvSpPr>
        <p:spPr>
          <a:xfrm>
            <a:off x="9070848" y="1444752"/>
            <a:ext cx="64008" cy="932688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1ACC61-8EBE-602E-4A21-68ED14FB1654}"/>
              </a:ext>
            </a:extLst>
          </p:cNvPr>
          <p:cNvSpPr txBox="1"/>
          <p:nvPr/>
        </p:nvSpPr>
        <p:spPr>
          <a:xfrm>
            <a:off x="9235440" y="1545336"/>
            <a:ext cx="23042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기술 판단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C87CE8-72B4-D78C-1142-34F1DAA8AFA9}"/>
              </a:ext>
            </a:extLst>
          </p:cNvPr>
          <p:cNvSpPr txBox="1"/>
          <p:nvPr/>
        </p:nvSpPr>
        <p:spPr>
          <a:xfrm>
            <a:off x="9235440" y="1792224"/>
            <a:ext cx="2304288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Next.js/NestJS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기반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SaaS ERP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아키텍처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E30EC84-1A2D-7E53-E8AC-AA4B9BDD90CE}"/>
              </a:ext>
            </a:extLst>
          </p:cNvPr>
          <p:cNvSpPr/>
          <p:nvPr/>
        </p:nvSpPr>
        <p:spPr>
          <a:xfrm>
            <a:off x="658368" y="2788920"/>
            <a:ext cx="5212080" cy="2212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2BBCD3-9205-0268-8099-D1F6F225B1D3}"/>
              </a:ext>
            </a:extLst>
          </p:cNvPr>
          <p:cNvSpPr txBox="1"/>
          <p:nvPr/>
        </p:nvSpPr>
        <p:spPr>
          <a:xfrm>
            <a:off x="868680" y="2971800"/>
            <a:ext cx="44805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5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제품이 다루는 월 운영 범위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F0AA52C-EEA2-6A28-1775-2A164E7743A8}"/>
              </a:ext>
            </a:extLst>
          </p:cNvPr>
          <p:cNvSpPr txBox="1"/>
          <p:nvPr/>
        </p:nvSpPr>
        <p:spPr>
          <a:xfrm>
            <a:off x="932688" y="3456432"/>
            <a:ext cx="4434840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기준 데이터 준비와 월 운영 시작</a:t>
            </a:r>
          </a:p>
          <a:p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 항목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반복 규칙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</a:t>
            </a:r>
          </a:p>
          <a:p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 확정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마감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재무제표 스냅샷</a:t>
            </a:r>
          </a:p>
          <a:p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이월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전망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허브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관리자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로그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83380AD-9941-7647-44FD-DAA75A24616D}"/>
              </a:ext>
            </a:extLst>
          </p:cNvPr>
          <p:cNvSpPr/>
          <p:nvPr/>
        </p:nvSpPr>
        <p:spPr>
          <a:xfrm>
            <a:off x="6291072" y="2788920"/>
            <a:ext cx="5212080" cy="2212848"/>
          </a:xfrm>
          <a:prstGeom prst="rect">
            <a:avLst/>
          </a:prstGeom>
          <a:solidFill>
            <a:srgbClr val="18181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916838-5CEA-BE07-D2B8-7CD793B10766}"/>
              </a:ext>
            </a:extLst>
          </p:cNvPr>
          <p:cNvSpPr txBox="1"/>
          <p:nvPr/>
        </p:nvSpPr>
        <p:spPr>
          <a:xfrm>
            <a:off x="6492240" y="2971800"/>
            <a:ext cx="44805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포트폴리오에서 드러나는 역량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A826AA4-875B-98B2-36AF-F120B215CBF7}"/>
              </a:ext>
            </a:extLst>
          </p:cNvPr>
          <p:cNvSpPr txBox="1"/>
          <p:nvPr/>
        </p:nvSpPr>
        <p:spPr>
          <a:xfrm>
            <a:off x="6565392" y="3456432"/>
            <a:ext cx="4434840" cy="2308324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문제 정의에서 화면 설계까지 이어지는 제품 사고</a:t>
            </a:r>
          </a:p>
          <a:p>
            <a:r>
              <a:rPr lang="en-US" altLang="ko-KR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ERP </a:t>
            </a:r>
            <a:r>
              <a:rPr lang="ko-KR" altLang="en-US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유지보수 경험에서 나온 상태</a:t>
            </a:r>
            <a:r>
              <a:rPr lang="en-US" altLang="ko-KR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예외</a:t>
            </a:r>
            <a:r>
              <a:rPr lang="en-US" altLang="ko-KR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설계</a:t>
            </a:r>
          </a:p>
          <a:p>
            <a:r>
              <a:rPr lang="en-US" altLang="ko-KR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도메인 경계와 상태 전이를 코드</a:t>
            </a:r>
            <a:r>
              <a:rPr lang="en-US" altLang="ko-KR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화면으로 구현</a:t>
            </a:r>
          </a:p>
          <a:p>
            <a:r>
              <a:rPr lang="en-US" altLang="ko-KR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Web/API/DB/</a:t>
            </a:r>
            <a:r>
              <a:rPr lang="ko-KR" altLang="en-US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검증</a:t>
            </a:r>
            <a:r>
              <a:rPr lang="en-US" altLang="ko-KR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배포를 연결한 완성도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F147B11-6DA4-EEC7-8C6F-26D7AD75AEE2}"/>
              </a:ext>
            </a:extLst>
          </p:cNvPr>
          <p:cNvSpPr/>
          <p:nvPr/>
        </p:nvSpPr>
        <p:spPr>
          <a:xfrm>
            <a:off x="6473952" y="4645152"/>
            <a:ext cx="1143000" cy="6400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CFD721B-2D6D-C1EA-60A7-F268E88097B0}"/>
              </a:ext>
            </a:extLst>
          </p:cNvPr>
          <p:cNvSpPr/>
          <p:nvPr/>
        </p:nvSpPr>
        <p:spPr>
          <a:xfrm>
            <a:off x="7772400" y="4645152"/>
            <a:ext cx="1143000" cy="6400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D1FE2BD-11BB-C40E-60E0-34AFC101F0EC}"/>
              </a:ext>
            </a:extLst>
          </p:cNvPr>
          <p:cNvSpPr/>
          <p:nvPr/>
        </p:nvSpPr>
        <p:spPr>
          <a:xfrm>
            <a:off x="9070848" y="4645152"/>
            <a:ext cx="1143000" cy="6400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5B21586-EEEE-1E2C-8D20-B03637A60428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1D305B0-1387-6292-4897-E679171D3D35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02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80598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7B289B6-F1AD-A791-A76D-43336305A9E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0F565F6-4830-F42D-C479-3A2887686889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AF4CD1F-A594-414A-61AE-7AC46CAB3EC9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01DDE4-B6EF-C83E-D6EA-A500E2930A97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POSITIONING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5C1D0B-84B9-DAC8-2BB4-ACA901A64F81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프로젝트의 포트폴리오 관점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E7A6963-26A5-89D1-B609-AE711F408927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100FABD-D0C3-FD53-FC4C-D44B43535D85}"/>
              </a:ext>
            </a:extLst>
          </p:cNvPr>
          <p:cNvSpPr txBox="1"/>
          <p:nvPr/>
        </p:nvSpPr>
        <p:spPr>
          <a:xfrm>
            <a:off x="685800" y="1298448"/>
            <a:ext cx="67665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보여주려는 것은 기능 개수가 아니라 설계의 일관성입니다</a:t>
            </a:r>
            <a:r>
              <a:rPr lang="en-US" altLang="ko-KR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AED6B4F-CE80-CEC0-D698-962B8EF1630E}"/>
              </a:ext>
            </a:extLst>
          </p:cNvPr>
          <p:cNvSpPr/>
          <p:nvPr/>
        </p:nvSpPr>
        <p:spPr>
          <a:xfrm>
            <a:off x="713232" y="1920240"/>
            <a:ext cx="3200400" cy="12984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69B447-540F-8DD2-4742-1A7182C3CE62}"/>
              </a:ext>
            </a:extLst>
          </p:cNvPr>
          <p:cNvSpPr txBox="1"/>
          <p:nvPr/>
        </p:nvSpPr>
        <p:spPr>
          <a:xfrm>
            <a:off x="914400" y="2084832"/>
            <a:ext cx="411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2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01</a:t>
            </a:r>
            <a:endParaRPr lang="ko-KR" altLang="en-US" sz="120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2F0833-2A5A-02FC-256E-125518C78F31}"/>
              </a:ext>
            </a:extLst>
          </p:cNvPr>
          <p:cNvSpPr txBox="1"/>
          <p:nvPr/>
        </p:nvSpPr>
        <p:spPr>
          <a:xfrm>
            <a:off x="1444752" y="2039112"/>
            <a:ext cx="2011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4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문제 정의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2B4FF3-E8B7-6FD2-BB37-A2ED198885A9}"/>
              </a:ext>
            </a:extLst>
          </p:cNvPr>
          <p:cNvSpPr txBox="1"/>
          <p:nvPr/>
        </p:nvSpPr>
        <p:spPr>
          <a:xfrm>
            <a:off x="1444752" y="2450592"/>
            <a:ext cx="2148840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2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단순 기록보다 월 운영이 끊기는 지점을 문제로 봅니다</a:t>
            </a:r>
            <a:r>
              <a:rPr lang="en-US" altLang="ko-KR" sz="112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12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63D6D3D-F68D-A12F-8D74-8DB27C0B5BA9}"/>
              </a:ext>
            </a:extLst>
          </p:cNvPr>
          <p:cNvSpPr/>
          <p:nvPr/>
        </p:nvSpPr>
        <p:spPr>
          <a:xfrm>
            <a:off x="4389120" y="1920240"/>
            <a:ext cx="3200400" cy="12984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C85720-980F-2573-1A77-2616756DF8E8}"/>
              </a:ext>
            </a:extLst>
          </p:cNvPr>
          <p:cNvSpPr txBox="1"/>
          <p:nvPr/>
        </p:nvSpPr>
        <p:spPr>
          <a:xfrm>
            <a:off x="4590288" y="2084832"/>
            <a:ext cx="411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2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02</a:t>
            </a:r>
            <a:endParaRPr lang="ko-KR" altLang="en-US" sz="120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E63AD8-3045-E32C-C16F-FD679BB6A2E5}"/>
              </a:ext>
            </a:extLst>
          </p:cNvPr>
          <p:cNvSpPr txBox="1"/>
          <p:nvPr/>
        </p:nvSpPr>
        <p:spPr>
          <a:xfrm>
            <a:off x="5120640" y="2039112"/>
            <a:ext cx="2011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4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도메인 판단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9BD2FD-0118-CBA1-665B-7E7C44C3E5B3}"/>
              </a:ext>
            </a:extLst>
          </p:cNvPr>
          <p:cNvSpPr txBox="1"/>
          <p:nvPr/>
        </p:nvSpPr>
        <p:spPr>
          <a:xfrm>
            <a:off x="5120640" y="2450592"/>
            <a:ext cx="2148840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2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거래와 전표를 분리해 검토와 확정을 나눕니다</a:t>
            </a:r>
            <a:r>
              <a:rPr lang="en-US" altLang="ko-KR" sz="112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12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83BAF14-D26D-5B60-756C-7E0015F650D1}"/>
              </a:ext>
            </a:extLst>
          </p:cNvPr>
          <p:cNvSpPr/>
          <p:nvPr/>
        </p:nvSpPr>
        <p:spPr>
          <a:xfrm>
            <a:off x="8065008" y="1920240"/>
            <a:ext cx="3200400" cy="12984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70A5D3-95EB-FF61-78D2-B996391B804C}"/>
              </a:ext>
            </a:extLst>
          </p:cNvPr>
          <p:cNvSpPr txBox="1"/>
          <p:nvPr/>
        </p:nvSpPr>
        <p:spPr>
          <a:xfrm>
            <a:off x="8266176" y="2084832"/>
            <a:ext cx="411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2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03</a:t>
            </a:r>
            <a:endParaRPr lang="ko-KR" altLang="en-US" sz="1200" b="1">
              <a:solidFill>
                <a:srgbClr val="D97706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D34AAF-0218-89ED-4D33-1920C07F4787}"/>
              </a:ext>
            </a:extLst>
          </p:cNvPr>
          <p:cNvSpPr txBox="1"/>
          <p:nvPr/>
        </p:nvSpPr>
        <p:spPr>
          <a:xfrm>
            <a:off x="8796528" y="2039112"/>
            <a:ext cx="2011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4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검증 가능한 증거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A43621-BBFD-2ECC-D37B-C7D7E2C16AB8}"/>
              </a:ext>
            </a:extLst>
          </p:cNvPr>
          <p:cNvSpPr txBox="1"/>
          <p:nvPr/>
        </p:nvSpPr>
        <p:spPr>
          <a:xfrm>
            <a:off x="8796528" y="2450592"/>
            <a:ext cx="2148840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2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화면</a:t>
            </a:r>
            <a:r>
              <a:rPr lang="en-US" altLang="ko-KR" sz="112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API, DB, </a:t>
            </a:r>
            <a:r>
              <a:rPr lang="ko-KR" altLang="en-US" sz="112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문서</a:t>
            </a:r>
            <a:r>
              <a:rPr lang="en-US" altLang="ko-KR" sz="112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2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배포 기준을 함께 제시합니다</a:t>
            </a:r>
            <a:r>
              <a:rPr lang="en-US" altLang="ko-KR" sz="112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12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C367A97-8375-D577-9969-550C670E65A5}"/>
              </a:ext>
            </a:extLst>
          </p:cNvPr>
          <p:cNvSpPr/>
          <p:nvPr/>
        </p:nvSpPr>
        <p:spPr>
          <a:xfrm>
            <a:off x="713232" y="3822192"/>
            <a:ext cx="10652760" cy="1051560"/>
          </a:xfrm>
          <a:prstGeom prst="rect">
            <a:avLst/>
          </a:prstGeom>
          <a:solidFill>
            <a:srgbClr val="18181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E7F2D0-D004-B040-D24F-26B12A79F3BE}"/>
              </a:ext>
            </a:extLst>
          </p:cNvPr>
          <p:cNvSpPr txBox="1"/>
          <p:nvPr/>
        </p:nvSpPr>
        <p:spPr>
          <a:xfrm>
            <a:off x="960120" y="4005072"/>
            <a:ext cx="24688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PPT</a:t>
            </a:r>
            <a:r>
              <a:rPr lang="ko-KR" altLang="en-US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의 중심 문장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F9CFC8-D12A-D91D-8C1B-4B20BB31472D}"/>
              </a:ext>
            </a:extLst>
          </p:cNvPr>
          <p:cNvSpPr txBox="1"/>
          <p:nvPr/>
        </p:nvSpPr>
        <p:spPr>
          <a:xfrm>
            <a:off x="960120" y="4370832"/>
            <a:ext cx="969264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</a:t>
            </a:r>
            <a:r>
              <a:rPr lang="ko-KR" altLang="en-US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는 거래를 많이 입력하는 앱이 아니라</a:t>
            </a:r>
            <a:r>
              <a:rPr lang="en-US" altLang="ko-KR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ERP </a:t>
            </a:r>
            <a:r>
              <a:rPr lang="ko-KR" altLang="en-US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유지보수에서 배운 상태</a:t>
            </a:r>
            <a:r>
              <a:rPr lang="en-US" altLang="ko-KR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예외</a:t>
            </a:r>
            <a:r>
              <a:rPr lang="en-US" altLang="ko-KR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</a:t>
            </a:r>
            <a:r>
              <a:rPr lang="en-US" altLang="ko-KR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문제를 월 운영 제품 흐름으로 풀어낸 케이스입니다</a:t>
            </a:r>
            <a:r>
              <a:rPr lang="en-US" altLang="ko-KR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500" b="1">
              <a:solidFill>
                <a:srgbClr val="FFFFFF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7AA00E-4DE0-6DA7-1677-007267E6D40D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5C01957-1228-14B0-9704-62DF22C25AD1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03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698595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2C8A15A-E94B-BF6D-B357-1870C149751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85C7CC6-3E10-1B7F-8054-301FAF4C36E8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948A02EB-C2FD-983C-C237-785107AD8E90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2D44A9-9C7F-B424-6B39-286BB50AEFA1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PROBLEM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8669D9-697E-84B3-743F-F095EA0AEFB5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해결하려는 문제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550E64A-E1E2-4938-B53C-5E52723B143B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F86F924-8FC5-763B-E207-B7B4ABE4B528}"/>
              </a:ext>
            </a:extLst>
          </p:cNvPr>
          <p:cNvSpPr txBox="1"/>
          <p:nvPr/>
        </p:nvSpPr>
        <p:spPr>
          <a:xfrm>
            <a:off x="713232" y="1298448"/>
            <a:ext cx="4389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Pain point</a:t>
            </a:r>
            <a:endParaRPr lang="ko-KR" altLang="en-US" sz="1000" b="1">
              <a:solidFill>
                <a:srgbClr val="D97706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00579C-8809-4C53-EBB8-5EDC58F86FBD}"/>
              </a:ext>
            </a:extLst>
          </p:cNvPr>
          <p:cNvSpPr txBox="1"/>
          <p:nvPr/>
        </p:nvSpPr>
        <p:spPr>
          <a:xfrm>
            <a:off x="4526280" y="1298448"/>
            <a:ext cx="4389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Product response</a:t>
            </a:r>
            <a:endParaRPr lang="ko-KR" altLang="en-US" sz="100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3EC579-F98F-C40F-7059-D542BE6216CA}"/>
              </a:ext>
            </a:extLst>
          </p:cNvPr>
          <p:cNvSpPr/>
          <p:nvPr/>
        </p:nvSpPr>
        <p:spPr>
          <a:xfrm>
            <a:off x="658368" y="1645920"/>
            <a:ext cx="315468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95F5891-E22A-D0C8-B8EE-829D2F47EDB4}"/>
              </a:ext>
            </a:extLst>
          </p:cNvPr>
          <p:cNvSpPr/>
          <p:nvPr/>
        </p:nvSpPr>
        <p:spPr>
          <a:xfrm>
            <a:off x="658368" y="1645920"/>
            <a:ext cx="64008" cy="74980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F48D5C-0F76-A762-72D3-803CB20AEC07}"/>
              </a:ext>
            </a:extLst>
          </p:cNvPr>
          <p:cNvSpPr txBox="1"/>
          <p:nvPr/>
        </p:nvSpPr>
        <p:spPr>
          <a:xfrm>
            <a:off x="822960" y="1737360"/>
            <a:ext cx="286207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거래가 흩어짐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50DC25-1355-11AE-6893-A06BA807D217}"/>
              </a:ext>
            </a:extLst>
          </p:cNvPr>
          <p:cNvSpPr txBox="1"/>
          <p:nvPr/>
        </p:nvSpPr>
        <p:spPr>
          <a:xfrm>
            <a:off x="822960" y="1975104"/>
            <a:ext cx="286207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통장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카드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수기 입력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 파일이 따로 움직임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4D6ACE9F-68AA-756A-0055-D38A10BED9DA}"/>
              </a:ext>
            </a:extLst>
          </p:cNvPr>
          <p:cNvCxnSpPr/>
          <p:nvPr/>
        </p:nvCxnSpPr>
        <p:spPr>
          <a:xfrm>
            <a:off x="3913632" y="2020824"/>
            <a:ext cx="365760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72649F0-B9A1-1FB7-17AD-C027A08297D3}"/>
              </a:ext>
            </a:extLst>
          </p:cNvPr>
          <p:cNvSpPr/>
          <p:nvPr/>
        </p:nvSpPr>
        <p:spPr>
          <a:xfrm>
            <a:off x="4443984" y="1645920"/>
            <a:ext cx="672084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6996701-3441-DCF3-240A-D69724BC7139}"/>
              </a:ext>
            </a:extLst>
          </p:cNvPr>
          <p:cNvSpPr/>
          <p:nvPr/>
        </p:nvSpPr>
        <p:spPr>
          <a:xfrm>
            <a:off x="4443984" y="1645920"/>
            <a:ext cx="64008" cy="74980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843C2E-CCE8-DE4C-9C78-D4ED2E4C775E}"/>
              </a:ext>
            </a:extLst>
          </p:cNvPr>
          <p:cNvSpPr txBox="1"/>
          <p:nvPr/>
        </p:nvSpPr>
        <p:spPr>
          <a:xfrm>
            <a:off x="4608576" y="1737360"/>
            <a:ext cx="64282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대응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F9E7DA-C16A-394D-6D82-0E1B535941F4}"/>
              </a:ext>
            </a:extLst>
          </p:cNvPr>
          <p:cNvSpPr txBox="1"/>
          <p:nvPr/>
        </p:nvSpPr>
        <p:spPr>
          <a:xfrm>
            <a:off x="4608576" y="1975104"/>
            <a:ext cx="64282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 배치와 수집 거래로 입력을 모음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A4D01CE-8A6A-DA39-D50D-5F35DE86F6C9}"/>
              </a:ext>
            </a:extLst>
          </p:cNvPr>
          <p:cNvSpPr/>
          <p:nvPr/>
        </p:nvSpPr>
        <p:spPr>
          <a:xfrm>
            <a:off x="658368" y="2578608"/>
            <a:ext cx="315468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92BA62D-F5AE-AF87-06F5-762D65E45B44}"/>
              </a:ext>
            </a:extLst>
          </p:cNvPr>
          <p:cNvSpPr/>
          <p:nvPr/>
        </p:nvSpPr>
        <p:spPr>
          <a:xfrm>
            <a:off x="658368" y="2578608"/>
            <a:ext cx="64008" cy="74980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5F87CB0-4C82-FCC8-DC2B-2C280C266DCF}"/>
              </a:ext>
            </a:extLst>
          </p:cNvPr>
          <p:cNvSpPr txBox="1"/>
          <p:nvPr/>
        </p:nvSpPr>
        <p:spPr>
          <a:xfrm>
            <a:off x="822960" y="2670048"/>
            <a:ext cx="286207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계획과 실제가 끊김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49BF6E6-5C3E-CB0D-28A5-D86E3BD2A0E9}"/>
              </a:ext>
            </a:extLst>
          </p:cNvPr>
          <p:cNvSpPr txBox="1"/>
          <p:nvPr/>
        </p:nvSpPr>
        <p:spPr>
          <a:xfrm>
            <a:off x="822960" y="2907792"/>
            <a:ext cx="286207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예정 거래가 실제 거래와 이어지지 않음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87D6364A-6855-2230-8C76-50CDA4735CC5}"/>
              </a:ext>
            </a:extLst>
          </p:cNvPr>
          <p:cNvCxnSpPr/>
          <p:nvPr/>
        </p:nvCxnSpPr>
        <p:spPr>
          <a:xfrm>
            <a:off x="3913632" y="2953512"/>
            <a:ext cx="365760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29217D8-8479-2FB2-D570-EB8148D02744}"/>
              </a:ext>
            </a:extLst>
          </p:cNvPr>
          <p:cNvSpPr/>
          <p:nvPr/>
        </p:nvSpPr>
        <p:spPr>
          <a:xfrm>
            <a:off x="4443984" y="2578608"/>
            <a:ext cx="672084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26D35D8-AA73-1ACF-CE53-DACC8A1149E6}"/>
              </a:ext>
            </a:extLst>
          </p:cNvPr>
          <p:cNvSpPr/>
          <p:nvPr/>
        </p:nvSpPr>
        <p:spPr>
          <a:xfrm>
            <a:off x="4443984" y="2578608"/>
            <a:ext cx="64008" cy="74980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3F7FEE7-AFBB-D1E8-95F9-131D93A31D51}"/>
              </a:ext>
            </a:extLst>
          </p:cNvPr>
          <p:cNvSpPr txBox="1"/>
          <p:nvPr/>
        </p:nvSpPr>
        <p:spPr>
          <a:xfrm>
            <a:off x="4608576" y="2670048"/>
            <a:ext cx="64282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대응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648A8B-1032-AC6F-4DF9-8357041C7424}"/>
              </a:ext>
            </a:extLst>
          </p:cNvPr>
          <p:cNvSpPr txBox="1"/>
          <p:nvPr/>
        </p:nvSpPr>
        <p:spPr>
          <a:xfrm>
            <a:off x="4608576" y="2907792"/>
            <a:ext cx="64282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반복 규칙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 항목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거래를 연결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71DA43A-D470-50CA-9277-F76D4B43B4D2}"/>
              </a:ext>
            </a:extLst>
          </p:cNvPr>
          <p:cNvSpPr/>
          <p:nvPr/>
        </p:nvSpPr>
        <p:spPr>
          <a:xfrm>
            <a:off x="658368" y="3511296"/>
            <a:ext cx="315468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01A3ACA-025E-0A4E-DAAE-5A3EF626A308}"/>
              </a:ext>
            </a:extLst>
          </p:cNvPr>
          <p:cNvSpPr/>
          <p:nvPr/>
        </p:nvSpPr>
        <p:spPr>
          <a:xfrm>
            <a:off x="658368" y="3511296"/>
            <a:ext cx="64008" cy="74980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2CA25AE-BBA5-887E-69E0-0F5CDCA2ACD6}"/>
              </a:ext>
            </a:extLst>
          </p:cNvPr>
          <p:cNvSpPr txBox="1"/>
          <p:nvPr/>
        </p:nvSpPr>
        <p:spPr>
          <a:xfrm>
            <a:off x="822960" y="3602736"/>
            <a:ext cx="286207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공식 숫자가 불명확함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FAC470-36A3-DBC4-60AB-84070B4D4A4C}"/>
              </a:ext>
            </a:extLst>
          </p:cNvPr>
          <p:cNvSpPr txBox="1"/>
          <p:nvPr/>
        </p:nvSpPr>
        <p:spPr>
          <a:xfrm>
            <a:off x="822960" y="3840480"/>
            <a:ext cx="286207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검토 중 거래와 확정 기록이 섞임</a:t>
            </a:r>
          </a:p>
        </p:txBody>
      </p: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24BEE01B-6DA8-D412-0196-7038D7255021}"/>
              </a:ext>
            </a:extLst>
          </p:cNvPr>
          <p:cNvCxnSpPr/>
          <p:nvPr/>
        </p:nvCxnSpPr>
        <p:spPr>
          <a:xfrm>
            <a:off x="3913632" y="3886200"/>
            <a:ext cx="365760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7B664724-433A-0C81-6CF2-10DAC6620C91}"/>
              </a:ext>
            </a:extLst>
          </p:cNvPr>
          <p:cNvSpPr/>
          <p:nvPr/>
        </p:nvSpPr>
        <p:spPr>
          <a:xfrm>
            <a:off x="4443984" y="3511296"/>
            <a:ext cx="672084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80EC072-9A7A-E03E-4BC5-B7A5AE8F5B93}"/>
              </a:ext>
            </a:extLst>
          </p:cNvPr>
          <p:cNvSpPr/>
          <p:nvPr/>
        </p:nvSpPr>
        <p:spPr>
          <a:xfrm>
            <a:off x="4443984" y="3511296"/>
            <a:ext cx="64008" cy="74980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A164A25-C5CC-81B9-C4CA-D5A1E93349D0}"/>
              </a:ext>
            </a:extLst>
          </p:cNvPr>
          <p:cNvSpPr txBox="1"/>
          <p:nvPr/>
        </p:nvSpPr>
        <p:spPr>
          <a:xfrm>
            <a:off x="4608576" y="3602736"/>
            <a:ext cx="64282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대응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2003C1-AF72-5C74-624E-C5FE9ADC8CEA}"/>
              </a:ext>
            </a:extLst>
          </p:cNvPr>
          <p:cNvSpPr txBox="1"/>
          <p:nvPr/>
        </p:nvSpPr>
        <p:spPr>
          <a:xfrm>
            <a:off x="4608576" y="3840480"/>
            <a:ext cx="64282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전표와 마감 스냅샷으로 공식 기록 분리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361B452-2DE5-1E11-09F4-194C05436C1B}"/>
              </a:ext>
            </a:extLst>
          </p:cNvPr>
          <p:cNvSpPr/>
          <p:nvPr/>
        </p:nvSpPr>
        <p:spPr>
          <a:xfrm>
            <a:off x="658368" y="4443984"/>
            <a:ext cx="315468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A51B62C9-1141-E2C0-ADBB-8FD8F5A34108}"/>
              </a:ext>
            </a:extLst>
          </p:cNvPr>
          <p:cNvSpPr/>
          <p:nvPr/>
        </p:nvSpPr>
        <p:spPr>
          <a:xfrm>
            <a:off x="658368" y="4443984"/>
            <a:ext cx="64008" cy="74980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DFE3FA5-D948-D01B-0757-AD05454FA011}"/>
              </a:ext>
            </a:extLst>
          </p:cNvPr>
          <p:cNvSpPr txBox="1"/>
          <p:nvPr/>
        </p:nvSpPr>
        <p:spPr>
          <a:xfrm>
            <a:off x="822960" y="4535424"/>
            <a:ext cx="286207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다음 달 준비가 수동적임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D29282D-F7C9-9ADF-81B9-2D15D445A636}"/>
              </a:ext>
            </a:extLst>
          </p:cNvPr>
          <p:cNvSpPr txBox="1"/>
          <p:nvPr/>
        </p:nvSpPr>
        <p:spPr>
          <a:xfrm>
            <a:off x="822960" y="4773168"/>
            <a:ext cx="286207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이후 이월과 전망이 따로 관리됨</a:t>
            </a: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60A787C9-2E47-E64A-336C-19271615B9C3}"/>
              </a:ext>
            </a:extLst>
          </p:cNvPr>
          <p:cNvCxnSpPr/>
          <p:nvPr/>
        </p:nvCxnSpPr>
        <p:spPr>
          <a:xfrm>
            <a:off x="3913632" y="4818888"/>
            <a:ext cx="365760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FD354593-4042-F2C6-65E1-372DC8C711D4}"/>
              </a:ext>
            </a:extLst>
          </p:cNvPr>
          <p:cNvSpPr/>
          <p:nvPr/>
        </p:nvSpPr>
        <p:spPr>
          <a:xfrm>
            <a:off x="4443984" y="4443984"/>
            <a:ext cx="672084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86757115-F55C-05DB-8A02-C7DC728179A1}"/>
              </a:ext>
            </a:extLst>
          </p:cNvPr>
          <p:cNvSpPr/>
          <p:nvPr/>
        </p:nvSpPr>
        <p:spPr>
          <a:xfrm>
            <a:off x="4443984" y="4443984"/>
            <a:ext cx="64008" cy="74980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6FC828F-92F5-671D-C27F-A9D6B6C69E69}"/>
              </a:ext>
            </a:extLst>
          </p:cNvPr>
          <p:cNvSpPr txBox="1"/>
          <p:nvPr/>
        </p:nvSpPr>
        <p:spPr>
          <a:xfrm>
            <a:off x="4608576" y="4535424"/>
            <a:ext cx="64282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대응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8A5D3C0-65F9-01A4-1B9D-3F9C390B99C0}"/>
              </a:ext>
            </a:extLst>
          </p:cNvPr>
          <p:cNvSpPr txBox="1"/>
          <p:nvPr/>
        </p:nvSpPr>
        <p:spPr>
          <a:xfrm>
            <a:off x="4608576" y="4773168"/>
            <a:ext cx="64282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차기 이월과 전망으로 다음 월 운영 연결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D72B6A5-01A9-0917-95AA-430CA92514E9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88B2A92-7E9E-03B8-1F21-6ABEAACFE31A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04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189988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037D42F-5309-70F1-FB5E-C53EBE5A2E6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716A3BB-4E00-3677-D1A3-E51889F1C66A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3647733E-91D7-8C05-ED52-60861304C48D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330F04-FE96-4384-2DFD-216952BD45A7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USER FLOW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C57118-892B-D274-ECEA-0AB7F679084F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 시나리오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2F19DD09-4635-933A-C1F4-FB315823DF61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18EE4591-25F1-5F97-0D33-12080363BEEF}"/>
              </a:ext>
            </a:extLst>
          </p:cNvPr>
          <p:cNvSpPr/>
          <p:nvPr/>
        </p:nvSpPr>
        <p:spPr>
          <a:xfrm>
            <a:off x="713232" y="1417320"/>
            <a:ext cx="4297680" cy="3749040"/>
          </a:xfrm>
          <a:prstGeom prst="rect">
            <a:avLst/>
          </a:prstGeom>
          <a:solidFill>
            <a:srgbClr val="18181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9F45C0-A595-E904-AD72-05432A40F15F}"/>
              </a:ext>
            </a:extLst>
          </p:cNvPr>
          <p:cNvSpPr txBox="1"/>
          <p:nvPr/>
        </p:nvSpPr>
        <p:spPr>
          <a:xfrm>
            <a:off x="960120" y="1700784"/>
            <a:ext cx="361188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한 달 운영에서 사용자가 해야 하는 일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24809C-9DBD-15AA-9C49-38C5C11A0E60}"/>
              </a:ext>
            </a:extLst>
          </p:cNvPr>
          <p:cNvSpPr txBox="1"/>
          <p:nvPr/>
        </p:nvSpPr>
        <p:spPr>
          <a:xfrm>
            <a:off x="987552" y="2240280"/>
            <a:ext cx="3520440" cy="147732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기준 데이터 확인
</a:t>
            </a:r>
            <a:r>
              <a:rPr lang="en-US" altLang="ko-KR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이번 달 예정 거래 생성
</a:t>
            </a:r>
            <a:r>
              <a:rPr lang="en-US" altLang="ko-KR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통장</a:t>
            </a:r>
            <a:r>
              <a:rPr lang="en-US" altLang="ko-KR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카드</a:t>
            </a:r>
            <a:r>
              <a:rPr lang="en-US" altLang="ko-KR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수기 입력 정리
</a:t>
            </a:r>
            <a:r>
              <a:rPr lang="en-US" altLang="ko-KR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공식 전표 확정
</a:t>
            </a:r>
            <a:r>
              <a:rPr lang="en-US" altLang="ko-KR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보고서와 다음 달 기준 생성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6449A5CB-4197-83F9-EA44-EF3DD63D0337}"/>
              </a:ext>
            </a:extLst>
          </p:cNvPr>
          <p:cNvCxnSpPr/>
          <p:nvPr/>
        </p:nvCxnSpPr>
        <p:spPr>
          <a:xfrm>
            <a:off x="5596128" y="1682496"/>
            <a:ext cx="0" cy="3200400"/>
          </a:xfrm>
          <a:prstGeom prst="line">
            <a:avLst/>
          </a:prstGeom>
          <a:ln w="15240">
            <a:solidFill>
              <a:srgbClr val="D8DE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타원 11">
            <a:extLst>
              <a:ext uri="{FF2B5EF4-FFF2-40B4-BE49-F238E27FC236}">
                <a16:creationId xmlns:a16="http://schemas.microsoft.com/office/drawing/2014/main" id="{B5A598A0-E2A0-CC41-F49D-D108D681C51B}"/>
              </a:ext>
            </a:extLst>
          </p:cNvPr>
          <p:cNvSpPr/>
          <p:nvPr/>
        </p:nvSpPr>
        <p:spPr>
          <a:xfrm>
            <a:off x="5376672" y="1627632"/>
            <a:ext cx="438912" cy="438912"/>
          </a:xfrm>
          <a:prstGeom prst="ellipse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C0851A-E82C-3FCF-C680-58FAC3868797}"/>
              </a:ext>
            </a:extLst>
          </p:cNvPr>
          <p:cNvSpPr txBox="1"/>
          <p:nvPr/>
        </p:nvSpPr>
        <p:spPr>
          <a:xfrm>
            <a:off x="5468112" y="1737360"/>
            <a:ext cx="256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85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</a:t>
            </a:r>
            <a:endParaRPr lang="ko-KR" altLang="en-US" sz="850" b="1">
              <a:solidFill>
                <a:srgbClr val="FFFFFF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9C8CFF-77A0-F60B-DE3B-5C72CBE57F8F}"/>
              </a:ext>
            </a:extLst>
          </p:cNvPr>
          <p:cNvSpPr/>
          <p:nvPr/>
        </p:nvSpPr>
        <p:spPr>
          <a:xfrm>
            <a:off x="6080760" y="1417320"/>
            <a:ext cx="512064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9837A1A-8F9D-7841-CCBF-95FDF86A5181}"/>
              </a:ext>
            </a:extLst>
          </p:cNvPr>
          <p:cNvSpPr/>
          <p:nvPr/>
        </p:nvSpPr>
        <p:spPr>
          <a:xfrm>
            <a:off x="6080760" y="1417320"/>
            <a:ext cx="64008" cy="74980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BD7618-4DE3-EFB5-0736-2932A026C6D3}"/>
              </a:ext>
            </a:extLst>
          </p:cNvPr>
          <p:cNvSpPr txBox="1"/>
          <p:nvPr/>
        </p:nvSpPr>
        <p:spPr>
          <a:xfrm>
            <a:off x="6245352" y="1508760"/>
            <a:ext cx="4828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허브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6B703A8-CE43-FAAD-F292-32A3A7E24A6C}"/>
              </a:ext>
            </a:extLst>
          </p:cNvPr>
          <p:cNvSpPr txBox="1"/>
          <p:nvPr/>
        </p:nvSpPr>
        <p:spPr>
          <a:xfrm>
            <a:off x="6245352" y="1746504"/>
            <a:ext cx="4828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우선 작업과 마감 차단 사유 확인</a:t>
            </a: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1E417B9-128D-6C12-87B1-48AB68C6CA9A}"/>
              </a:ext>
            </a:extLst>
          </p:cNvPr>
          <p:cNvSpPr/>
          <p:nvPr/>
        </p:nvSpPr>
        <p:spPr>
          <a:xfrm>
            <a:off x="5376672" y="2587752"/>
            <a:ext cx="438912" cy="438912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5C0E2E-B15E-7BB0-2FC1-BCEB50978DF7}"/>
              </a:ext>
            </a:extLst>
          </p:cNvPr>
          <p:cNvSpPr txBox="1"/>
          <p:nvPr/>
        </p:nvSpPr>
        <p:spPr>
          <a:xfrm>
            <a:off x="5468112" y="2697480"/>
            <a:ext cx="256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85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</a:t>
            </a:r>
            <a:endParaRPr lang="ko-KR" altLang="en-US" sz="850" b="1">
              <a:solidFill>
                <a:srgbClr val="FFFFFF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6BC6055-45A2-F016-DCAD-105679808D58}"/>
              </a:ext>
            </a:extLst>
          </p:cNvPr>
          <p:cNvSpPr/>
          <p:nvPr/>
        </p:nvSpPr>
        <p:spPr>
          <a:xfrm>
            <a:off x="6080760" y="2377440"/>
            <a:ext cx="512064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6E2B8F9-B14D-9B05-558C-083AC0EA9C76}"/>
              </a:ext>
            </a:extLst>
          </p:cNvPr>
          <p:cNvSpPr/>
          <p:nvPr/>
        </p:nvSpPr>
        <p:spPr>
          <a:xfrm>
            <a:off x="6080760" y="2377440"/>
            <a:ext cx="64008" cy="74980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F45C491-48F9-4B90-EA2B-937AAA015A16}"/>
              </a:ext>
            </a:extLst>
          </p:cNvPr>
          <p:cNvSpPr txBox="1"/>
          <p:nvPr/>
        </p:nvSpPr>
        <p:spPr>
          <a:xfrm>
            <a:off x="6245352" y="2468880"/>
            <a:ext cx="4828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</a:t>
            </a:r>
            <a:r>
              <a:rPr lang="en-US" altLang="ko-KR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EB8950-DACF-FBEF-3B6A-95F3AA4BE1FB}"/>
              </a:ext>
            </a:extLst>
          </p:cNvPr>
          <p:cNvSpPr txBox="1"/>
          <p:nvPr/>
        </p:nvSpPr>
        <p:spPr>
          <a:xfrm>
            <a:off x="6245352" y="2706624"/>
            <a:ext cx="4828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입력 후보를 수집 거래로 정리</a:t>
            </a: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A0507958-D907-3EEF-D7EA-67D13A091A8A}"/>
              </a:ext>
            </a:extLst>
          </p:cNvPr>
          <p:cNvSpPr/>
          <p:nvPr/>
        </p:nvSpPr>
        <p:spPr>
          <a:xfrm>
            <a:off x="5376672" y="3547872"/>
            <a:ext cx="438912" cy="438912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BD19C9-6144-E1FB-4931-36BF3D92EB05}"/>
              </a:ext>
            </a:extLst>
          </p:cNvPr>
          <p:cNvSpPr txBox="1"/>
          <p:nvPr/>
        </p:nvSpPr>
        <p:spPr>
          <a:xfrm>
            <a:off x="5468112" y="3657600"/>
            <a:ext cx="256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85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3</a:t>
            </a:r>
            <a:endParaRPr lang="ko-KR" altLang="en-US" sz="850" b="1">
              <a:solidFill>
                <a:srgbClr val="FFFFFF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973DE16-45C0-BC76-B962-21B88C1D21DF}"/>
              </a:ext>
            </a:extLst>
          </p:cNvPr>
          <p:cNvSpPr/>
          <p:nvPr/>
        </p:nvSpPr>
        <p:spPr>
          <a:xfrm>
            <a:off x="6080760" y="3337560"/>
            <a:ext cx="512064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3AAFCBB-685F-4FD5-11CA-A9B15F0E573B}"/>
              </a:ext>
            </a:extLst>
          </p:cNvPr>
          <p:cNvSpPr/>
          <p:nvPr/>
        </p:nvSpPr>
        <p:spPr>
          <a:xfrm>
            <a:off x="6080760" y="3337560"/>
            <a:ext cx="64008" cy="74980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3753C80-A17D-1291-4EF1-EF6DF42D56F5}"/>
              </a:ext>
            </a:extLst>
          </p:cNvPr>
          <p:cNvSpPr txBox="1"/>
          <p:nvPr/>
        </p:nvSpPr>
        <p:spPr>
          <a:xfrm>
            <a:off x="6245352" y="3429000"/>
            <a:ext cx="4828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</a:t>
            </a:r>
            <a:r>
              <a:rPr lang="en-US" altLang="ko-KR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</a:t>
            </a:r>
            <a:r>
              <a:rPr lang="en-US" altLang="ko-KR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08BA72-B42F-0105-E9A2-3E3FB613BF76}"/>
              </a:ext>
            </a:extLst>
          </p:cNvPr>
          <p:cNvSpPr txBox="1"/>
          <p:nvPr/>
        </p:nvSpPr>
        <p:spPr>
          <a:xfrm>
            <a:off x="6245352" y="3666744"/>
            <a:ext cx="4828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공식 기록으로 확정하고 월 마감</a:t>
            </a:r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2A369D46-5F07-4DD0-6B41-85F6E3267FF3}"/>
              </a:ext>
            </a:extLst>
          </p:cNvPr>
          <p:cNvSpPr/>
          <p:nvPr/>
        </p:nvSpPr>
        <p:spPr>
          <a:xfrm>
            <a:off x="5376672" y="4507992"/>
            <a:ext cx="438912" cy="438912"/>
          </a:xfrm>
          <a:prstGeom prst="ellipse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3C4AAD-CC57-598E-E70A-57ED4B1A12E3}"/>
              </a:ext>
            </a:extLst>
          </p:cNvPr>
          <p:cNvSpPr txBox="1"/>
          <p:nvPr/>
        </p:nvSpPr>
        <p:spPr>
          <a:xfrm>
            <a:off x="5468112" y="4617720"/>
            <a:ext cx="256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85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4</a:t>
            </a:r>
            <a:endParaRPr lang="ko-KR" altLang="en-US" sz="850" b="1">
              <a:solidFill>
                <a:srgbClr val="FFFFFF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4D8686EB-CF54-50E3-2F9F-740D3C7170D8}"/>
              </a:ext>
            </a:extLst>
          </p:cNvPr>
          <p:cNvSpPr/>
          <p:nvPr/>
        </p:nvSpPr>
        <p:spPr>
          <a:xfrm>
            <a:off x="6080760" y="4297680"/>
            <a:ext cx="512064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EA7D775D-13CB-3C96-835C-DEA0F70E193C}"/>
              </a:ext>
            </a:extLst>
          </p:cNvPr>
          <p:cNvSpPr/>
          <p:nvPr/>
        </p:nvSpPr>
        <p:spPr>
          <a:xfrm>
            <a:off x="6080760" y="4297680"/>
            <a:ext cx="64008" cy="74980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18480A2-820D-1656-62F2-26663CBABFD0}"/>
              </a:ext>
            </a:extLst>
          </p:cNvPr>
          <p:cNvSpPr txBox="1"/>
          <p:nvPr/>
        </p:nvSpPr>
        <p:spPr>
          <a:xfrm>
            <a:off x="6245352" y="4389120"/>
            <a:ext cx="4828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이월</a:t>
            </a:r>
            <a:r>
              <a:rPr lang="en-US" altLang="ko-KR" sz="10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전망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4228BE1-4376-6AA4-B070-C0433499B7FE}"/>
              </a:ext>
            </a:extLst>
          </p:cNvPr>
          <p:cNvSpPr txBox="1"/>
          <p:nvPr/>
        </p:nvSpPr>
        <p:spPr>
          <a:xfrm>
            <a:off x="6245352" y="4626864"/>
            <a:ext cx="4828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결과를 다음 달 운영으로 연결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62374F4-EF34-9CC5-1C72-688B42C9861F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FE65B0C-B9B6-F526-8850-957B78C1CD83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05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03325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CFB8CE3-4F07-8E68-78CC-873405599D1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98EB72C-9D4F-F8DA-2BD7-63B37B76035C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30C85531-02F8-4354-532D-53E3624EEB41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B7EE06-FA5B-D7B6-4B3C-B7F245F57F6D}"/>
              </a:ext>
            </a:extLst>
          </p:cNvPr>
          <p:cNvSpPr txBox="1"/>
          <p:nvPr/>
        </p:nvSpPr>
        <p:spPr>
          <a:xfrm>
            <a:off x="630936" y="338328"/>
            <a:ext cx="960120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ERP LESSONS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003451-413B-CB82-5C25-580E215301AC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en-US" altLang="ko-KR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ERP </a:t>
            </a:r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유지보수 경험을 반영한 설계 기준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6965DD6F-2BC8-E8EC-BE91-FD13212CAF17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FDD3E093-D707-959D-CD01-72F3F41E9B8C}"/>
              </a:ext>
            </a:extLst>
          </p:cNvPr>
          <p:cNvSpPr/>
          <p:nvPr/>
        </p:nvSpPr>
        <p:spPr>
          <a:xfrm>
            <a:off x="658368" y="1243584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D95B57E-71B1-9159-BF91-CDE1E705BB6E}"/>
              </a:ext>
            </a:extLst>
          </p:cNvPr>
          <p:cNvSpPr/>
          <p:nvPr/>
        </p:nvSpPr>
        <p:spPr>
          <a:xfrm>
            <a:off x="658368" y="1243584"/>
            <a:ext cx="64008" cy="1078992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519DDF-EF1F-8516-292C-80F389087617}"/>
              </a:ext>
            </a:extLst>
          </p:cNvPr>
          <p:cNvSpPr txBox="1"/>
          <p:nvPr/>
        </p:nvSpPr>
        <p:spPr>
          <a:xfrm>
            <a:off x="822960" y="1353312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기준정보 우선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4CE115-0AC2-24F7-6497-8FD74DC35201}"/>
              </a:ext>
            </a:extLst>
          </p:cNvPr>
          <p:cNvSpPr txBox="1"/>
          <p:nvPr/>
        </p:nvSpPr>
        <p:spPr>
          <a:xfrm>
            <a:off x="822960" y="1609344"/>
            <a:ext cx="2953512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현업 오류는 잘못된 계정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자금수단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카테고리 기준에서 시작되는 경우가 많았습니다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16DDEE5-1FAD-A2F5-2138-933F3F03AAC2}"/>
              </a:ext>
            </a:extLst>
          </p:cNvPr>
          <p:cNvSpPr/>
          <p:nvPr/>
        </p:nvSpPr>
        <p:spPr>
          <a:xfrm>
            <a:off x="4361688" y="1243584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AF57E38-9CBA-E958-D056-657D7B1FADCB}"/>
              </a:ext>
            </a:extLst>
          </p:cNvPr>
          <p:cNvSpPr/>
          <p:nvPr/>
        </p:nvSpPr>
        <p:spPr>
          <a:xfrm>
            <a:off x="4361688" y="1243584"/>
            <a:ext cx="64008" cy="107899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322769-4371-9C7C-906D-BDE014CBFEF3}"/>
              </a:ext>
            </a:extLst>
          </p:cNvPr>
          <p:cNvSpPr txBox="1"/>
          <p:nvPr/>
        </p:nvSpPr>
        <p:spPr>
          <a:xfrm>
            <a:off x="4526280" y="1353312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상태가 보여야 운영 가능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3EE7C8-D23B-C94A-1697-74382B3F7343}"/>
              </a:ext>
            </a:extLst>
          </p:cNvPr>
          <p:cNvSpPr txBox="1"/>
          <p:nvPr/>
        </p:nvSpPr>
        <p:spPr>
          <a:xfrm>
            <a:off x="4526280" y="1609344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처리 중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검토 필요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확정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상태가 보여야 문의와 장애 대응이 가능합니다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D7215C7-101B-9DBF-BBF1-D23552CB768C}"/>
              </a:ext>
            </a:extLst>
          </p:cNvPr>
          <p:cNvSpPr/>
          <p:nvPr/>
        </p:nvSpPr>
        <p:spPr>
          <a:xfrm>
            <a:off x="8065008" y="1243584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D3D7C50-37DE-5989-871B-641E8F35A35C}"/>
              </a:ext>
            </a:extLst>
          </p:cNvPr>
          <p:cNvSpPr/>
          <p:nvPr/>
        </p:nvSpPr>
        <p:spPr>
          <a:xfrm>
            <a:off x="8065008" y="1243584"/>
            <a:ext cx="64007" cy="1078992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7F0321-EB13-C1A8-9006-7C7D175D7902}"/>
              </a:ext>
            </a:extLst>
          </p:cNvPr>
          <p:cNvSpPr txBox="1"/>
          <p:nvPr/>
        </p:nvSpPr>
        <p:spPr>
          <a:xfrm>
            <a:off x="8229600" y="1353312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원본 덮어쓰기 금지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7AC957-51C2-53E1-4441-8A807735E313}"/>
              </a:ext>
            </a:extLst>
          </p:cNvPr>
          <p:cNvSpPr txBox="1"/>
          <p:nvPr/>
        </p:nvSpPr>
        <p:spPr>
          <a:xfrm>
            <a:off x="8229600" y="1609344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확정 이후에는 반전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정정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로그로 이력을 남기는 쪽이 실무에 맞습니다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3719DCE-F18A-B1E9-FF47-8B15CB7C88DD}"/>
              </a:ext>
            </a:extLst>
          </p:cNvPr>
          <p:cNvSpPr/>
          <p:nvPr/>
        </p:nvSpPr>
        <p:spPr>
          <a:xfrm>
            <a:off x="658368" y="2724912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F120507-9572-E22C-06A7-4A4E4C9C6033}"/>
              </a:ext>
            </a:extLst>
          </p:cNvPr>
          <p:cNvSpPr/>
          <p:nvPr/>
        </p:nvSpPr>
        <p:spPr>
          <a:xfrm>
            <a:off x="658368" y="2724912"/>
            <a:ext cx="64008" cy="1078992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A2378AF-0F26-D26B-AFC9-595E0AC8165F}"/>
              </a:ext>
            </a:extLst>
          </p:cNvPr>
          <p:cNvSpPr txBox="1"/>
          <p:nvPr/>
        </p:nvSpPr>
        <p:spPr>
          <a:xfrm>
            <a:off x="822960" y="2834640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기준 고정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EBD2837-7654-D4BE-AE6C-FD6D696C94DB}"/>
              </a:ext>
            </a:extLst>
          </p:cNvPr>
          <p:cNvSpPr txBox="1"/>
          <p:nvPr/>
        </p:nvSpPr>
        <p:spPr>
          <a:xfrm>
            <a:off x="822960" y="3090672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기준이 잠기지 않으면 보고 숫자와 운영 숫자가 계속 흔들립니다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34278A7-0BE1-2E91-FB29-26E883901ABA}"/>
              </a:ext>
            </a:extLst>
          </p:cNvPr>
          <p:cNvSpPr/>
          <p:nvPr/>
        </p:nvSpPr>
        <p:spPr>
          <a:xfrm>
            <a:off x="4361688" y="2724912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A22AA6-34C4-7DAD-921D-1B1868F7BA6A}"/>
              </a:ext>
            </a:extLst>
          </p:cNvPr>
          <p:cNvSpPr/>
          <p:nvPr/>
        </p:nvSpPr>
        <p:spPr>
          <a:xfrm>
            <a:off x="4361688" y="2724912"/>
            <a:ext cx="64008" cy="107899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33BEF93-4E95-488F-7BC0-6052DB0FD876}"/>
              </a:ext>
            </a:extLst>
          </p:cNvPr>
          <p:cNvSpPr txBox="1"/>
          <p:nvPr/>
        </p:nvSpPr>
        <p:spPr>
          <a:xfrm>
            <a:off x="4526280" y="2834640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예외를 먼저 보여주기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2ED8A1-2F31-5060-D6BA-0C1B57461A99}"/>
              </a:ext>
            </a:extLst>
          </p:cNvPr>
          <p:cNvSpPr txBox="1"/>
          <p:nvPr/>
        </p:nvSpPr>
        <p:spPr>
          <a:xfrm>
            <a:off x="4526280" y="3090672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성공 결과만이 아니라 막힌 이유와 다음 조치까지 보여줘야 합니다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4ECE2D8-87C7-EFF7-F244-3C6CA54457D6}"/>
              </a:ext>
            </a:extLst>
          </p:cNvPr>
          <p:cNvSpPr/>
          <p:nvPr/>
        </p:nvSpPr>
        <p:spPr>
          <a:xfrm>
            <a:off x="8065008" y="2724912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0F0E8952-F848-A229-3C0B-E6FA35006BAD}"/>
              </a:ext>
            </a:extLst>
          </p:cNvPr>
          <p:cNvSpPr/>
          <p:nvPr/>
        </p:nvSpPr>
        <p:spPr>
          <a:xfrm>
            <a:off x="8065008" y="2724912"/>
            <a:ext cx="64007" cy="1078992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CF691CE-CEC8-D785-CBF7-F3BB94A97D16}"/>
              </a:ext>
            </a:extLst>
          </p:cNvPr>
          <p:cNvSpPr txBox="1"/>
          <p:nvPr/>
        </p:nvSpPr>
        <p:spPr>
          <a:xfrm>
            <a:off x="8229600" y="2834640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권한과 감사는 기본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770C63-FDFD-847D-9D69-314ACDD633F2}"/>
              </a:ext>
            </a:extLst>
          </p:cNvPr>
          <p:cNvSpPr txBox="1"/>
          <p:nvPr/>
        </p:nvSpPr>
        <p:spPr>
          <a:xfrm>
            <a:off x="8229600" y="3090672"/>
            <a:ext cx="2953512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누가 어떤 작업을 했는지 남기고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역할별 가능 작업을 제한해야 운영 제품이 됩니다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402A117-296F-B364-D5FE-547C60D99C6C}"/>
              </a:ext>
            </a:extLst>
          </p:cNvPr>
          <p:cNvSpPr/>
          <p:nvPr/>
        </p:nvSpPr>
        <p:spPr>
          <a:xfrm>
            <a:off x="960120" y="4645152"/>
            <a:ext cx="1024128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FFADF00-14A7-76EA-D0CC-B99681678D41}"/>
              </a:ext>
            </a:extLst>
          </p:cNvPr>
          <p:cNvSpPr/>
          <p:nvPr/>
        </p:nvSpPr>
        <p:spPr>
          <a:xfrm>
            <a:off x="960120" y="4645152"/>
            <a:ext cx="64008" cy="932688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3DF2A91-5D64-39BC-7262-5F810BC6C55B}"/>
              </a:ext>
            </a:extLst>
          </p:cNvPr>
          <p:cNvSpPr txBox="1"/>
          <p:nvPr/>
        </p:nvSpPr>
        <p:spPr>
          <a:xfrm>
            <a:off x="1124712" y="4745736"/>
            <a:ext cx="994867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B4B15CF-BF35-1B17-32C7-72957F9FFA6F}"/>
              </a:ext>
            </a:extLst>
          </p:cNvPr>
          <p:cNvSpPr txBox="1"/>
          <p:nvPr/>
        </p:nvSpPr>
        <p:spPr>
          <a:xfrm>
            <a:off x="1124712" y="4992624"/>
            <a:ext cx="994867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의 흐름과 화면은 기능 나열이 아니라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ERP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유지보수에서 마주친 데이터 품질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상태 추적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문제를 제품 구조로 풀어낸 결과입니다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8D75BD0-E397-CCAC-4374-CA22ECB533FE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DA69228-D0BB-C569-787A-3959A3327D74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06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8503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04945F2-1FAB-05E2-388B-F36D3729037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01C7FFA-A5BA-EA6F-0DFA-D685B013C53C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4699167A-BECC-6C48-5588-2742F6837B32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734F1F-F040-57E2-127D-418567C0ADE5}"/>
              </a:ext>
            </a:extLst>
          </p:cNvPr>
          <p:cNvSpPr txBox="1"/>
          <p:nvPr/>
        </p:nvSpPr>
        <p:spPr>
          <a:xfrm>
            <a:off x="630936" y="338328"/>
            <a:ext cx="960120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BUSINESS FLOW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8E4CAE-3388-B4BD-9014-EE960CEB5D31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운영 전체 흐름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E13694F-99FD-BD57-B98B-FECC7880982C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2F16C15F-327C-CFED-37A1-ED13724A2C8B}"/>
              </a:ext>
            </a:extLst>
          </p:cNvPr>
          <p:cNvSpPr/>
          <p:nvPr/>
        </p:nvSpPr>
        <p:spPr>
          <a:xfrm>
            <a:off x="713232" y="1664208"/>
            <a:ext cx="1536192" cy="804672"/>
          </a:xfrm>
          <a:prstGeom prst="rect">
            <a:avLst/>
          </a:prstGeom>
          <a:solidFill>
            <a:srgbClr val="EEF4FF"/>
          </a:solidFill>
          <a:ln w="10160">
            <a:solidFill>
              <a:srgbClr val="2454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360F46-5B7D-FCAE-0902-C5DA368927C3}"/>
              </a:ext>
            </a:extLst>
          </p:cNvPr>
          <p:cNvSpPr txBox="1"/>
          <p:nvPr/>
        </p:nvSpPr>
        <p:spPr>
          <a:xfrm>
            <a:off x="877824" y="1901952"/>
            <a:ext cx="11887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4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기준 데이터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553845-AE85-15AD-34A9-848D3F48111C}"/>
              </a:ext>
            </a:extLst>
          </p:cNvPr>
          <p:cNvSpPr txBox="1"/>
          <p:nvPr/>
        </p:nvSpPr>
        <p:spPr>
          <a:xfrm>
            <a:off x="786384" y="1371600"/>
            <a:ext cx="548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01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35556B7F-0EFC-8544-0C19-4425CF772E24}"/>
              </a:ext>
            </a:extLst>
          </p:cNvPr>
          <p:cNvCxnSpPr/>
          <p:nvPr/>
        </p:nvCxnSpPr>
        <p:spPr>
          <a:xfrm>
            <a:off x="2322576" y="2066544"/>
            <a:ext cx="237744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14B21CA-C36B-5CE4-2460-8B77F3D54923}"/>
              </a:ext>
            </a:extLst>
          </p:cNvPr>
          <p:cNvSpPr/>
          <p:nvPr/>
        </p:nvSpPr>
        <p:spPr>
          <a:xfrm>
            <a:off x="2706624" y="1664208"/>
            <a:ext cx="1536192" cy="804672"/>
          </a:xfrm>
          <a:prstGeom prst="rect">
            <a:avLst/>
          </a:prstGeom>
          <a:solidFill>
            <a:srgbClr val="EEF4FF"/>
          </a:solidFill>
          <a:ln w="10160">
            <a:solidFill>
              <a:srgbClr val="2454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F5083A-1096-CABC-7035-55503A91E88E}"/>
              </a:ext>
            </a:extLst>
          </p:cNvPr>
          <p:cNvSpPr txBox="1"/>
          <p:nvPr/>
        </p:nvSpPr>
        <p:spPr>
          <a:xfrm>
            <a:off x="2871216" y="1901952"/>
            <a:ext cx="11887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4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운영 시작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C2D597-533F-2CB2-8CE5-328A529FAFCB}"/>
              </a:ext>
            </a:extLst>
          </p:cNvPr>
          <p:cNvSpPr txBox="1"/>
          <p:nvPr/>
        </p:nvSpPr>
        <p:spPr>
          <a:xfrm>
            <a:off x="2779776" y="1371600"/>
            <a:ext cx="548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02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C65A7BC9-8CD2-F3FB-A673-F52DB0C95015}"/>
              </a:ext>
            </a:extLst>
          </p:cNvPr>
          <p:cNvCxnSpPr/>
          <p:nvPr/>
        </p:nvCxnSpPr>
        <p:spPr>
          <a:xfrm>
            <a:off x="4315968" y="2066544"/>
            <a:ext cx="237744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2010A1F-38D4-55F5-937A-9E4AAF88E173}"/>
              </a:ext>
            </a:extLst>
          </p:cNvPr>
          <p:cNvSpPr/>
          <p:nvPr/>
        </p:nvSpPr>
        <p:spPr>
          <a:xfrm>
            <a:off x="4700016" y="1664208"/>
            <a:ext cx="1536192" cy="804672"/>
          </a:xfrm>
          <a:prstGeom prst="rect">
            <a:avLst/>
          </a:prstGeom>
          <a:solidFill>
            <a:srgbClr val="EEF4FF"/>
          </a:solidFill>
          <a:ln w="10160">
            <a:solidFill>
              <a:srgbClr val="2454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22A8ED-E00A-C737-810F-34D07E817D42}"/>
              </a:ext>
            </a:extLst>
          </p:cNvPr>
          <p:cNvSpPr txBox="1"/>
          <p:nvPr/>
        </p:nvSpPr>
        <p:spPr>
          <a:xfrm>
            <a:off x="4864608" y="1901952"/>
            <a:ext cx="11887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4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 생성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F9BEED-F344-C7F1-263D-0C7258B68608}"/>
              </a:ext>
            </a:extLst>
          </p:cNvPr>
          <p:cNvSpPr txBox="1"/>
          <p:nvPr/>
        </p:nvSpPr>
        <p:spPr>
          <a:xfrm>
            <a:off x="4773168" y="1371600"/>
            <a:ext cx="548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03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99C11F17-13EA-BB6E-0647-CFD0D1D28FF7}"/>
              </a:ext>
            </a:extLst>
          </p:cNvPr>
          <p:cNvCxnSpPr/>
          <p:nvPr/>
        </p:nvCxnSpPr>
        <p:spPr>
          <a:xfrm>
            <a:off x="6309360" y="2066544"/>
            <a:ext cx="237744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3ED46B3-ED5C-60AB-63AD-98D0FCC2C1F3}"/>
              </a:ext>
            </a:extLst>
          </p:cNvPr>
          <p:cNvSpPr/>
          <p:nvPr/>
        </p:nvSpPr>
        <p:spPr>
          <a:xfrm>
            <a:off x="6693408" y="1664208"/>
            <a:ext cx="1536192" cy="804672"/>
          </a:xfrm>
          <a:prstGeom prst="rect">
            <a:avLst/>
          </a:prstGeom>
          <a:solidFill>
            <a:srgbClr val="EAFBF8"/>
          </a:solidFill>
          <a:ln w="10160">
            <a:solidFill>
              <a:srgbClr val="008A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E00876F-EF21-3AA9-7D99-B35AAA1F0B11}"/>
              </a:ext>
            </a:extLst>
          </p:cNvPr>
          <p:cNvSpPr txBox="1"/>
          <p:nvPr/>
        </p:nvSpPr>
        <p:spPr>
          <a:xfrm>
            <a:off x="6858000" y="1901952"/>
            <a:ext cx="11887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4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거래 수집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0DD8C9-26AC-089F-44F5-A1CCAB39B507}"/>
              </a:ext>
            </a:extLst>
          </p:cNvPr>
          <p:cNvSpPr txBox="1"/>
          <p:nvPr/>
        </p:nvSpPr>
        <p:spPr>
          <a:xfrm>
            <a:off x="6766560" y="1371600"/>
            <a:ext cx="548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04</a:t>
            </a:r>
            <a:endParaRPr lang="ko-KR" altLang="en-US" sz="8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0B6D524D-9EEF-2EF8-97E3-40C51B469B25}"/>
              </a:ext>
            </a:extLst>
          </p:cNvPr>
          <p:cNvCxnSpPr/>
          <p:nvPr/>
        </p:nvCxnSpPr>
        <p:spPr>
          <a:xfrm>
            <a:off x="8302752" y="2066544"/>
            <a:ext cx="237744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866F14D-2266-41B8-B8C7-E290DB6467F9}"/>
              </a:ext>
            </a:extLst>
          </p:cNvPr>
          <p:cNvSpPr/>
          <p:nvPr/>
        </p:nvSpPr>
        <p:spPr>
          <a:xfrm>
            <a:off x="8686800" y="1664208"/>
            <a:ext cx="1536192" cy="804672"/>
          </a:xfrm>
          <a:prstGeom prst="rect">
            <a:avLst/>
          </a:prstGeom>
          <a:solidFill>
            <a:srgbClr val="EAFBF8"/>
          </a:solidFill>
          <a:ln w="10160">
            <a:solidFill>
              <a:srgbClr val="008A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E2112AC-401E-4F0C-835C-DF9388329BC4}"/>
              </a:ext>
            </a:extLst>
          </p:cNvPr>
          <p:cNvSpPr txBox="1"/>
          <p:nvPr/>
        </p:nvSpPr>
        <p:spPr>
          <a:xfrm>
            <a:off x="8851392" y="1901952"/>
            <a:ext cx="11887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4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 확정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7F03D9-A13C-12B2-D78A-D7E9F4A6F997}"/>
              </a:ext>
            </a:extLst>
          </p:cNvPr>
          <p:cNvSpPr txBox="1"/>
          <p:nvPr/>
        </p:nvSpPr>
        <p:spPr>
          <a:xfrm>
            <a:off x="8759952" y="1371600"/>
            <a:ext cx="548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05</a:t>
            </a:r>
            <a:endParaRPr lang="ko-KR" altLang="en-US" sz="8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149EE94D-C39F-C482-8FFE-019EC85E40C2}"/>
              </a:ext>
            </a:extLst>
          </p:cNvPr>
          <p:cNvCxnSpPr/>
          <p:nvPr/>
        </p:nvCxnSpPr>
        <p:spPr>
          <a:xfrm>
            <a:off x="9454896" y="2542032"/>
            <a:ext cx="0" cy="292608"/>
          </a:xfrm>
          <a:prstGeom prst="line">
            <a:avLst/>
          </a:prstGeom>
          <a:ln w="15240">
            <a:solidFill>
              <a:srgbClr val="D8DE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ECE8CDC-E985-BD8D-154C-902E4B6BEFFF}"/>
              </a:ext>
            </a:extLst>
          </p:cNvPr>
          <p:cNvCxnSpPr/>
          <p:nvPr/>
        </p:nvCxnSpPr>
        <p:spPr>
          <a:xfrm flipH="1">
            <a:off x="1572768" y="2834640"/>
            <a:ext cx="7882128" cy="0"/>
          </a:xfrm>
          <a:prstGeom prst="line">
            <a:avLst/>
          </a:prstGeom>
          <a:ln w="15240">
            <a:solidFill>
              <a:srgbClr val="D8DE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4CE8B11D-45F3-1AF3-3C4D-ACB8996E83F8}"/>
              </a:ext>
            </a:extLst>
          </p:cNvPr>
          <p:cNvCxnSpPr/>
          <p:nvPr/>
        </p:nvCxnSpPr>
        <p:spPr>
          <a:xfrm>
            <a:off x="1572768" y="2834640"/>
            <a:ext cx="0" cy="310896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1304597-750D-22D5-C794-144A6925F8DF}"/>
              </a:ext>
            </a:extLst>
          </p:cNvPr>
          <p:cNvSpPr/>
          <p:nvPr/>
        </p:nvSpPr>
        <p:spPr>
          <a:xfrm>
            <a:off x="914400" y="3218688"/>
            <a:ext cx="1664208" cy="804672"/>
          </a:xfrm>
          <a:prstGeom prst="rect">
            <a:avLst/>
          </a:prstGeom>
          <a:solidFill>
            <a:srgbClr val="EAFBF8"/>
          </a:solidFill>
          <a:ln w="10160">
            <a:solidFill>
              <a:srgbClr val="008A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869E28-07BE-2580-AF9D-48EBE8B18CB0}"/>
              </a:ext>
            </a:extLst>
          </p:cNvPr>
          <p:cNvSpPr txBox="1"/>
          <p:nvPr/>
        </p:nvSpPr>
        <p:spPr>
          <a:xfrm>
            <a:off x="1078992" y="3456432"/>
            <a:ext cx="13350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4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마감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3F6519C-405E-4EB6-CF04-B320A27242B0}"/>
              </a:ext>
            </a:extLst>
          </p:cNvPr>
          <p:cNvSpPr txBox="1"/>
          <p:nvPr/>
        </p:nvSpPr>
        <p:spPr>
          <a:xfrm>
            <a:off x="987552" y="2926080"/>
            <a:ext cx="548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06</a:t>
            </a:r>
            <a:endParaRPr lang="ko-KR" altLang="en-US" sz="8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048877FB-1BB5-5F13-BD6C-73B2BF99B893}"/>
              </a:ext>
            </a:extLst>
          </p:cNvPr>
          <p:cNvCxnSpPr/>
          <p:nvPr/>
        </p:nvCxnSpPr>
        <p:spPr>
          <a:xfrm>
            <a:off x="2651760" y="3621024"/>
            <a:ext cx="310896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390D72F-302B-0FC7-152B-9E81879BF62F}"/>
              </a:ext>
            </a:extLst>
          </p:cNvPr>
          <p:cNvSpPr/>
          <p:nvPr/>
        </p:nvSpPr>
        <p:spPr>
          <a:xfrm>
            <a:off x="3108960" y="3218688"/>
            <a:ext cx="1664208" cy="804672"/>
          </a:xfrm>
          <a:prstGeom prst="rect">
            <a:avLst/>
          </a:prstGeom>
          <a:solidFill>
            <a:srgbClr val="FFF7E6"/>
          </a:solidFill>
          <a:ln w="1016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838F29-1914-DC8E-769C-6C1599BA5A5D}"/>
              </a:ext>
            </a:extLst>
          </p:cNvPr>
          <p:cNvSpPr txBox="1"/>
          <p:nvPr/>
        </p:nvSpPr>
        <p:spPr>
          <a:xfrm>
            <a:off x="3273552" y="3456432"/>
            <a:ext cx="13350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4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재무제표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B9F1D2F-1D89-7F2C-040A-DA61B5D00949}"/>
              </a:ext>
            </a:extLst>
          </p:cNvPr>
          <p:cNvSpPr txBox="1"/>
          <p:nvPr/>
        </p:nvSpPr>
        <p:spPr>
          <a:xfrm>
            <a:off x="3182112" y="2926080"/>
            <a:ext cx="548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07</a:t>
            </a:r>
            <a:endParaRPr lang="ko-KR" altLang="en-US" sz="850" b="1">
              <a:solidFill>
                <a:srgbClr val="D97706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948A781D-2BBB-06C9-9327-0E3EA39DA4B3}"/>
              </a:ext>
            </a:extLst>
          </p:cNvPr>
          <p:cNvCxnSpPr/>
          <p:nvPr/>
        </p:nvCxnSpPr>
        <p:spPr>
          <a:xfrm>
            <a:off x="4846320" y="3621024"/>
            <a:ext cx="310896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013E5B50-AE0A-8EF1-E3B6-CA720125AFFA}"/>
              </a:ext>
            </a:extLst>
          </p:cNvPr>
          <p:cNvSpPr/>
          <p:nvPr/>
        </p:nvSpPr>
        <p:spPr>
          <a:xfrm>
            <a:off x="5303520" y="3218688"/>
            <a:ext cx="1664208" cy="804672"/>
          </a:xfrm>
          <a:prstGeom prst="rect">
            <a:avLst/>
          </a:prstGeom>
          <a:solidFill>
            <a:srgbClr val="FFF7E6"/>
          </a:solidFill>
          <a:ln w="1016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31A5BA9-225F-2D74-4FB2-AE5FE0DFA452}"/>
              </a:ext>
            </a:extLst>
          </p:cNvPr>
          <p:cNvSpPr txBox="1"/>
          <p:nvPr/>
        </p:nvSpPr>
        <p:spPr>
          <a:xfrm>
            <a:off x="5468112" y="3456432"/>
            <a:ext cx="13350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4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차기 이월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CF8ABC2-7718-9B39-E287-3DCE3795FF98}"/>
              </a:ext>
            </a:extLst>
          </p:cNvPr>
          <p:cNvSpPr txBox="1"/>
          <p:nvPr/>
        </p:nvSpPr>
        <p:spPr>
          <a:xfrm>
            <a:off x="5376672" y="2926080"/>
            <a:ext cx="548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08</a:t>
            </a:r>
            <a:endParaRPr lang="ko-KR" altLang="en-US" sz="850" b="1">
              <a:solidFill>
                <a:srgbClr val="D97706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FEF619EB-F4DA-4155-6D9A-D28D7479E280}"/>
              </a:ext>
            </a:extLst>
          </p:cNvPr>
          <p:cNvCxnSpPr/>
          <p:nvPr/>
        </p:nvCxnSpPr>
        <p:spPr>
          <a:xfrm>
            <a:off x="7040880" y="3621024"/>
            <a:ext cx="310896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6D440DB1-95D5-D089-77A7-62B2B835921E}"/>
              </a:ext>
            </a:extLst>
          </p:cNvPr>
          <p:cNvSpPr/>
          <p:nvPr/>
        </p:nvSpPr>
        <p:spPr>
          <a:xfrm>
            <a:off x="7498080" y="3218688"/>
            <a:ext cx="1664208" cy="804672"/>
          </a:xfrm>
          <a:prstGeom prst="rect">
            <a:avLst/>
          </a:prstGeom>
          <a:solidFill>
            <a:srgbClr val="FFF7E6"/>
          </a:solidFill>
          <a:ln w="1016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8C29693-83A3-8C00-0D92-4A0A6F60A2A4}"/>
              </a:ext>
            </a:extLst>
          </p:cNvPr>
          <p:cNvSpPr txBox="1"/>
          <p:nvPr/>
        </p:nvSpPr>
        <p:spPr>
          <a:xfrm>
            <a:off x="7662672" y="3456432"/>
            <a:ext cx="13350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4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전망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0EEF0EA-B371-E811-DAEF-1EC96773FB36}"/>
              </a:ext>
            </a:extLst>
          </p:cNvPr>
          <p:cNvSpPr txBox="1"/>
          <p:nvPr/>
        </p:nvSpPr>
        <p:spPr>
          <a:xfrm>
            <a:off x="7571232" y="2926080"/>
            <a:ext cx="548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09</a:t>
            </a:r>
            <a:endParaRPr lang="ko-KR" altLang="en-US" sz="850" b="1">
              <a:solidFill>
                <a:srgbClr val="D97706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A99402B0-4657-AB38-03D6-8461346391A0}"/>
              </a:ext>
            </a:extLst>
          </p:cNvPr>
          <p:cNvSpPr/>
          <p:nvPr/>
        </p:nvSpPr>
        <p:spPr>
          <a:xfrm>
            <a:off x="1078992" y="4681728"/>
            <a:ext cx="9829800" cy="87782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CC8132A6-8EF8-CD7B-66B3-568227903FCD}"/>
              </a:ext>
            </a:extLst>
          </p:cNvPr>
          <p:cNvSpPr/>
          <p:nvPr/>
        </p:nvSpPr>
        <p:spPr>
          <a:xfrm>
            <a:off x="1078992" y="4681728"/>
            <a:ext cx="73152" cy="877824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7D5FEB9-9FA6-3C48-022B-BA74DB564541}"/>
              </a:ext>
            </a:extLst>
          </p:cNvPr>
          <p:cNvSpPr txBox="1"/>
          <p:nvPr/>
        </p:nvSpPr>
        <p:spPr>
          <a:xfrm>
            <a:off x="1325880" y="4846320"/>
            <a:ext cx="2011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2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핵심 메시지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853F383-C4C6-4D22-8FFE-D3F9D0DC72D9}"/>
              </a:ext>
            </a:extLst>
          </p:cNvPr>
          <p:cNvSpPr txBox="1"/>
          <p:nvPr/>
        </p:nvSpPr>
        <p:spPr>
          <a:xfrm>
            <a:off x="1325880" y="5184648"/>
            <a:ext cx="886968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단순 기능 나열이 아니라 한 달을 열고</a:t>
            </a:r>
            <a:r>
              <a:rPr lang="en-US" altLang="ko-KR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수집하고</a:t>
            </a:r>
            <a:r>
              <a:rPr lang="en-US" altLang="ko-KR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확정하고</a:t>
            </a:r>
            <a:r>
              <a:rPr lang="en-US" altLang="ko-KR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닫고</a:t>
            </a:r>
            <a:r>
              <a:rPr lang="en-US" altLang="ko-KR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다음 달로 넘기는 업무 사이클입니다</a:t>
            </a:r>
            <a:r>
              <a:rPr lang="en-US" altLang="ko-KR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25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59E624A-706C-3BCC-7ADB-4A6F9F635BCD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A33C6DD-A7EE-0E4A-83CF-EC9B2502337C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07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26010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0A6F91E-4AD8-8AF9-721B-6A9D9F8E69C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2392B02-F3F1-4B05-6250-2A5996017ABA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61AB8D5-2CEA-C8C4-41BC-9BF363D06CE9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332BB2-442F-7186-FADC-F8F45473D60F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DOMAIN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610870-6054-94EF-070C-89866F1BE884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핵심 도메인 설계</a:t>
            </a:r>
            <a:r>
              <a:rPr lang="en-US" altLang="ko-KR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: </a:t>
            </a:r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거래와 전표 분리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B9CEA839-AAE5-06D2-2871-6C9DFA0687A3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5F3C099B-8BF1-AAFE-8700-3031980F2F29}"/>
              </a:ext>
            </a:extLst>
          </p:cNvPr>
          <p:cNvSpPr/>
          <p:nvPr/>
        </p:nvSpPr>
        <p:spPr>
          <a:xfrm>
            <a:off x="987552" y="1444752"/>
            <a:ext cx="2103120" cy="87782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C7CD568-9AAC-188B-3861-DC28A0FCF13C}"/>
              </a:ext>
            </a:extLst>
          </p:cNvPr>
          <p:cNvSpPr/>
          <p:nvPr/>
        </p:nvSpPr>
        <p:spPr>
          <a:xfrm>
            <a:off x="987552" y="1444752"/>
            <a:ext cx="2103120" cy="73152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6D48ED-789C-1AF5-8B8A-61566A105BE4}"/>
              </a:ext>
            </a:extLst>
          </p:cNvPr>
          <p:cNvSpPr txBox="1"/>
          <p:nvPr/>
        </p:nvSpPr>
        <p:spPr>
          <a:xfrm>
            <a:off x="1152144" y="1664208"/>
            <a:ext cx="1773936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8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 행 </a:t>
            </a:r>
            <a:r>
              <a:rPr lang="en-US" altLang="ko-KR" sz="118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 </a:t>
            </a:r>
            <a:r>
              <a:rPr lang="ko-KR" altLang="en-US" sz="118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수기 입력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88FE64-1437-C586-0598-9731F69893AC}"/>
              </a:ext>
            </a:extLst>
          </p:cNvPr>
          <p:cNvSpPr txBox="1"/>
          <p:nvPr/>
        </p:nvSpPr>
        <p:spPr>
          <a:xfrm>
            <a:off x="1152144" y="2011680"/>
            <a:ext cx="1773936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입력 후보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B1F7A672-B89A-6446-D6D6-375BFD0927AD}"/>
              </a:ext>
            </a:extLst>
          </p:cNvPr>
          <p:cNvCxnSpPr/>
          <p:nvPr/>
        </p:nvCxnSpPr>
        <p:spPr>
          <a:xfrm>
            <a:off x="3163824" y="1883664"/>
            <a:ext cx="256032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7D5FC94-6E16-8FB4-B61B-04844D9F0078}"/>
              </a:ext>
            </a:extLst>
          </p:cNvPr>
          <p:cNvSpPr/>
          <p:nvPr/>
        </p:nvSpPr>
        <p:spPr>
          <a:xfrm>
            <a:off x="3785616" y="1444752"/>
            <a:ext cx="2103120" cy="87782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A1C0CFED-4D82-A218-D088-7738CBE3ED03}"/>
              </a:ext>
            </a:extLst>
          </p:cNvPr>
          <p:cNvSpPr/>
          <p:nvPr/>
        </p:nvSpPr>
        <p:spPr>
          <a:xfrm>
            <a:off x="3785616" y="1444752"/>
            <a:ext cx="2103120" cy="73152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96E665-066B-979E-61F3-68200E254B0B}"/>
              </a:ext>
            </a:extLst>
          </p:cNvPr>
          <p:cNvSpPr txBox="1"/>
          <p:nvPr/>
        </p:nvSpPr>
        <p:spPr>
          <a:xfrm>
            <a:off x="3950208" y="1664208"/>
            <a:ext cx="1773936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8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7A643B-CDB3-1B2C-DAAA-8D201E1BAC35}"/>
              </a:ext>
            </a:extLst>
          </p:cNvPr>
          <p:cNvSpPr txBox="1"/>
          <p:nvPr/>
        </p:nvSpPr>
        <p:spPr>
          <a:xfrm>
            <a:off x="3950208" y="2011680"/>
            <a:ext cx="1773936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검토 가능한 거래</a:t>
            </a:r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40FCE19A-B47F-A620-7E0D-D352FD4D9C7D}"/>
              </a:ext>
            </a:extLst>
          </p:cNvPr>
          <p:cNvCxnSpPr/>
          <p:nvPr/>
        </p:nvCxnSpPr>
        <p:spPr>
          <a:xfrm>
            <a:off x="5961888" y="1883664"/>
            <a:ext cx="256032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E13EF90-2A38-31B5-3B8D-B04D7F593EA6}"/>
              </a:ext>
            </a:extLst>
          </p:cNvPr>
          <p:cNvSpPr/>
          <p:nvPr/>
        </p:nvSpPr>
        <p:spPr>
          <a:xfrm>
            <a:off x="6583680" y="1444752"/>
            <a:ext cx="2103120" cy="87782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867D5E7-4D00-677C-E814-93138BE9E020}"/>
              </a:ext>
            </a:extLst>
          </p:cNvPr>
          <p:cNvSpPr/>
          <p:nvPr/>
        </p:nvSpPr>
        <p:spPr>
          <a:xfrm>
            <a:off x="6583680" y="1444752"/>
            <a:ext cx="2103120" cy="7315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D7D5DDB-CE56-BE2A-7055-99B117C6EB0D}"/>
              </a:ext>
            </a:extLst>
          </p:cNvPr>
          <p:cNvSpPr txBox="1"/>
          <p:nvPr/>
        </p:nvSpPr>
        <p:spPr>
          <a:xfrm>
            <a:off x="6748272" y="1664208"/>
            <a:ext cx="1773936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8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51BCC18-8A00-EA64-32DA-85825B294255}"/>
              </a:ext>
            </a:extLst>
          </p:cNvPr>
          <p:cNvSpPr txBox="1"/>
          <p:nvPr/>
        </p:nvSpPr>
        <p:spPr>
          <a:xfrm>
            <a:off x="6748272" y="2011680"/>
            <a:ext cx="1773936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공식 회계 기록</a:t>
            </a:r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9DB3C43E-4BD1-E696-94D4-7971BB8F77AE}"/>
              </a:ext>
            </a:extLst>
          </p:cNvPr>
          <p:cNvCxnSpPr/>
          <p:nvPr/>
        </p:nvCxnSpPr>
        <p:spPr>
          <a:xfrm>
            <a:off x="7635240" y="2395728"/>
            <a:ext cx="0" cy="365760"/>
          </a:xfrm>
          <a:prstGeom prst="line">
            <a:avLst/>
          </a:prstGeom>
          <a:ln w="15240">
            <a:solidFill>
              <a:srgbClr val="D8DE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49461A8C-E42F-9A71-799A-FB028D763B37}"/>
              </a:ext>
            </a:extLst>
          </p:cNvPr>
          <p:cNvCxnSpPr/>
          <p:nvPr/>
        </p:nvCxnSpPr>
        <p:spPr>
          <a:xfrm flipH="1">
            <a:off x="4526280" y="2761488"/>
            <a:ext cx="3108960" cy="0"/>
          </a:xfrm>
          <a:prstGeom prst="line">
            <a:avLst/>
          </a:prstGeom>
          <a:ln w="15240">
            <a:solidFill>
              <a:srgbClr val="D8DE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48791527-0AA8-EEFD-53F8-0DFBC74F5632}"/>
              </a:ext>
            </a:extLst>
          </p:cNvPr>
          <p:cNvCxnSpPr/>
          <p:nvPr/>
        </p:nvCxnSpPr>
        <p:spPr>
          <a:xfrm>
            <a:off x="4526280" y="2761488"/>
            <a:ext cx="0" cy="329184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CE31D43-952D-31CA-D241-1D5F21E95EF3}"/>
              </a:ext>
            </a:extLst>
          </p:cNvPr>
          <p:cNvSpPr/>
          <p:nvPr/>
        </p:nvSpPr>
        <p:spPr>
          <a:xfrm>
            <a:off x="3456432" y="3163824"/>
            <a:ext cx="2176272" cy="87782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673CDA6-4089-FDB7-870D-D05A6B56F1C3}"/>
              </a:ext>
            </a:extLst>
          </p:cNvPr>
          <p:cNvSpPr/>
          <p:nvPr/>
        </p:nvSpPr>
        <p:spPr>
          <a:xfrm>
            <a:off x="3456432" y="3163824"/>
            <a:ext cx="2176272" cy="7315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E7A3292-F317-8519-FA7E-7DD097836F5B}"/>
              </a:ext>
            </a:extLst>
          </p:cNvPr>
          <p:cNvSpPr txBox="1"/>
          <p:nvPr/>
        </p:nvSpPr>
        <p:spPr>
          <a:xfrm>
            <a:off x="3621024" y="3383280"/>
            <a:ext cx="1847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8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스냅샷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F2A5A5D-C292-8EAA-3881-6318BF34733D}"/>
              </a:ext>
            </a:extLst>
          </p:cNvPr>
          <p:cNvSpPr txBox="1"/>
          <p:nvPr/>
        </p:nvSpPr>
        <p:spPr>
          <a:xfrm>
            <a:off x="3621024" y="3730752"/>
            <a:ext cx="1847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기준 잠금</a:t>
            </a: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D73FB311-BC52-B14F-BBDF-0E8F0F39E5C0}"/>
              </a:ext>
            </a:extLst>
          </p:cNvPr>
          <p:cNvCxnSpPr/>
          <p:nvPr/>
        </p:nvCxnSpPr>
        <p:spPr>
          <a:xfrm>
            <a:off x="5705856" y="3602736"/>
            <a:ext cx="256032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956F646-EB33-42D0-2F90-4C1F9A08896D}"/>
              </a:ext>
            </a:extLst>
          </p:cNvPr>
          <p:cNvSpPr/>
          <p:nvPr/>
        </p:nvSpPr>
        <p:spPr>
          <a:xfrm>
            <a:off x="6254496" y="3163824"/>
            <a:ext cx="2176272" cy="87782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BE87655F-1ABA-6713-1ACB-A7488C796457}"/>
              </a:ext>
            </a:extLst>
          </p:cNvPr>
          <p:cNvSpPr/>
          <p:nvPr/>
        </p:nvSpPr>
        <p:spPr>
          <a:xfrm>
            <a:off x="6254496" y="3163824"/>
            <a:ext cx="2176272" cy="73152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065F3D-D0B8-211B-CC30-7D505F37F5FF}"/>
              </a:ext>
            </a:extLst>
          </p:cNvPr>
          <p:cNvSpPr txBox="1"/>
          <p:nvPr/>
        </p:nvSpPr>
        <p:spPr>
          <a:xfrm>
            <a:off x="6419088" y="3383280"/>
            <a:ext cx="1847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8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재무제표 </a:t>
            </a:r>
            <a:r>
              <a:rPr lang="en-US" altLang="ko-KR" sz="118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 </a:t>
            </a:r>
            <a:r>
              <a:rPr lang="ko-KR" altLang="en-US" sz="118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이월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0DE1FC-06B0-42DD-ACA7-0B2419CCC403}"/>
              </a:ext>
            </a:extLst>
          </p:cNvPr>
          <p:cNvSpPr txBox="1"/>
          <p:nvPr/>
        </p:nvSpPr>
        <p:spPr>
          <a:xfrm>
            <a:off x="6419088" y="3730752"/>
            <a:ext cx="1847088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보고와 다음 월 연결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23FC3B1-202B-1C62-3AE5-1705E52592BE}"/>
              </a:ext>
            </a:extLst>
          </p:cNvPr>
          <p:cNvSpPr/>
          <p:nvPr/>
        </p:nvSpPr>
        <p:spPr>
          <a:xfrm>
            <a:off x="804672" y="4681728"/>
            <a:ext cx="4800600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8BA6EFF3-98E8-1E16-1D29-90758E029278}"/>
              </a:ext>
            </a:extLst>
          </p:cNvPr>
          <p:cNvSpPr/>
          <p:nvPr/>
        </p:nvSpPr>
        <p:spPr>
          <a:xfrm>
            <a:off x="804672" y="468172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4C3A4B7-8058-4FB8-A770-AA4ECB424425}"/>
              </a:ext>
            </a:extLst>
          </p:cNvPr>
          <p:cNvSpPr txBox="1"/>
          <p:nvPr/>
        </p:nvSpPr>
        <p:spPr>
          <a:xfrm>
            <a:off x="969264" y="4782312"/>
            <a:ext cx="45079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설계 의도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6265D08-5708-3F5B-A48E-CB4DA4704E9F}"/>
              </a:ext>
            </a:extLst>
          </p:cNvPr>
          <p:cNvSpPr txBox="1"/>
          <p:nvPr/>
        </p:nvSpPr>
        <p:spPr>
          <a:xfrm>
            <a:off x="969264" y="5029200"/>
            <a:ext cx="450799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거래는 운영 입력이고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전표는 공식 기록입니다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확정 이후 수정은 반전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정정 흐름으로 추적성을 유지합니다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3B4485A-0A3A-3E69-717B-42567E015C22}"/>
              </a:ext>
            </a:extLst>
          </p:cNvPr>
          <p:cNvSpPr/>
          <p:nvPr/>
        </p:nvSpPr>
        <p:spPr>
          <a:xfrm>
            <a:off x="6263640" y="4681728"/>
            <a:ext cx="4617721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0D7ECE4-8D34-6DB3-3963-ADC5CB47B096}"/>
              </a:ext>
            </a:extLst>
          </p:cNvPr>
          <p:cNvSpPr/>
          <p:nvPr/>
        </p:nvSpPr>
        <p:spPr>
          <a:xfrm>
            <a:off x="6263640" y="4681728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F2AD056-E74D-C7D6-0D22-45C723787E3D}"/>
              </a:ext>
            </a:extLst>
          </p:cNvPr>
          <p:cNvSpPr txBox="1"/>
          <p:nvPr/>
        </p:nvSpPr>
        <p:spPr>
          <a:xfrm>
            <a:off x="6428232" y="4782312"/>
            <a:ext cx="43251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C3A1B81-684E-6D07-AA9D-ED2C3F747A70}"/>
              </a:ext>
            </a:extLst>
          </p:cNvPr>
          <p:cNvSpPr txBox="1"/>
          <p:nvPr/>
        </p:nvSpPr>
        <p:spPr>
          <a:xfrm>
            <a:off x="6428232" y="5029200"/>
            <a:ext cx="432511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프로젝트의 설계 수준은 회계 흐름의 경계를 어떻게 나눴는지에서 드러납니다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ACCEBF1-8170-AC45-F25B-BAF71739E7F9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A191A5-6341-11A1-B79B-42228D0534C3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08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56988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574FB84-6FC9-9286-F120-56A317B92E4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6C49BFC-F05E-8447-01DF-5D2DBF22A2A3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5C0FFE22-B884-F250-78C7-4317C22843F1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1002B8-BFB9-0CA0-53E3-3D8DCFEAFB10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CONSISTENCY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D0BCD3-4AFC-10D7-45F3-4D9A7ED8AD36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정합성과 트랜잭션 처리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4A830B2F-7E46-05BD-5A17-4A199ED81856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A453548D-5363-6731-B17D-493177A148E8}"/>
              </a:ext>
            </a:extLst>
          </p:cNvPr>
          <p:cNvSpPr/>
          <p:nvPr/>
        </p:nvSpPr>
        <p:spPr>
          <a:xfrm>
            <a:off x="777240" y="1417320"/>
            <a:ext cx="2148840" cy="932688"/>
          </a:xfrm>
          <a:prstGeom prst="rect">
            <a:avLst/>
          </a:prstGeom>
          <a:solidFill>
            <a:srgbClr val="EEF4FF"/>
          </a:solidFill>
          <a:ln w="10160">
            <a:solidFill>
              <a:srgbClr val="2454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BE4312-60A2-CF79-01D8-2821CD80988D}"/>
              </a:ext>
            </a:extLst>
          </p:cNvPr>
          <p:cNvSpPr txBox="1"/>
          <p:nvPr/>
        </p:nvSpPr>
        <p:spPr>
          <a:xfrm>
            <a:off x="941832" y="1627632"/>
            <a:ext cx="1810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3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6FD5E8-69C1-A325-3CEB-ABC376C46D94}"/>
              </a:ext>
            </a:extLst>
          </p:cNvPr>
          <p:cNvSpPr txBox="1"/>
          <p:nvPr/>
        </p:nvSpPr>
        <p:spPr>
          <a:xfrm>
            <a:off x="941832" y="1984248"/>
            <a:ext cx="1810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검토 입력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34D7BB28-0CF0-653A-8750-2C2ABFB62A3D}"/>
              </a:ext>
            </a:extLst>
          </p:cNvPr>
          <p:cNvCxnSpPr/>
          <p:nvPr/>
        </p:nvCxnSpPr>
        <p:spPr>
          <a:xfrm>
            <a:off x="3017520" y="1883664"/>
            <a:ext cx="246888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D0AF32-3CC2-532F-DF4B-23148F4D9DA3}"/>
              </a:ext>
            </a:extLst>
          </p:cNvPr>
          <p:cNvSpPr/>
          <p:nvPr/>
        </p:nvSpPr>
        <p:spPr>
          <a:xfrm>
            <a:off x="3337560" y="1417320"/>
            <a:ext cx="2148840" cy="932688"/>
          </a:xfrm>
          <a:prstGeom prst="rect">
            <a:avLst/>
          </a:prstGeom>
          <a:solidFill>
            <a:srgbClr val="EAFBF8"/>
          </a:solidFill>
          <a:ln w="10160">
            <a:solidFill>
              <a:srgbClr val="008A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99B42E-4A6D-2038-EF97-C228C96F7159}"/>
              </a:ext>
            </a:extLst>
          </p:cNvPr>
          <p:cNvSpPr txBox="1"/>
          <p:nvPr/>
        </p:nvSpPr>
        <p:spPr>
          <a:xfrm>
            <a:off x="3502152" y="1627632"/>
            <a:ext cx="1810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3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트랜잭션 경계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063E9F7-3185-B79C-FE4B-E675DF2A51E3}"/>
              </a:ext>
            </a:extLst>
          </p:cNvPr>
          <p:cNvSpPr txBox="1"/>
          <p:nvPr/>
        </p:nvSpPr>
        <p:spPr>
          <a:xfrm>
            <a:off x="3502152" y="1984248"/>
            <a:ext cx="181051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기간</a:t>
            </a:r>
            <a:r>
              <a:rPr lang="en-US" altLang="ko-KR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상태</a:t>
            </a:r>
            <a:r>
              <a:rPr lang="en-US" altLang="ko-KR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참조 재검증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32207CF7-AC86-7D6D-22D3-913C355BF036}"/>
              </a:ext>
            </a:extLst>
          </p:cNvPr>
          <p:cNvCxnSpPr/>
          <p:nvPr/>
        </p:nvCxnSpPr>
        <p:spPr>
          <a:xfrm>
            <a:off x="5577840" y="1883664"/>
            <a:ext cx="246888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B692F1F-B0E6-A60E-5C4A-DAAFE8EB71CA}"/>
              </a:ext>
            </a:extLst>
          </p:cNvPr>
          <p:cNvSpPr/>
          <p:nvPr/>
        </p:nvSpPr>
        <p:spPr>
          <a:xfrm>
            <a:off x="5897880" y="1417320"/>
            <a:ext cx="2148840" cy="932688"/>
          </a:xfrm>
          <a:prstGeom prst="rect">
            <a:avLst/>
          </a:prstGeom>
          <a:solidFill>
            <a:srgbClr val="FFF7E6"/>
          </a:solidFill>
          <a:ln w="1016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7838E6-EF11-DF3F-9674-FD7AF83D2C04}"/>
              </a:ext>
            </a:extLst>
          </p:cNvPr>
          <p:cNvSpPr txBox="1"/>
          <p:nvPr/>
        </p:nvSpPr>
        <p:spPr>
          <a:xfrm>
            <a:off x="6062472" y="1627632"/>
            <a:ext cx="1810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3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 확정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24B1DF-C844-5A3D-F6BC-BA3BFDC3B269}"/>
              </a:ext>
            </a:extLst>
          </p:cNvPr>
          <p:cNvSpPr txBox="1"/>
          <p:nvPr/>
        </p:nvSpPr>
        <p:spPr>
          <a:xfrm>
            <a:off x="6062472" y="1984248"/>
            <a:ext cx="181051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월별 전표번호와 라인 생성</a:t>
            </a: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319F922-155F-948F-7204-F1C3C839407F}"/>
              </a:ext>
            </a:extLst>
          </p:cNvPr>
          <p:cNvCxnSpPr/>
          <p:nvPr/>
        </p:nvCxnSpPr>
        <p:spPr>
          <a:xfrm>
            <a:off x="8138160" y="1883664"/>
            <a:ext cx="246888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B3E70D-5869-44BF-FA21-C61D8DF28D57}"/>
              </a:ext>
            </a:extLst>
          </p:cNvPr>
          <p:cNvSpPr/>
          <p:nvPr/>
        </p:nvSpPr>
        <p:spPr>
          <a:xfrm>
            <a:off x="8458200" y="1417320"/>
            <a:ext cx="2148840" cy="932688"/>
          </a:xfrm>
          <a:prstGeom prst="rect">
            <a:avLst/>
          </a:prstGeom>
          <a:solidFill>
            <a:srgbClr val="FFF1F3"/>
          </a:solidFill>
          <a:ln w="10160">
            <a:solidFill>
              <a:srgbClr val="E11D4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684DC1-A248-E048-A3CB-9615C962DA12}"/>
              </a:ext>
            </a:extLst>
          </p:cNvPr>
          <p:cNvSpPr txBox="1"/>
          <p:nvPr/>
        </p:nvSpPr>
        <p:spPr>
          <a:xfrm>
            <a:off x="8622792" y="1627632"/>
            <a:ext cx="1810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3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잠금</a:t>
            </a:r>
            <a:r>
              <a:rPr lang="en-US" altLang="ko-KR" sz="13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3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스냅샷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E471D62-59F6-9BF3-B052-70431937A849}"/>
              </a:ext>
            </a:extLst>
          </p:cNvPr>
          <p:cNvSpPr txBox="1"/>
          <p:nvPr/>
        </p:nvSpPr>
        <p:spPr>
          <a:xfrm>
            <a:off x="8622792" y="1984248"/>
            <a:ext cx="181051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</a:t>
            </a:r>
            <a:r>
              <a:rPr lang="en-US" altLang="ko-KR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보고</a:t>
            </a:r>
            <a:r>
              <a:rPr lang="en-US" altLang="ko-KR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이월 기준 고정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BB52982-542D-7207-EE96-C7FB1210CAD9}"/>
              </a:ext>
            </a:extLst>
          </p:cNvPr>
          <p:cNvSpPr txBox="1"/>
          <p:nvPr/>
        </p:nvSpPr>
        <p:spPr>
          <a:xfrm>
            <a:off x="777240" y="2761488"/>
            <a:ext cx="3108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엔지니어링 강점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BDC01A1-CAD3-08AE-85DB-DB01B3CDF7D1}"/>
              </a:ext>
            </a:extLst>
          </p:cNvPr>
          <p:cNvSpPr/>
          <p:nvPr/>
        </p:nvSpPr>
        <p:spPr>
          <a:xfrm>
            <a:off x="777240" y="3127248"/>
            <a:ext cx="2578608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5912BC75-AB95-9509-8161-B8A3FB0FF080}"/>
              </a:ext>
            </a:extLst>
          </p:cNvPr>
          <p:cNvSpPr/>
          <p:nvPr/>
        </p:nvSpPr>
        <p:spPr>
          <a:xfrm>
            <a:off x="777240" y="3127248"/>
            <a:ext cx="64008" cy="786384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B7852F-4948-92CF-7419-5FEC89722F65}"/>
              </a:ext>
            </a:extLst>
          </p:cNvPr>
          <p:cNvSpPr txBox="1"/>
          <p:nvPr/>
        </p:nvSpPr>
        <p:spPr>
          <a:xfrm>
            <a:off x="941832" y="3218688"/>
            <a:ext cx="22860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 확정 경계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5F5B198-1FDD-7FF8-0E1F-7B4CFDDC355B}"/>
              </a:ext>
            </a:extLst>
          </p:cNvPr>
          <p:cNvSpPr txBox="1"/>
          <p:nvPr/>
        </p:nvSpPr>
        <p:spPr>
          <a:xfrm>
            <a:off x="941832" y="3456432"/>
            <a:ext cx="2286000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확정 시 하나의 트랜잭션 안에서 기간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상태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참조를 다시 검증합니다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B0AEE98-3B39-6223-4986-176C0C229079}"/>
              </a:ext>
            </a:extLst>
          </p:cNvPr>
          <p:cNvSpPr/>
          <p:nvPr/>
        </p:nvSpPr>
        <p:spPr>
          <a:xfrm>
            <a:off x="3611880" y="3127248"/>
            <a:ext cx="2578608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CADFE99-586F-05F9-06BE-74C6E28C5E0D}"/>
              </a:ext>
            </a:extLst>
          </p:cNvPr>
          <p:cNvSpPr/>
          <p:nvPr/>
        </p:nvSpPr>
        <p:spPr>
          <a:xfrm>
            <a:off x="3611880" y="3127248"/>
            <a:ext cx="64008" cy="786384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F71EF2D-DDB3-237B-C6A4-971A2B118A24}"/>
              </a:ext>
            </a:extLst>
          </p:cNvPr>
          <p:cNvSpPr txBox="1"/>
          <p:nvPr/>
        </p:nvSpPr>
        <p:spPr>
          <a:xfrm>
            <a:off x="3776472" y="3218688"/>
            <a:ext cx="22860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 번호 정합성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6F305B-36D2-9427-32E4-CB6725891EFD}"/>
              </a:ext>
            </a:extLst>
          </p:cNvPr>
          <p:cNvSpPr txBox="1"/>
          <p:nvPr/>
        </p:nvSpPr>
        <p:spPr>
          <a:xfrm>
            <a:off x="3776472" y="3456432"/>
            <a:ext cx="2286000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운영월별 전표 순번을 별도로 관리해 월 안의 번호 중복을 막습니다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8F44A2DC-A44E-770E-D487-74803CDB11F1}"/>
              </a:ext>
            </a:extLst>
          </p:cNvPr>
          <p:cNvSpPr/>
          <p:nvPr/>
        </p:nvSpPr>
        <p:spPr>
          <a:xfrm>
            <a:off x="777240" y="4187952"/>
            <a:ext cx="2578608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7DEE92BB-A1FA-7676-0CE6-0F1AE614A7AD}"/>
              </a:ext>
            </a:extLst>
          </p:cNvPr>
          <p:cNvSpPr/>
          <p:nvPr/>
        </p:nvSpPr>
        <p:spPr>
          <a:xfrm>
            <a:off x="777240" y="4187952"/>
            <a:ext cx="64008" cy="786384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4E9D594-2213-FF46-DA51-35EAE11B81CE}"/>
              </a:ext>
            </a:extLst>
          </p:cNvPr>
          <p:cNvSpPr txBox="1"/>
          <p:nvPr/>
        </p:nvSpPr>
        <p:spPr>
          <a:xfrm>
            <a:off x="941832" y="4279392"/>
            <a:ext cx="22860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동시성 방어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C6EB29E-67B5-9F8F-93EE-2D7B12AF96A2}"/>
              </a:ext>
            </a:extLst>
          </p:cNvPr>
          <p:cNvSpPr txBox="1"/>
          <p:nvPr/>
        </p:nvSpPr>
        <p:spPr>
          <a:xfrm>
            <a:off x="941832" y="4517136"/>
            <a:ext cx="2286000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기대 상태 조건 갱신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DB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중복 제약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일괄 등록 잠금으로 중복 확정을 차단합니다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6D4CDBAF-2245-C981-CCB0-3FF3F60A5722}"/>
              </a:ext>
            </a:extLst>
          </p:cNvPr>
          <p:cNvSpPr/>
          <p:nvPr/>
        </p:nvSpPr>
        <p:spPr>
          <a:xfrm>
            <a:off x="3611880" y="4187952"/>
            <a:ext cx="2578608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DA6AF59C-75E9-5CED-1164-E5FAC93F56C4}"/>
              </a:ext>
            </a:extLst>
          </p:cNvPr>
          <p:cNvSpPr/>
          <p:nvPr/>
        </p:nvSpPr>
        <p:spPr>
          <a:xfrm>
            <a:off x="3611880" y="4187952"/>
            <a:ext cx="64008" cy="786384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3460BB6-C009-48E3-C353-17DD8F8822B5}"/>
              </a:ext>
            </a:extLst>
          </p:cNvPr>
          <p:cNvSpPr txBox="1"/>
          <p:nvPr/>
        </p:nvSpPr>
        <p:spPr>
          <a:xfrm>
            <a:off x="3776472" y="4279392"/>
            <a:ext cx="22860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실패 격리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D5CB97F-1AB9-8397-4EB4-CA4F83259F5C}"/>
              </a:ext>
            </a:extLst>
          </p:cNvPr>
          <p:cNvSpPr txBox="1"/>
          <p:nvPr/>
        </p:nvSpPr>
        <p:spPr>
          <a:xfrm>
            <a:off x="3776472" y="4517136"/>
            <a:ext cx="2286000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기록 저장 실패는 핵심 회계 트랜잭션과 분리해 처리합니다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B2A7444-7FD1-9771-6F00-7EB263C48B11}"/>
              </a:ext>
            </a:extLst>
          </p:cNvPr>
          <p:cNvSpPr/>
          <p:nvPr/>
        </p:nvSpPr>
        <p:spPr>
          <a:xfrm>
            <a:off x="6629400" y="2788920"/>
            <a:ext cx="4800600" cy="2395728"/>
          </a:xfrm>
          <a:prstGeom prst="rect">
            <a:avLst/>
          </a:prstGeom>
          <a:solidFill>
            <a:srgbClr val="18181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6034C6C-F8DD-1B4A-3E80-870C5DA3FE4F}"/>
              </a:ext>
            </a:extLst>
          </p:cNvPr>
          <p:cNvSpPr txBox="1"/>
          <p:nvPr/>
        </p:nvSpPr>
        <p:spPr>
          <a:xfrm>
            <a:off x="6903720" y="3035808"/>
            <a:ext cx="41605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32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검증으로 확인한 시나리오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EC85BC1-18EF-BE78-AB9D-CF96D1D54F35}"/>
              </a:ext>
            </a:extLst>
          </p:cNvPr>
          <p:cNvSpPr txBox="1"/>
          <p:nvPr/>
        </p:nvSpPr>
        <p:spPr>
          <a:xfrm>
            <a:off x="6967728" y="3493008"/>
            <a:ext cx="4023360" cy="1754326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9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09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시작 → 업로드 → 수집 → 전표 확정 → 월 마감</a:t>
            </a:r>
          </a:p>
          <a:p>
            <a:r>
              <a:rPr lang="en-US" altLang="ko-KR" sz="109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09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→ 재무제표 → 재오픈 → 반전</a:t>
            </a:r>
            <a:r>
              <a:rPr lang="en-US" altLang="ko-KR" sz="109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9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정정</a:t>
            </a:r>
          </a:p>
          <a:p>
            <a:r>
              <a:rPr lang="en-US" altLang="ko-KR" sz="109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09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차기 이월 생성 후 원천 월 재오픈 차단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398D0FA-4DAF-D2DB-C133-389B43105FC4}"/>
              </a:ext>
            </a:extLst>
          </p:cNvPr>
          <p:cNvSpPr/>
          <p:nvPr/>
        </p:nvSpPr>
        <p:spPr>
          <a:xfrm>
            <a:off x="6903720" y="4645152"/>
            <a:ext cx="4096512" cy="54864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ACACA32-8A98-9D2F-F13B-9C7CC7153626}"/>
              </a:ext>
            </a:extLst>
          </p:cNvPr>
          <p:cNvSpPr txBox="1"/>
          <p:nvPr/>
        </p:nvSpPr>
        <p:spPr>
          <a:xfrm>
            <a:off x="6903720" y="4791456"/>
            <a:ext cx="4096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>
                <a:solidFill>
                  <a:srgbClr val="D4D4D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실무에서 겪은 중복 처리 위험을 바탕으로</a:t>
            </a:r>
            <a:r>
              <a:rPr lang="en-US" altLang="ko-KR" sz="1100">
                <a:solidFill>
                  <a:srgbClr val="D4D4D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00">
                <a:solidFill>
                  <a:srgbClr val="D4D4D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처리 전 선점과 기대 상태 갱신을 핵심 쓰기 경로에 적용했습니다</a:t>
            </a:r>
            <a:r>
              <a:rPr lang="en-US" altLang="ko-KR" sz="1100">
                <a:solidFill>
                  <a:srgbClr val="D4D4D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100">
              <a:solidFill>
                <a:srgbClr val="D4D4D8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DCEA3F1-5DA8-AD47-2D73-99796907A8F0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4FF996F-629D-692B-DEB8-F7994E0CC56D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09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06350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310FEFD-E6D2-5672-CE4B-717DF2B8909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6333F7F-F974-E023-452A-4FE53D939837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D0469EC-1258-41F1-F490-5C2C4BEAB180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1F5134-E401-9B41-4299-6F6C6F655551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FIELD CASE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BEA23D-56ED-59A1-792D-BECF0D2B5C6C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실무 경험</a:t>
            </a:r>
            <a:r>
              <a:rPr lang="en-US" altLang="ko-KR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: </a:t>
            </a:r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자동</a:t>
            </a:r>
            <a:r>
              <a:rPr lang="en-US" altLang="ko-KR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수동 인터페이스 중복 처리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39E73C0-E172-D394-9097-C4664DA16D6A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41660392-7D2A-60AC-5A40-089086F3F8BB}"/>
              </a:ext>
            </a:extLst>
          </p:cNvPr>
          <p:cNvSpPr/>
          <p:nvPr/>
        </p:nvSpPr>
        <p:spPr>
          <a:xfrm>
            <a:off x="685800" y="1325880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D3E2F85-0114-89B3-367D-F5ADA1D6470C}"/>
              </a:ext>
            </a:extLst>
          </p:cNvPr>
          <p:cNvSpPr/>
          <p:nvPr/>
        </p:nvSpPr>
        <p:spPr>
          <a:xfrm>
            <a:off x="685800" y="1325880"/>
            <a:ext cx="64008" cy="1078992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D6C778-C560-B198-A74D-07C7C7C2C2F3}"/>
              </a:ext>
            </a:extLst>
          </p:cNvPr>
          <p:cNvSpPr txBox="1"/>
          <p:nvPr/>
        </p:nvSpPr>
        <p:spPr>
          <a:xfrm>
            <a:off x="850392" y="1435608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상황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BF668E-705F-C0CC-4502-F63CAC74CC88}"/>
              </a:ext>
            </a:extLst>
          </p:cNvPr>
          <p:cNvSpPr txBox="1"/>
          <p:nvPr/>
        </p:nvSpPr>
        <p:spPr>
          <a:xfrm>
            <a:off x="850392" y="1691640"/>
            <a:ext cx="2953512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스케줄러와 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ERP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 수동 실행이 같은 인터페이스 작업 데이터를 동시에 집을 수 있었습니다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4BD51EF-5901-3D20-3552-75DFCED84E73}"/>
              </a:ext>
            </a:extLst>
          </p:cNvPr>
          <p:cNvSpPr/>
          <p:nvPr/>
        </p:nvSpPr>
        <p:spPr>
          <a:xfrm>
            <a:off x="4462272" y="1325880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8746FA2-B080-360E-1CBF-EBF84F21B8D8}"/>
              </a:ext>
            </a:extLst>
          </p:cNvPr>
          <p:cNvSpPr/>
          <p:nvPr/>
        </p:nvSpPr>
        <p:spPr>
          <a:xfrm>
            <a:off x="4462272" y="1325880"/>
            <a:ext cx="64008" cy="1078992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1824BC-CFD2-4579-9B9B-39E82F0E4097}"/>
              </a:ext>
            </a:extLst>
          </p:cNvPr>
          <p:cNvSpPr txBox="1"/>
          <p:nvPr/>
        </p:nvSpPr>
        <p:spPr>
          <a:xfrm>
            <a:off x="4626864" y="1435608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위험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9EF4F6-29AB-637C-6909-269C0D637D11}"/>
              </a:ext>
            </a:extLst>
          </p:cNvPr>
          <p:cNvSpPr txBox="1"/>
          <p:nvPr/>
        </p:nvSpPr>
        <p:spPr>
          <a:xfrm>
            <a:off x="4626864" y="1691640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중복 처리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상태 덮어쓰기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처리 이력 불일치가 발생할 수 있는 구조였습니다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6665300-7837-792E-68A2-B543EE9CF181}"/>
              </a:ext>
            </a:extLst>
          </p:cNvPr>
          <p:cNvSpPr/>
          <p:nvPr/>
        </p:nvSpPr>
        <p:spPr>
          <a:xfrm>
            <a:off x="8238744" y="1325880"/>
            <a:ext cx="3246119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6313519-84A0-E76D-BF2A-AA022EBCE063}"/>
              </a:ext>
            </a:extLst>
          </p:cNvPr>
          <p:cNvSpPr/>
          <p:nvPr/>
        </p:nvSpPr>
        <p:spPr>
          <a:xfrm>
            <a:off x="8238744" y="1325880"/>
            <a:ext cx="64007" cy="107899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71159D-C8BE-4D42-821E-70E38E812503}"/>
              </a:ext>
            </a:extLst>
          </p:cNvPr>
          <p:cNvSpPr txBox="1"/>
          <p:nvPr/>
        </p:nvSpPr>
        <p:spPr>
          <a:xfrm>
            <a:off x="8403336" y="1435608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판단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8112DC-3802-3842-471B-15FB73EA4D0A}"/>
              </a:ext>
            </a:extLst>
          </p:cNvPr>
          <p:cNvSpPr txBox="1"/>
          <p:nvPr/>
        </p:nvSpPr>
        <p:spPr>
          <a:xfrm>
            <a:off x="8403336" y="1691640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실제 처리 전에 먼저 선점 상태를 확정해 같은 데이터의 재진입을 막았습니다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B2C3C67-DE52-DE0C-1C67-C9719EFE6DFA}"/>
              </a:ext>
            </a:extLst>
          </p:cNvPr>
          <p:cNvSpPr/>
          <p:nvPr/>
        </p:nvSpPr>
        <p:spPr>
          <a:xfrm>
            <a:off x="868680" y="2816352"/>
            <a:ext cx="233172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567335F-58CF-12C1-2C4E-C034E110093A}"/>
              </a:ext>
            </a:extLst>
          </p:cNvPr>
          <p:cNvSpPr/>
          <p:nvPr/>
        </p:nvSpPr>
        <p:spPr>
          <a:xfrm>
            <a:off x="868680" y="2816352"/>
            <a:ext cx="64008" cy="84124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480AE5F-1B79-F829-6D09-1FC862B371C5}"/>
              </a:ext>
            </a:extLst>
          </p:cNvPr>
          <p:cNvSpPr txBox="1"/>
          <p:nvPr/>
        </p:nvSpPr>
        <p:spPr>
          <a:xfrm>
            <a:off x="1033272" y="2916936"/>
            <a:ext cx="20391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자동 경로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91640A-EA2F-808A-9606-1D2BFF589604}"/>
              </a:ext>
            </a:extLst>
          </p:cNvPr>
          <p:cNvSpPr txBox="1"/>
          <p:nvPr/>
        </p:nvSpPr>
        <p:spPr>
          <a:xfrm>
            <a:off x="1033272" y="3163824"/>
            <a:ext cx="20391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조건에 맞는 미처리 작업을 주기적으로 탐색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3E28C00-1541-20E1-F7B0-5021861DC9FD}"/>
              </a:ext>
            </a:extLst>
          </p:cNvPr>
          <p:cNvSpPr/>
          <p:nvPr/>
        </p:nvSpPr>
        <p:spPr>
          <a:xfrm>
            <a:off x="3584448" y="2816352"/>
            <a:ext cx="233172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9794312-FED7-DE60-4DF9-D9E0B73C397C}"/>
              </a:ext>
            </a:extLst>
          </p:cNvPr>
          <p:cNvSpPr/>
          <p:nvPr/>
        </p:nvSpPr>
        <p:spPr>
          <a:xfrm>
            <a:off x="3584448" y="2816352"/>
            <a:ext cx="64008" cy="84124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A28305-59C9-C73B-2580-8168E6916251}"/>
              </a:ext>
            </a:extLst>
          </p:cNvPr>
          <p:cNvSpPr txBox="1"/>
          <p:nvPr/>
        </p:nvSpPr>
        <p:spPr>
          <a:xfrm>
            <a:off x="3749040" y="2916936"/>
            <a:ext cx="20391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수동 경로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9A5DD7D-86F7-55BA-D393-B67FD82BDADD}"/>
              </a:ext>
            </a:extLst>
          </p:cNvPr>
          <p:cNvSpPr txBox="1"/>
          <p:nvPr/>
        </p:nvSpPr>
        <p:spPr>
          <a:xfrm>
            <a:off x="3749040" y="3163824"/>
            <a:ext cx="20391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담당자가 화면에서 선택한 작업만 실행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92773F0-B4AA-7D65-92F4-C682C7C44F40}"/>
              </a:ext>
            </a:extLst>
          </p:cNvPr>
          <p:cNvSpPr/>
          <p:nvPr/>
        </p:nvSpPr>
        <p:spPr>
          <a:xfrm>
            <a:off x="6300216" y="2816352"/>
            <a:ext cx="233172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C1A289E-E744-BD5A-7867-0BD776DF74F2}"/>
              </a:ext>
            </a:extLst>
          </p:cNvPr>
          <p:cNvSpPr/>
          <p:nvPr/>
        </p:nvSpPr>
        <p:spPr>
          <a:xfrm>
            <a:off x="6300216" y="2816352"/>
            <a:ext cx="64008" cy="84124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7A3A27A-88DD-3173-7D03-346B0D6C4DF6}"/>
              </a:ext>
            </a:extLst>
          </p:cNvPr>
          <p:cNvSpPr txBox="1"/>
          <p:nvPr/>
        </p:nvSpPr>
        <p:spPr>
          <a:xfrm>
            <a:off x="6464808" y="2916936"/>
            <a:ext cx="20391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공통 정책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D6E7288-22FA-05B7-6082-65BD27004B76}"/>
              </a:ext>
            </a:extLst>
          </p:cNvPr>
          <p:cNvSpPr txBox="1"/>
          <p:nvPr/>
        </p:nvSpPr>
        <p:spPr>
          <a:xfrm>
            <a:off x="6464808" y="3163824"/>
            <a:ext cx="20391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대상 선정 방식은 달라도 선점 규칙은 동일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9DA5743-4569-7DDC-49C8-B40AEE8D1C64}"/>
              </a:ext>
            </a:extLst>
          </p:cNvPr>
          <p:cNvSpPr/>
          <p:nvPr/>
        </p:nvSpPr>
        <p:spPr>
          <a:xfrm>
            <a:off x="9015984" y="2816352"/>
            <a:ext cx="233172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07ED10A9-B80A-86E9-EAA8-94A30FB11B42}"/>
              </a:ext>
            </a:extLst>
          </p:cNvPr>
          <p:cNvSpPr/>
          <p:nvPr/>
        </p:nvSpPr>
        <p:spPr>
          <a:xfrm>
            <a:off x="9015984" y="2816352"/>
            <a:ext cx="64008" cy="84124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3D49285-B045-FAAD-0ED3-8B1D671F7EC8}"/>
              </a:ext>
            </a:extLst>
          </p:cNvPr>
          <p:cNvSpPr txBox="1"/>
          <p:nvPr/>
        </p:nvSpPr>
        <p:spPr>
          <a:xfrm>
            <a:off x="9180576" y="2916936"/>
            <a:ext cx="20391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결과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2A8F084-DD86-1D48-29B1-55CFC5086117}"/>
              </a:ext>
            </a:extLst>
          </p:cNvPr>
          <p:cNvSpPr txBox="1"/>
          <p:nvPr/>
        </p:nvSpPr>
        <p:spPr>
          <a:xfrm>
            <a:off x="9180576" y="3163824"/>
            <a:ext cx="20391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중복 실행을 줄이고 실패 후 재시도 가능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CEC265C7-56EF-566C-BFFD-CA7427655850}"/>
              </a:ext>
            </a:extLst>
          </p:cNvPr>
          <p:cNvSpPr/>
          <p:nvPr/>
        </p:nvSpPr>
        <p:spPr>
          <a:xfrm>
            <a:off x="960120" y="4608576"/>
            <a:ext cx="1028700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93FD89A-E757-973F-CF97-C536E6EF7D39}"/>
              </a:ext>
            </a:extLst>
          </p:cNvPr>
          <p:cNvSpPr/>
          <p:nvPr/>
        </p:nvSpPr>
        <p:spPr>
          <a:xfrm>
            <a:off x="960120" y="4608576"/>
            <a:ext cx="64008" cy="932688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4E7388F-9B2C-C394-826A-711D24C405D0}"/>
              </a:ext>
            </a:extLst>
          </p:cNvPr>
          <p:cNvSpPr txBox="1"/>
          <p:nvPr/>
        </p:nvSpPr>
        <p:spPr>
          <a:xfrm>
            <a:off x="1124712" y="4709160"/>
            <a:ext cx="99943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6FA18CD-7AE1-E568-E3E4-CFA7B5887C86}"/>
              </a:ext>
            </a:extLst>
          </p:cNvPr>
          <p:cNvSpPr txBox="1"/>
          <p:nvPr/>
        </p:nvSpPr>
        <p:spPr>
          <a:xfrm>
            <a:off x="1124712" y="4956048"/>
            <a:ext cx="999439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서로 다른 실행 경로가 같은 자원을 공유할 때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실행 진입점보다 데이터 선점 정책을 먼저 통일해야 한다는 실무 판단을 경험했습니다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1DE6749-CE91-08AE-BC4B-04C669A86006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EC8DCC9-7311-B91C-1A12-657569F75850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10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932677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EAABD8A-A58E-A69E-A595-3869D778C0ED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E7E7944-C891-878A-7934-A6C737A4CDCC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9865222-DF53-C0C7-A58A-0B5EA57FD7A2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14D4A0-12A9-2E41-2CA4-9EB899C289A2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CLAIM FIRST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A284D3-050A-35E5-C945-874A792A656E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선점 기반 트랜잭션 설계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2ABDF7AF-475D-0AA5-D7A4-AADC3347282B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33566BA6-85FE-5802-63E6-F2747F09A745}"/>
              </a:ext>
            </a:extLst>
          </p:cNvPr>
          <p:cNvSpPr/>
          <p:nvPr/>
        </p:nvSpPr>
        <p:spPr>
          <a:xfrm>
            <a:off x="685800" y="1298448"/>
            <a:ext cx="246888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CCC6E6C-9C83-61A5-98D6-64E023A78AE4}"/>
              </a:ext>
            </a:extLst>
          </p:cNvPr>
          <p:cNvSpPr/>
          <p:nvPr/>
        </p:nvSpPr>
        <p:spPr>
          <a:xfrm>
            <a:off x="685800" y="1298448"/>
            <a:ext cx="64008" cy="84124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2BA742-11E8-0991-A7CC-51D2FF656F37}"/>
              </a:ext>
            </a:extLst>
          </p:cNvPr>
          <p:cNvSpPr txBox="1"/>
          <p:nvPr/>
        </p:nvSpPr>
        <p:spPr>
          <a:xfrm>
            <a:off x="850392" y="1399032"/>
            <a:ext cx="217627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1. </a:t>
            </a:r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처리 가능 대상 조회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72BA19-32C6-4183-1515-B39706D30915}"/>
              </a:ext>
            </a:extLst>
          </p:cNvPr>
          <p:cNvSpPr txBox="1"/>
          <p:nvPr/>
        </p:nvSpPr>
        <p:spPr>
          <a:xfrm>
            <a:off x="850392" y="1645920"/>
            <a:ext cx="217627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상태뿐 아니라 업무 조건과 선후행 관계까지 반영해 선별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7BAF9D4-EF39-2FDD-D729-2B8926D0EA5E}"/>
              </a:ext>
            </a:extLst>
          </p:cNvPr>
          <p:cNvSpPr/>
          <p:nvPr/>
        </p:nvSpPr>
        <p:spPr>
          <a:xfrm>
            <a:off x="3456432" y="1298448"/>
            <a:ext cx="246888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13CA490-DEE2-CC59-F9B5-F7C389733851}"/>
              </a:ext>
            </a:extLst>
          </p:cNvPr>
          <p:cNvSpPr/>
          <p:nvPr/>
        </p:nvSpPr>
        <p:spPr>
          <a:xfrm>
            <a:off x="3456432" y="1298448"/>
            <a:ext cx="64008" cy="84124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A4913A-C2E7-5810-98F3-7AD8C9514012}"/>
              </a:ext>
            </a:extLst>
          </p:cNvPr>
          <p:cNvSpPr txBox="1"/>
          <p:nvPr/>
        </p:nvSpPr>
        <p:spPr>
          <a:xfrm>
            <a:off x="3621024" y="1399032"/>
            <a:ext cx="217627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2. </a:t>
            </a:r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선점 상태 기록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DEC400-8A1E-19EE-62F6-F0B4F1CF15B1}"/>
              </a:ext>
            </a:extLst>
          </p:cNvPr>
          <p:cNvSpPr txBox="1"/>
          <p:nvPr/>
        </p:nvSpPr>
        <p:spPr>
          <a:xfrm>
            <a:off x="3621024" y="1645920"/>
            <a:ext cx="217627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미처리 대상을 즉시 처리 중 상태로 변경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2DC765F-11EF-CDDC-F6A4-EBE6960A7DF2}"/>
              </a:ext>
            </a:extLst>
          </p:cNvPr>
          <p:cNvSpPr/>
          <p:nvPr/>
        </p:nvSpPr>
        <p:spPr>
          <a:xfrm>
            <a:off x="6227064" y="1298448"/>
            <a:ext cx="246888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FB7828F-3A98-E131-B818-6515656C9A62}"/>
              </a:ext>
            </a:extLst>
          </p:cNvPr>
          <p:cNvSpPr/>
          <p:nvPr/>
        </p:nvSpPr>
        <p:spPr>
          <a:xfrm>
            <a:off x="6227064" y="1298448"/>
            <a:ext cx="64008" cy="84124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9D4220-1D13-A6E4-CAA8-F14A220B592A}"/>
              </a:ext>
            </a:extLst>
          </p:cNvPr>
          <p:cNvSpPr txBox="1"/>
          <p:nvPr/>
        </p:nvSpPr>
        <p:spPr>
          <a:xfrm>
            <a:off x="6391656" y="1399032"/>
            <a:ext cx="217627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3. </a:t>
            </a:r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동일 집합 전달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DCBBA0E-4586-F717-6503-4DA86CE5267E}"/>
              </a:ext>
            </a:extLst>
          </p:cNvPr>
          <p:cNvSpPr txBox="1"/>
          <p:nvPr/>
        </p:nvSpPr>
        <p:spPr>
          <a:xfrm>
            <a:off x="6391656" y="1645920"/>
            <a:ext cx="217627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선점한 집합을 후속 처리 대상으로 고정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D2F8C10-D2B2-9ED5-1882-A84BA64067DE}"/>
              </a:ext>
            </a:extLst>
          </p:cNvPr>
          <p:cNvSpPr/>
          <p:nvPr/>
        </p:nvSpPr>
        <p:spPr>
          <a:xfrm>
            <a:off x="8997696" y="1298448"/>
            <a:ext cx="246888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2CDC21C-72B8-9969-D756-528C3FEA96E2}"/>
              </a:ext>
            </a:extLst>
          </p:cNvPr>
          <p:cNvSpPr/>
          <p:nvPr/>
        </p:nvSpPr>
        <p:spPr>
          <a:xfrm>
            <a:off x="8997696" y="1298448"/>
            <a:ext cx="64007" cy="841248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3224A0-272E-39BA-1808-64D13F8D4232}"/>
              </a:ext>
            </a:extLst>
          </p:cNvPr>
          <p:cNvSpPr txBox="1"/>
          <p:nvPr/>
        </p:nvSpPr>
        <p:spPr>
          <a:xfrm>
            <a:off x="9162288" y="1399032"/>
            <a:ext cx="217627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4. </a:t>
            </a:r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성공</a:t>
            </a:r>
            <a:r>
              <a:rPr lang="en-US" altLang="ko-KR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실패 정리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58E1B2-49BA-870A-A48A-26B2A67743AC}"/>
              </a:ext>
            </a:extLst>
          </p:cNvPr>
          <p:cNvSpPr txBox="1"/>
          <p:nvPr/>
        </p:nvSpPr>
        <p:spPr>
          <a:xfrm>
            <a:off x="9162288" y="1645920"/>
            <a:ext cx="217627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성공 시 완료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실패 시 미처리로 복구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E03D16D-7626-F37E-0B13-382232822057}"/>
              </a:ext>
            </a:extLst>
          </p:cNvPr>
          <p:cNvSpPr/>
          <p:nvPr/>
        </p:nvSpPr>
        <p:spPr>
          <a:xfrm>
            <a:off x="841248" y="2880360"/>
            <a:ext cx="4892040" cy="1143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CC35E21-7893-B652-6CA9-8BC184484A1F}"/>
              </a:ext>
            </a:extLst>
          </p:cNvPr>
          <p:cNvSpPr/>
          <p:nvPr/>
        </p:nvSpPr>
        <p:spPr>
          <a:xfrm>
            <a:off x="841248" y="2880360"/>
            <a:ext cx="64008" cy="1143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CCFC82-76D4-3843-C1B1-85201CD35E2C}"/>
              </a:ext>
            </a:extLst>
          </p:cNvPr>
          <p:cNvSpPr txBox="1"/>
          <p:nvPr/>
        </p:nvSpPr>
        <p:spPr>
          <a:xfrm>
            <a:off x="1005840" y="2990088"/>
            <a:ext cx="45994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트랜잭션의 초점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7AD7DEB-A6EA-91C7-9F1C-2DE9DC280236}"/>
              </a:ext>
            </a:extLst>
          </p:cNvPr>
          <p:cNvSpPr txBox="1"/>
          <p:nvPr/>
        </p:nvSpPr>
        <p:spPr>
          <a:xfrm>
            <a:off x="1005840" y="3246120"/>
            <a:ext cx="459943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후속 비즈니스 전체를 하나로 묶기보다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조회와 선점 상태 변경을 짧고 강하게 보장하는 구조에 집중했습니다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23485D9-6DE1-D6E3-4A5A-4EC085F2C262}"/>
              </a:ext>
            </a:extLst>
          </p:cNvPr>
          <p:cNvSpPr/>
          <p:nvPr/>
        </p:nvSpPr>
        <p:spPr>
          <a:xfrm>
            <a:off x="6309360" y="2880360"/>
            <a:ext cx="4892040" cy="1143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58F5278C-7809-0404-2274-4F5F8236B786}"/>
              </a:ext>
            </a:extLst>
          </p:cNvPr>
          <p:cNvSpPr/>
          <p:nvPr/>
        </p:nvSpPr>
        <p:spPr>
          <a:xfrm>
            <a:off x="6309360" y="2880360"/>
            <a:ext cx="64008" cy="11430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41C5E29-7136-43DC-C122-2D391F482C79}"/>
              </a:ext>
            </a:extLst>
          </p:cNvPr>
          <p:cNvSpPr txBox="1"/>
          <p:nvPr/>
        </p:nvSpPr>
        <p:spPr>
          <a:xfrm>
            <a:off x="6473952" y="2990088"/>
            <a:ext cx="45994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오류 해석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4673273-E909-A811-7E69-55BDEB7F45E1}"/>
              </a:ext>
            </a:extLst>
          </p:cNvPr>
          <p:cNvSpPr txBox="1"/>
          <p:nvPr/>
        </p:nvSpPr>
        <p:spPr>
          <a:xfrm>
            <a:off x="6473952" y="3246120"/>
            <a:ext cx="459943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잠금 대기 시간 초과와 일반 오류를 구분해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실패 원인을 운영자가 해석할 수 있게 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22B0B32-4CD2-9AEB-FAB4-1AB77E399497}"/>
              </a:ext>
            </a:extLst>
          </p:cNvPr>
          <p:cNvSpPr/>
          <p:nvPr/>
        </p:nvSpPr>
        <p:spPr>
          <a:xfrm>
            <a:off x="1005840" y="4663440"/>
            <a:ext cx="9966960" cy="87782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E83727FF-A16B-FA7D-1F13-A121580BFEA9}"/>
              </a:ext>
            </a:extLst>
          </p:cNvPr>
          <p:cNvSpPr/>
          <p:nvPr/>
        </p:nvSpPr>
        <p:spPr>
          <a:xfrm>
            <a:off x="1005840" y="4663440"/>
            <a:ext cx="64008" cy="877824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F6CBC96-DA09-7D67-AEA8-C01D71D5790B}"/>
              </a:ext>
            </a:extLst>
          </p:cNvPr>
          <p:cNvSpPr txBox="1"/>
          <p:nvPr/>
        </p:nvSpPr>
        <p:spPr>
          <a:xfrm>
            <a:off x="1170432" y="4764024"/>
            <a:ext cx="967435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가장 중요한 규칙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D51336-60B7-8A83-74BE-5D9485DABBB3}"/>
              </a:ext>
            </a:extLst>
          </p:cNvPr>
          <p:cNvSpPr txBox="1"/>
          <p:nvPr/>
        </p:nvSpPr>
        <p:spPr>
          <a:xfrm>
            <a:off x="1170432" y="5010912"/>
            <a:ext cx="967435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선점된 작업은 완료 또는 미처리 상태로 종료되어야 하며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잔존 선점 상태는 운영 리스크로 관리해야 합니다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DD37BB-AFB8-C0D4-EC6A-B1E7406B4D87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CC7B4E6-1A25-2D2B-C5ED-2E71EC994374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11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93689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43E3146-D06B-DC8B-4DFA-753EF3177FF4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4E7A021-8A34-0EE5-FCD3-6AA6EE0F0EE6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9051401E-F5CA-E7EC-B2C3-5EBEFC048187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F55F7A-E0C5-665D-A9E8-BB62B767FBC7}"/>
              </a:ext>
            </a:extLst>
          </p:cNvPr>
          <p:cNvSpPr txBox="1"/>
          <p:nvPr/>
        </p:nvSpPr>
        <p:spPr>
          <a:xfrm>
            <a:off x="630936" y="338328"/>
            <a:ext cx="960120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APPLIED DESIGN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2F1538-B92A-2852-92DF-69CCD8BE40EA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프로젝트에 반영된 정합성 사고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7D4B7C0-5D5F-49D2-D9E1-FDD6AB8059F5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FF8E0512-EF46-6FD5-5C7A-2022581E963A}"/>
              </a:ext>
            </a:extLst>
          </p:cNvPr>
          <p:cNvSpPr/>
          <p:nvPr/>
        </p:nvSpPr>
        <p:spPr>
          <a:xfrm>
            <a:off x="713232" y="1225296"/>
            <a:ext cx="3200400" cy="10424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37A89D6-B778-6CDA-96BC-CDBB055932A8}"/>
              </a:ext>
            </a:extLst>
          </p:cNvPr>
          <p:cNvSpPr/>
          <p:nvPr/>
        </p:nvSpPr>
        <p:spPr>
          <a:xfrm>
            <a:off x="713232" y="1225296"/>
            <a:ext cx="64008" cy="104241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9D8F63-EFAC-97C6-3973-6489A081F5E9}"/>
              </a:ext>
            </a:extLst>
          </p:cNvPr>
          <p:cNvSpPr txBox="1"/>
          <p:nvPr/>
        </p:nvSpPr>
        <p:spPr>
          <a:xfrm>
            <a:off x="877824" y="1335024"/>
            <a:ext cx="29077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실무 원칙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56F4D7-E4AF-2B65-32BD-FE96BCAEE93D}"/>
              </a:ext>
            </a:extLst>
          </p:cNvPr>
          <p:cNvSpPr txBox="1"/>
          <p:nvPr/>
        </p:nvSpPr>
        <p:spPr>
          <a:xfrm>
            <a:off x="877824" y="1591056"/>
            <a:ext cx="290779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먼저 선점하고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기대 상태 조건으로 갱신해 동시 실행을 감지합니다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F6C0459-C500-8311-0FEE-F63A1CC97F1C}"/>
              </a:ext>
            </a:extLst>
          </p:cNvPr>
          <p:cNvSpPr/>
          <p:nvPr/>
        </p:nvSpPr>
        <p:spPr>
          <a:xfrm>
            <a:off x="4462272" y="1225296"/>
            <a:ext cx="3200400" cy="10424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AE8296-8DFA-12A8-7ECD-E0FAE286D0C2}"/>
              </a:ext>
            </a:extLst>
          </p:cNvPr>
          <p:cNvSpPr/>
          <p:nvPr/>
        </p:nvSpPr>
        <p:spPr>
          <a:xfrm>
            <a:off x="4462272" y="1225296"/>
            <a:ext cx="64008" cy="104241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508D21-82BE-0C76-E883-475C0EA7F209}"/>
              </a:ext>
            </a:extLst>
          </p:cNvPr>
          <p:cNvSpPr txBox="1"/>
          <p:nvPr/>
        </p:nvSpPr>
        <p:spPr>
          <a:xfrm>
            <a:off x="4626864" y="1335024"/>
            <a:ext cx="29077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 확정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ED4EAA-ED43-1791-44DD-25F241C1628B}"/>
              </a:ext>
            </a:extLst>
          </p:cNvPr>
          <p:cNvSpPr txBox="1"/>
          <p:nvPr/>
        </p:nvSpPr>
        <p:spPr>
          <a:xfrm>
            <a:off x="4626864" y="1591056"/>
            <a:ext cx="290779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트랜잭션 안에서 최신 수집 거래를 재조회하고 전표번호 할당 후 선점합니다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8FAD3EC-4414-20A7-899B-73C0168FC4BE}"/>
              </a:ext>
            </a:extLst>
          </p:cNvPr>
          <p:cNvSpPr/>
          <p:nvPr/>
        </p:nvSpPr>
        <p:spPr>
          <a:xfrm>
            <a:off x="8211312" y="1225296"/>
            <a:ext cx="3200400" cy="10424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B0D820E-A3E3-E311-87D9-4DEFE9B22F33}"/>
              </a:ext>
            </a:extLst>
          </p:cNvPr>
          <p:cNvSpPr/>
          <p:nvPr/>
        </p:nvSpPr>
        <p:spPr>
          <a:xfrm>
            <a:off x="8211312" y="1225296"/>
            <a:ext cx="64008" cy="104241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3C8C29-2889-E54D-C263-2AAF29DE447D}"/>
              </a:ext>
            </a:extLst>
          </p:cNvPr>
          <p:cNvSpPr txBox="1"/>
          <p:nvPr/>
        </p:nvSpPr>
        <p:spPr>
          <a:xfrm>
            <a:off x="8375904" y="1335024"/>
            <a:ext cx="29077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 일괄 등록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940A04-8DC7-7868-524F-6D8C21DBDB6B}"/>
              </a:ext>
            </a:extLst>
          </p:cNvPr>
          <p:cNvSpPr txBox="1"/>
          <p:nvPr/>
        </p:nvSpPr>
        <p:spPr>
          <a:xfrm>
            <a:off x="8375904" y="1591056"/>
            <a:ext cx="290779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작업공간 단위 잠금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진행 중 갱신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만료 잠금 정리로 등록 충돌을 막습니다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BA8F2BD-8B1C-8E4A-F2F3-35FC13B9ACB8}"/>
              </a:ext>
            </a:extLst>
          </p:cNvPr>
          <p:cNvSpPr/>
          <p:nvPr/>
        </p:nvSpPr>
        <p:spPr>
          <a:xfrm>
            <a:off x="713232" y="2670048"/>
            <a:ext cx="3200400" cy="10424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B82F62A-20C9-77F8-5DB5-226C7DC7B57E}"/>
              </a:ext>
            </a:extLst>
          </p:cNvPr>
          <p:cNvSpPr/>
          <p:nvPr/>
        </p:nvSpPr>
        <p:spPr>
          <a:xfrm>
            <a:off x="713232" y="2670048"/>
            <a:ext cx="64008" cy="104241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490C7C0-9DC6-A0F4-7EC9-67624959D78C}"/>
              </a:ext>
            </a:extLst>
          </p:cNvPr>
          <p:cNvSpPr txBox="1"/>
          <p:nvPr/>
        </p:nvSpPr>
        <p:spPr>
          <a:xfrm>
            <a:off x="877824" y="2779776"/>
            <a:ext cx="29077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역분개</a:t>
            </a:r>
            <a:r>
              <a:rPr lang="en-US" altLang="ko-KR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정정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59DD58-A00F-DB04-A640-BEF4B730A384}"/>
              </a:ext>
            </a:extLst>
          </p:cNvPr>
          <p:cNvSpPr txBox="1"/>
          <p:nvPr/>
        </p:nvSpPr>
        <p:spPr>
          <a:xfrm>
            <a:off x="877824" y="3035808"/>
            <a:ext cx="290779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원전표와 원수집거래를 기대 상태 조건으로 갱신해 조정 충돌을 감지합니다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2169A3C-74D6-FD9F-F9FF-800C657AE805}"/>
              </a:ext>
            </a:extLst>
          </p:cNvPr>
          <p:cNvSpPr/>
          <p:nvPr/>
        </p:nvSpPr>
        <p:spPr>
          <a:xfrm>
            <a:off x="4462272" y="2670048"/>
            <a:ext cx="3200400" cy="10424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32D65008-8C47-C97D-EBEB-2900A30D5DB3}"/>
              </a:ext>
            </a:extLst>
          </p:cNvPr>
          <p:cNvSpPr/>
          <p:nvPr/>
        </p:nvSpPr>
        <p:spPr>
          <a:xfrm>
            <a:off x="4462272" y="2670048"/>
            <a:ext cx="64008" cy="104241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6862D8-0BC4-E0A9-1909-03DABB7F5832}"/>
              </a:ext>
            </a:extLst>
          </p:cNvPr>
          <p:cNvSpPr txBox="1"/>
          <p:nvPr/>
        </p:nvSpPr>
        <p:spPr>
          <a:xfrm>
            <a:off x="4626864" y="2779776"/>
            <a:ext cx="29077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중복 제약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597B02-E2A3-EB17-D505-7B0CC7FE8623}"/>
              </a:ext>
            </a:extLst>
          </p:cNvPr>
          <p:cNvSpPr txBox="1"/>
          <p:nvPr/>
        </p:nvSpPr>
        <p:spPr>
          <a:xfrm>
            <a:off x="4626864" y="3035808"/>
            <a:ext cx="290779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전표번호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 행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 매칭은 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DB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중복 제약과 충돌 응답으로 방어합니다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EA9F640-5E86-92FF-9498-E241BF50CA6F}"/>
              </a:ext>
            </a:extLst>
          </p:cNvPr>
          <p:cNvSpPr/>
          <p:nvPr/>
        </p:nvSpPr>
        <p:spPr>
          <a:xfrm>
            <a:off x="8211312" y="2670048"/>
            <a:ext cx="3200400" cy="10424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30EFEB1-6E79-E4DB-C087-BE53632B2462}"/>
              </a:ext>
            </a:extLst>
          </p:cNvPr>
          <p:cNvSpPr/>
          <p:nvPr/>
        </p:nvSpPr>
        <p:spPr>
          <a:xfrm>
            <a:off x="8211312" y="2670048"/>
            <a:ext cx="64008" cy="104241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A9EEB8A-5094-5854-5B38-12C3ADC3329B}"/>
              </a:ext>
            </a:extLst>
          </p:cNvPr>
          <p:cNvSpPr txBox="1"/>
          <p:nvPr/>
        </p:nvSpPr>
        <p:spPr>
          <a:xfrm>
            <a:off x="8375904" y="2779776"/>
            <a:ext cx="29077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실패 격리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2FD170F-1773-106E-A6DE-F74D1A732886}"/>
              </a:ext>
            </a:extLst>
          </p:cNvPr>
          <p:cNvSpPr txBox="1"/>
          <p:nvPr/>
        </p:nvSpPr>
        <p:spPr>
          <a:xfrm>
            <a:off x="8375904" y="3035808"/>
            <a:ext cx="290779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이벤트 실패가 핵심 회계 트랜잭션을 깨지 않도록 분리했습니다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34A0424-C543-4C34-C46D-B6D7A578CBC4}"/>
              </a:ext>
            </a:extLst>
          </p:cNvPr>
          <p:cNvSpPr/>
          <p:nvPr/>
        </p:nvSpPr>
        <p:spPr>
          <a:xfrm>
            <a:off x="960120" y="4572000"/>
            <a:ext cx="1028700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5418891-DBE2-F391-91C0-9BF002AF7AC0}"/>
              </a:ext>
            </a:extLst>
          </p:cNvPr>
          <p:cNvSpPr/>
          <p:nvPr/>
        </p:nvSpPr>
        <p:spPr>
          <a:xfrm>
            <a:off x="960120" y="4572000"/>
            <a:ext cx="64008" cy="960120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FFA370C-A8CB-AAA6-3AF0-42006A60E7EC}"/>
              </a:ext>
            </a:extLst>
          </p:cNvPr>
          <p:cNvSpPr txBox="1"/>
          <p:nvPr/>
        </p:nvSpPr>
        <p:spPr>
          <a:xfrm>
            <a:off x="1124712" y="4672584"/>
            <a:ext cx="99943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발표 포인트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BCB71D7-75BA-7179-DBEC-9C17EED6D139}"/>
              </a:ext>
            </a:extLst>
          </p:cNvPr>
          <p:cNvSpPr txBox="1"/>
          <p:nvPr/>
        </p:nvSpPr>
        <p:spPr>
          <a:xfrm>
            <a:off x="1124712" y="4919472"/>
            <a:ext cx="999439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기능 구현을 넘어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실무에서 겪은 동시 처리 리스크를 회계 도메인의 핵심 쓰기 경로에 적용한 사례로 설명할 수 있습니다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CEDECED-A9CC-BEE9-1CC0-CC40F6C83A32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A76219-02B6-49CC-996E-72522B9C1D21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12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27124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C704282-A245-4513-80C0-28209FA7904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FF16BC0-9E47-F648-6D4F-F4771F1176B0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B631315-3ADD-51EF-518E-92B1343189CE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3E6AB9-ADD6-41A5-92CC-2218D666E573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ARCHITECTURE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4A0F68-2B9A-2F27-2D2B-44FC080F17F6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시스템 아키텍처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3639434-DFA8-443D-6E88-903C056A5D2B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94D074E4-CF3B-DBB3-C291-5192D7FF68A5}"/>
              </a:ext>
            </a:extLst>
          </p:cNvPr>
          <p:cNvSpPr/>
          <p:nvPr/>
        </p:nvSpPr>
        <p:spPr>
          <a:xfrm>
            <a:off x="822960" y="1444752"/>
            <a:ext cx="205740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3274FD-07AA-6D04-236B-64D0105F55B4}"/>
              </a:ext>
            </a:extLst>
          </p:cNvPr>
          <p:cNvSpPr/>
          <p:nvPr/>
        </p:nvSpPr>
        <p:spPr>
          <a:xfrm>
            <a:off x="822960" y="1444752"/>
            <a:ext cx="64008" cy="96012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C0F242-0FA9-CD8B-57C7-D3534C934F1C}"/>
              </a:ext>
            </a:extLst>
          </p:cNvPr>
          <p:cNvSpPr txBox="1"/>
          <p:nvPr/>
        </p:nvSpPr>
        <p:spPr>
          <a:xfrm>
            <a:off x="987552" y="1545336"/>
            <a:ext cx="17647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Web</a:t>
            </a:r>
            <a:endParaRPr lang="ko-KR" altLang="en-US" sz="108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450DDC-1129-3F21-87F8-BD8AD6D43566}"/>
              </a:ext>
            </a:extLst>
          </p:cNvPr>
          <p:cNvSpPr txBox="1"/>
          <p:nvPr/>
        </p:nvSpPr>
        <p:spPr>
          <a:xfrm>
            <a:off x="987552" y="1792224"/>
            <a:ext cx="176479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Next.js
React
MUI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B72A1237-A32D-62AD-5421-19410691E149}"/>
              </a:ext>
            </a:extLst>
          </p:cNvPr>
          <p:cNvCxnSpPr/>
          <p:nvPr/>
        </p:nvCxnSpPr>
        <p:spPr>
          <a:xfrm>
            <a:off x="2971800" y="1920240"/>
            <a:ext cx="246888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EA0F613-2726-561A-5C6E-422A69E09FEB}"/>
              </a:ext>
            </a:extLst>
          </p:cNvPr>
          <p:cNvSpPr/>
          <p:nvPr/>
        </p:nvSpPr>
        <p:spPr>
          <a:xfrm>
            <a:off x="3456432" y="1444752"/>
            <a:ext cx="205740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D326B6B-969C-B1E7-C974-CC15B951B26E}"/>
              </a:ext>
            </a:extLst>
          </p:cNvPr>
          <p:cNvSpPr/>
          <p:nvPr/>
        </p:nvSpPr>
        <p:spPr>
          <a:xfrm>
            <a:off x="3456432" y="1444752"/>
            <a:ext cx="64008" cy="960120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2C7D27-5F19-5ABF-CBD5-1218DDDFFD43}"/>
              </a:ext>
            </a:extLst>
          </p:cNvPr>
          <p:cNvSpPr txBox="1"/>
          <p:nvPr/>
        </p:nvSpPr>
        <p:spPr>
          <a:xfrm>
            <a:off x="3621024" y="1545336"/>
            <a:ext cx="17647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API</a:t>
            </a:r>
            <a:endParaRPr lang="ko-KR" altLang="en-US" sz="108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80584F-FB05-0058-31E2-5F3794EE5D06}"/>
              </a:ext>
            </a:extLst>
          </p:cNvPr>
          <p:cNvSpPr txBox="1"/>
          <p:nvPr/>
        </p:nvSpPr>
        <p:spPr>
          <a:xfrm>
            <a:off x="3621024" y="1792224"/>
            <a:ext cx="176479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NestJS
Validation
Swagger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01F3093E-9945-558E-EB3E-8A7D09D26C13}"/>
              </a:ext>
            </a:extLst>
          </p:cNvPr>
          <p:cNvCxnSpPr/>
          <p:nvPr/>
        </p:nvCxnSpPr>
        <p:spPr>
          <a:xfrm>
            <a:off x="5605272" y="1920240"/>
            <a:ext cx="246888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EA9A440B-A1C2-BEB1-0DF0-4B514C6C0876}"/>
              </a:ext>
            </a:extLst>
          </p:cNvPr>
          <p:cNvSpPr/>
          <p:nvPr/>
        </p:nvSpPr>
        <p:spPr>
          <a:xfrm>
            <a:off x="6089904" y="1444752"/>
            <a:ext cx="205740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B6D0398-4D15-0BB1-937B-12C94370227F}"/>
              </a:ext>
            </a:extLst>
          </p:cNvPr>
          <p:cNvSpPr/>
          <p:nvPr/>
        </p:nvSpPr>
        <p:spPr>
          <a:xfrm>
            <a:off x="6089904" y="1444752"/>
            <a:ext cx="64008" cy="96012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50FFCC-8F5B-1DD0-876B-0FFC67766253}"/>
              </a:ext>
            </a:extLst>
          </p:cNvPr>
          <p:cNvSpPr txBox="1"/>
          <p:nvPr/>
        </p:nvSpPr>
        <p:spPr>
          <a:xfrm>
            <a:off x="6254496" y="1545336"/>
            <a:ext cx="17647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Prisma</a:t>
            </a:r>
            <a:endParaRPr lang="ko-KR" altLang="en-US" sz="108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41FC40-2D00-CECA-B9B3-2E5AB3615DCC}"/>
              </a:ext>
            </a:extLst>
          </p:cNvPr>
          <p:cNvSpPr txBox="1"/>
          <p:nvPr/>
        </p:nvSpPr>
        <p:spPr>
          <a:xfrm>
            <a:off x="6254496" y="1792224"/>
            <a:ext cx="176479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Schema
Migrations
Client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22022F06-FDBE-A8D0-B0CA-1BA6CC5E105D}"/>
              </a:ext>
            </a:extLst>
          </p:cNvPr>
          <p:cNvCxnSpPr/>
          <p:nvPr/>
        </p:nvCxnSpPr>
        <p:spPr>
          <a:xfrm>
            <a:off x="8238744" y="1920240"/>
            <a:ext cx="246888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C06C764-7822-419A-3358-5AB53D0D78DA}"/>
              </a:ext>
            </a:extLst>
          </p:cNvPr>
          <p:cNvSpPr/>
          <p:nvPr/>
        </p:nvSpPr>
        <p:spPr>
          <a:xfrm>
            <a:off x="8723376" y="1444752"/>
            <a:ext cx="205740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BC0E1231-D022-F485-9567-A41EC232D6EC}"/>
              </a:ext>
            </a:extLst>
          </p:cNvPr>
          <p:cNvSpPr/>
          <p:nvPr/>
        </p:nvSpPr>
        <p:spPr>
          <a:xfrm>
            <a:off x="8723376" y="1444752"/>
            <a:ext cx="64008" cy="960120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E7342A-A043-A68E-7E3D-3E2A5A3F1F3D}"/>
              </a:ext>
            </a:extLst>
          </p:cNvPr>
          <p:cNvSpPr txBox="1"/>
          <p:nvPr/>
        </p:nvSpPr>
        <p:spPr>
          <a:xfrm>
            <a:off x="8887968" y="1545336"/>
            <a:ext cx="17647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MySQL</a:t>
            </a:r>
            <a:endParaRPr lang="ko-KR" altLang="en-US" sz="108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EB5238-8ADE-B214-4CAC-BF8C53F31350}"/>
              </a:ext>
            </a:extLst>
          </p:cNvPr>
          <p:cNvSpPr txBox="1"/>
          <p:nvPr/>
        </p:nvSpPr>
        <p:spPr>
          <a:xfrm>
            <a:off x="8887968" y="1792224"/>
            <a:ext cx="176479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업무 데이터 저장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316487E-8C6E-0BCD-AFFD-19060349F898}"/>
              </a:ext>
            </a:extLst>
          </p:cNvPr>
          <p:cNvSpPr/>
          <p:nvPr/>
        </p:nvSpPr>
        <p:spPr>
          <a:xfrm>
            <a:off x="1234440" y="2971800"/>
            <a:ext cx="9646920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5910323-6E6E-2B08-EF72-79A82E8799A2}"/>
              </a:ext>
            </a:extLst>
          </p:cNvPr>
          <p:cNvSpPr txBox="1"/>
          <p:nvPr/>
        </p:nvSpPr>
        <p:spPr>
          <a:xfrm>
            <a:off x="1554480" y="3218688"/>
            <a:ext cx="21488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1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Shared Contracts</a:t>
            </a:r>
            <a:endParaRPr lang="ko-KR" altLang="en-US" sz="118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B2FFD1-93E1-2CAB-1038-ACDF2C3B9C5F}"/>
              </a:ext>
            </a:extLst>
          </p:cNvPr>
          <p:cNvSpPr txBox="1"/>
          <p:nvPr/>
        </p:nvSpPr>
        <p:spPr>
          <a:xfrm>
            <a:off x="1554480" y="3593592"/>
            <a:ext cx="2148840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요청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응답 계약을 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Web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과 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API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가 함께 사용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4341F0D-741E-DA84-AC3F-E2976352957B}"/>
              </a:ext>
            </a:extLst>
          </p:cNvPr>
          <p:cNvSpPr txBox="1"/>
          <p:nvPr/>
        </p:nvSpPr>
        <p:spPr>
          <a:xfrm>
            <a:off x="4617720" y="3218688"/>
            <a:ext cx="21488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1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Money Package</a:t>
            </a:r>
            <a:endParaRPr lang="ko-KR" altLang="en-US" sz="118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C347087-4720-54CD-ECA4-31EF10A2C2A8}"/>
              </a:ext>
            </a:extLst>
          </p:cNvPr>
          <p:cNvSpPr txBox="1"/>
          <p:nvPr/>
        </p:nvSpPr>
        <p:spPr>
          <a:xfrm>
            <a:off x="4617720" y="3593592"/>
            <a:ext cx="214884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KRW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금액 처리 규칙을 별도 관리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F9860D1-FFFC-3B8E-4403-E8471CD9E81E}"/>
              </a:ext>
            </a:extLst>
          </p:cNvPr>
          <p:cNvSpPr txBox="1"/>
          <p:nvPr/>
        </p:nvSpPr>
        <p:spPr>
          <a:xfrm>
            <a:off x="7680960" y="3218688"/>
            <a:ext cx="21488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1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Modular Monolith</a:t>
            </a:r>
            <a:endParaRPr lang="ko-KR" altLang="en-US" sz="1180" b="1">
              <a:solidFill>
                <a:srgbClr val="D97706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D26188B-5C17-63C8-0D27-429E95D628D0}"/>
              </a:ext>
            </a:extLst>
          </p:cNvPr>
          <p:cNvSpPr txBox="1"/>
          <p:nvPr/>
        </p:nvSpPr>
        <p:spPr>
          <a:xfrm>
            <a:off x="7680960" y="3593592"/>
            <a:ext cx="214884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분산 복잡도는 줄이고 경계는 유지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FBFFD9DE-8CD0-2BDC-B7D2-9F3E6BE847FD}"/>
              </a:ext>
            </a:extLst>
          </p:cNvPr>
          <p:cNvSpPr/>
          <p:nvPr/>
        </p:nvSpPr>
        <p:spPr>
          <a:xfrm>
            <a:off x="1188720" y="4800600"/>
            <a:ext cx="9738360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3310383-EA2D-9BDC-FD05-AF15FC95E2B4}"/>
              </a:ext>
            </a:extLst>
          </p:cNvPr>
          <p:cNvSpPr/>
          <p:nvPr/>
        </p:nvSpPr>
        <p:spPr>
          <a:xfrm>
            <a:off x="1188720" y="4800600"/>
            <a:ext cx="64008" cy="65836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4DA06BF-F980-C4B9-B6C1-2099A9D14325}"/>
              </a:ext>
            </a:extLst>
          </p:cNvPr>
          <p:cNvSpPr txBox="1"/>
          <p:nvPr/>
        </p:nvSpPr>
        <p:spPr>
          <a:xfrm>
            <a:off x="1353312" y="4892040"/>
            <a:ext cx="944575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구조 판단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D53A012-FB1A-59C8-5881-72C4B55730FB}"/>
              </a:ext>
            </a:extLst>
          </p:cNvPr>
          <p:cNvSpPr txBox="1"/>
          <p:nvPr/>
        </p:nvSpPr>
        <p:spPr>
          <a:xfrm>
            <a:off x="1353312" y="5129784"/>
            <a:ext cx="944575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유지보수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확장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AI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협업을 고려해 단일 저장소와 단일 배포 단위 안에서 필요한 모듈 경계를 명확히 했습니다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E788DD-F3CA-FB71-B48E-90B249D3B687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E9A3184-9003-4290-F513-D7821F64C133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13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15066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D4DF684-F85E-B7AB-7EAF-FAE17B81E994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8626441-A89D-483E-C242-5A155F038E3F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335FB1E-B8F1-E41F-A5F7-01A1975C6092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BA9A03-088F-6431-C0FB-AF4B41150B17}"/>
              </a:ext>
            </a:extLst>
          </p:cNvPr>
          <p:cNvSpPr txBox="1"/>
          <p:nvPr/>
        </p:nvSpPr>
        <p:spPr>
          <a:xfrm>
            <a:off x="630936" y="338328"/>
            <a:ext cx="960120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ARCHITECTURE WHY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4AAC3E-F3A7-098B-AA74-8268A49299DD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en-US" altLang="ko-KR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SaaS ERP </a:t>
            </a:r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아키텍처 판단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49B40D98-F46C-06C2-E89C-1A17DDCD0B7D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951412BE-B4CF-5F64-D93D-FE737E106593}"/>
              </a:ext>
            </a:extLst>
          </p:cNvPr>
          <p:cNvSpPr/>
          <p:nvPr/>
        </p:nvSpPr>
        <p:spPr>
          <a:xfrm>
            <a:off x="658368" y="1243584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BE369F5-0223-4A9D-F135-C9D1C2A9FADA}"/>
              </a:ext>
            </a:extLst>
          </p:cNvPr>
          <p:cNvSpPr/>
          <p:nvPr/>
        </p:nvSpPr>
        <p:spPr>
          <a:xfrm>
            <a:off x="658368" y="1243584"/>
            <a:ext cx="64008" cy="1078992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C1C045-B4A8-75A5-305D-7B1BC2EE4445}"/>
              </a:ext>
            </a:extLst>
          </p:cNvPr>
          <p:cNvSpPr txBox="1"/>
          <p:nvPr/>
        </p:nvSpPr>
        <p:spPr>
          <a:xfrm>
            <a:off x="822960" y="1353312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SaaS ERP </a:t>
            </a:r>
            <a:r>
              <a:rPr lang="ko-KR" altLang="en-US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전제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28D581-513B-9750-B8B8-E1081D070957}"/>
              </a:ext>
            </a:extLst>
          </p:cNvPr>
          <p:cNvSpPr txBox="1"/>
          <p:nvPr/>
        </p:nvSpPr>
        <p:spPr>
          <a:xfrm>
            <a:off x="822960" y="1609344"/>
            <a:ext cx="2953512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브라우저 업무 화면과 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API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서버를 분리해 공개 데모와 운영 배포를 함께 고려했습니다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C57B5F-B8E7-AD48-4728-DD1501C827D1}"/>
              </a:ext>
            </a:extLst>
          </p:cNvPr>
          <p:cNvSpPr/>
          <p:nvPr/>
        </p:nvSpPr>
        <p:spPr>
          <a:xfrm>
            <a:off x="4361688" y="1243584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9825DCB-F9C4-41F1-3AFB-6C37470555CE}"/>
              </a:ext>
            </a:extLst>
          </p:cNvPr>
          <p:cNvSpPr/>
          <p:nvPr/>
        </p:nvSpPr>
        <p:spPr>
          <a:xfrm>
            <a:off x="4361688" y="1243584"/>
            <a:ext cx="64008" cy="107899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692539-960A-59A4-867A-910500EC0D19}"/>
              </a:ext>
            </a:extLst>
          </p:cNvPr>
          <p:cNvSpPr txBox="1"/>
          <p:nvPr/>
        </p:nvSpPr>
        <p:spPr>
          <a:xfrm>
            <a:off x="4526280" y="1353312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Next.js </a:t>
            </a:r>
            <a:r>
              <a:rPr lang="ko-KR" altLang="en-US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프론트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F800F1-69FD-A2FA-FC02-E11593E0DD4B}"/>
              </a:ext>
            </a:extLst>
          </p:cNvPr>
          <p:cNvSpPr txBox="1"/>
          <p:nvPr/>
        </p:nvSpPr>
        <p:spPr>
          <a:xfrm>
            <a:off x="4526280" y="1609344"/>
            <a:ext cx="2953512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라우팅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화면 상태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서버 통신을 기능 단위로 묶어 화면 확장과 검증을 쉽게 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CE60EB7-61B0-F318-CEE4-EF651F6946A9}"/>
              </a:ext>
            </a:extLst>
          </p:cNvPr>
          <p:cNvSpPr/>
          <p:nvPr/>
        </p:nvSpPr>
        <p:spPr>
          <a:xfrm>
            <a:off x="8065008" y="1243584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35CEB8A-0A97-B51A-AD5D-6A82E46AE9A0}"/>
              </a:ext>
            </a:extLst>
          </p:cNvPr>
          <p:cNvSpPr/>
          <p:nvPr/>
        </p:nvSpPr>
        <p:spPr>
          <a:xfrm>
            <a:off x="8065008" y="1243584"/>
            <a:ext cx="64007" cy="1078992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C16DC3A-8112-1E05-2AE8-9C251442A76E}"/>
              </a:ext>
            </a:extLst>
          </p:cNvPr>
          <p:cNvSpPr txBox="1"/>
          <p:nvPr/>
        </p:nvSpPr>
        <p:spPr>
          <a:xfrm>
            <a:off x="8229600" y="1353312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NestJS </a:t>
            </a:r>
            <a:r>
              <a:rPr lang="ko-KR" altLang="en-US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백엔드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30C8B96-8E9F-8992-DCB9-18CA7250A169}"/>
              </a:ext>
            </a:extLst>
          </p:cNvPr>
          <p:cNvSpPr txBox="1"/>
          <p:nvPr/>
        </p:nvSpPr>
        <p:spPr>
          <a:xfrm>
            <a:off x="8229600" y="1609344"/>
            <a:ext cx="2953512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모듈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컨트롤러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서비스 경계로 도메인 책임을 나눠 유지보수와 확장을 고려했습니다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52671D1-0376-8C66-7CC4-E1CAAD718403}"/>
              </a:ext>
            </a:extLst>
          </p:cNvPr>
          <p:cNvSpPr/>
          <p:nvPr/>
        </p:nvSpPr>
        <p:spPr>
          <a:xfrm>
            <a:off x="658368" y="2724912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F8866C4-3B5B-7ED1-FD53-07BF384198C4}"/>
              </a:ext>
            </a:extLst>
          </p:cNvPr>
          <p:cNvSpPr/>
          <p:nvPr/>
        </p:nvSpPr>
        <p:spPr>
          <a:xfrm>
            <a:off x="658368" y="2724912"/>
            <a:ext cx="64008" cy="1078992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75CA46-8CE5-2B93-900E-697EC1CE2369}"/>
              </a:ext>
            </a:extLst>
          </p:cNvPr>
          <p:cNvSpPr txBox="1"/>
          <p:nvPr/>
        </p:nvSpPr>
        <p:spPr>
          <a:xfrm>
            <a:off x="822960" y="2834640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MUI </a:t>
            </a:r>
            <a:r>
              <a:rPr lang="ko-KR" altLang="en-US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선택 이유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8EA86F-2FD2-2732-11F1-2DFD7848CC32}"/>
              </a:ext>
            </a:extLst>
          </p:cNvPr>
          <p:cNvSpPr txBox="1"/>
          <p:nvPr/>
        </p:nvSpPr>
        <p:spPr>
          <a:xfrm>
            <a:off x="822960" y="3090672"/>
            <a:ext cx="2953512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일관된 컴포넌트 규격으로 화면을 빠르게 조합하고 협업자가 구조를 읽기 쉽게 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D824474-41E8-465E-0CF1-BE90675233FB}"/>
              </a:ext>
            </a:extLst>
          </p:cNvPr>
          <p:cNvSpPr/>
          <p:nvPr/>
        </p:nvSpPr>
        <p:spPr>
          <a:xfrm>
            <a:off x="4361688" y="2724912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992B704-CC45-DD0E-CC7A-5108CBBCC915}"/>
              </a:ext>
            </a:extLst>
          </p:cNvPr>
          <p:cNvSpPr/>
          <p:nvPr/>
        </p:nvSpPr>
        <p:spPr>
          <a:xfrm>
            <a:off x="4361688" y="2724912"/>
            <a:ext cx="64008" cy="107899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D29ECE4-6535-DD47-DF99-89ECFE8215C4}"/>
              </a:ext>
            </a:extLst>
          </p:cNvPr>
          <p:cNvSpPr txBox="1"/>
          <p:nvPr/>
        </p:nvSpPr>
        <p:spPr>
          <a:xfrm>
            <a:off x="4526280" y="2834640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AI </a:t>
            </a:r>
            <a:r>
              <a:rPr lang="ko-KR" altLang="en-US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협업 친화성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CB746E-C024-4A9C-B002-3C40ABD50F00}"/>
              </a:ext>
            </a:extLst>
          </p:cNvPr>
          <p:cNvSpPr txBox="1"/>
          <p:nvPr/>
        </p:nvSpPr>
        <p:spPr>
          <a:xfrm>
            <a:off x="4526280" y="3090672"/>
            <a:ext cx="2953512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작은 모듈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명확한 계약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반복 가능한 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UI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패턴으로 변경 범위를 좁혀 작업할 수 있게 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CFB7A1F-6049-AFFD-3965-42148FE72380}"/>
              </a:ext>
            </a:extLst>
          </p:cNvPr>
          <p:cNvSpPr/>
          <p:nvPr/>
        </p:nvSpPr>
        <p:spPr>
          <a:xfrm>
            <a:off x="8065008" y="2724912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7D56246-BD3E-F31F-7750-05DAF1F327C7}"/>
              </a:ext>
            </a:extLst>
          </p:cNvPr>
          <p:cNvSpPr/>
          <p:nvPr/>
        </p:nvSpPr>
        <p:spPr>
          <a:xfrm>
            <a:off x="8065008" y="2724912"/>
            <a:ext cx="64007" cy="1078992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5B50BB7-2DDA-A2FE-92B1-9008344ADB72}"/>
              </a:ext>
            </a:extLst>
          </p:cNvPr>
          <p:cNvSpPr txBox="1"/>
          <p:nvPr/>
        </p:nvSpPr>
        <p:spPr>
          <a:xfrm>
            <a:off x="8229600" y="2834640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보안 기본값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7F0DADE-02B9-B160-2ED4-5BABFF59DC78}"/>
              </a:ext>
            </a:extLst>
          </p:cNvPr>
          <p:cNvSpPr txBox="1"/>
          <p:nvPr/>
        </p:nvSpPr>
        <p:spPr>
          <a:xfrm>
            <a:off x="8229600" y="3090672"/>
            <a:ext cx="2953512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인증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권한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로그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런타임 의존성 점검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비밀값 누출 방지 흐름을 함께 관리했습니다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A91B2EA-1748-0102-66A1-EDB949E7A7FD}"/>
              </a:ext>
            </a:extLst>
          </p:cNvPr>
          <p:cNvSpPr/>
          <p:nvPr/>
        </p:nvSpPr>
        <p:spPr>
          <a:xfrm>
            <a:off x="960120" y="4645152"/>
            <a:ext cx="1024128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4FE00FD-AFF5-C47E-8371-D3B92C3C867F}"/>
              </a:ext>
            </a:extLst>
          </p:cNvPr>
          <p:cNvSpPr/>
          <p:nvPr/>
        </p:nvSpPr>
        <p:spPr>
          <a:xfrm>
            <a:off x="960120" y="4645152"/>
            <a:ext cx="64008" cy="93268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AE2F952-CE1D-48A0-F95C-54A94E618E5F}"/>
              </a:ext>
            </a:extLst>
          </p:cNvPr>
          <p:cNvSpPr txBox="1"/>
          <p:nvPr/>
        </p:nvSpPr>
        <p:spPr>
          <a:xfrm>
            <a:off x="1124712" y="4745736"/>
            <a:ext cx="994867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05657F8-DAA1-8099-32B4-F54861EFCDE6}"/>
              </a:ext>
            </a:extLst>
          </p:cNvPr>
          <p:cNvSpPr txBox="1"/>
          <p:nvPr/>
        </p:nvSpPr>
        <p:spPr>
          <a:xfrm>
            <a:off x="1124712" y="4992624"/>
            <a:ext cx="994867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아키텍처의 목표는 기술 과시가 아니라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웹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SaaS ERP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를 오래 유지보수하고 기능을 안전하게 늘릴 수 있는 변경 단위를 만드는 것입니다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A5E278-CB08-1F9C-8C20-F86F813B3EB6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2B7F0CD-FED9-FAD1-BF7D-A66C6307A60E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14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175114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9DDC35E-BDCD-D750-8196-242EE6E61764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B71F2F5-B1B4-977D-2A23-68404AC5D201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525FCDF7-EA83-13A5-99EB-4BDE60032041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9C98FB-F7A3-F518-63E6-52E46D5C643F}"/>
              </a:ext>
            </a:extLst>
          </p:cNvPr>
          <p:cNvSpPr txBox="1"/>
          <p:nvPr/>
        </p:nvSpPr>
        <p:spPr>
          <a:xfrm>
            <a:off x="630936" y="338328"/>
            <a:ext cx="960120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PRODUCT SURFACE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9C70F5-581C-75D1-0215-132CFA918E6D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제품 표면 지도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D1829A94-2FBE-C49F-6A1E-974DE11A2B11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0AB5ADBE-4732-4439-FAD6-E2785DB049ED}"/>
              </a:ext>
            </a:extLst>
          </p:cNvPr>
          <p:cNvSpPr/>
          <p:nvPr/>
        </p:nvSpPr>
        <p:spPr>
          <a:xfrm>
            <a:off x="694944" y="1353312"/>
            <a:ext cx="30632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9133BB2-17FF-1870-519C-A31853C4EE77}"/>
              </a:ext>
            </a:extLst>
          </p:cNvPr>
          <p:cNvSpPr/>
          <p:nvPr/>
        </p:nvSpPr>
        <p:spPr>
          <a:xfrm>
            <a:off x="694944" y="1353312"/>
            <a:ext cx="64008" cy="93268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E368B2-39B4-CC0C-6438-09F68B27A0B8}"/>
              </a:ext>
            </a:extLst>
          </p:cNvPr>
          <p:cNvSpPr txBox="1"/>
          <p:nvPr/>
        </p:nvSpPr>
        <p:spPr>
          <a:xfrm>
            <a:off x="859536" y="1453896"/>
            <a:ext cx="27706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인증</a:t>
            </a:r>
            <a:r>
              <a:rPr lang="en-US" altLang="ko-KR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설정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E872F2-D249-7085-C2BA-2234AC0A262D}"/>
              </a:ext>
            </a:extLst>
          </p:cNvPr>
          <p:cNvSpPr txBox="1"/>
          <p:nvPr/>
        </p:nvSpPr>
        <p:spPr>
          <a:xfrm>
            <a:off x="859536" y="1700784"/>
            <a:ext cx="27706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공개 홈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회원가입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로그인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계정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워크스페이스 설정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FE36719-B21A-0B32-1B39-6B96901C1EB3}"/>
              </a:ext>
            </a:extLst>
          </p:cNvPr>
          <p:cNvSpPr/>
          <p:nvPr/>
        </p:nvSpPr>
        <p:spPr>
          <a:xfrm>
            <a:off x="4315968" y="1353312"/>
            <a:ext cx="30632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5B265C3-EAE1-02B8-AADF-2A8EA2BB86AA}"/>
              </a:ext>
            </a:extLst>
          </p:cNvPr>
          <p:cNvSpPr/>
          <p:nvPr/>
        </p:nvSpPr>
        <p:spPr>
          <a:xfrm>
            <a:off x="4315968" y="1353312"/>
            <a:ext cx="64008" cy="93268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C75C25-953A-52CF-A00C-F84B1BF51996}"/>
              </a:ext>
            </a:extLst>
          </p:cNvPr>
          <p:cNvSpPr txBox="1"/>
          <p:nvPr/>
        </p:nvSpPr>
        <p:spPr>
          <a:xfrm>
            <a:off x="4480560" y="1453896"/>
            <a:ext cx="27706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지원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9DDE6E-7774-2B4B-79CA-30582D232AD8}"/>
              </a:ext>
            </a:extLst>
          </p:cNvPr>
          <p:cNvSpPr txBox="1"/>
          <p:nvPr/>
        </p:nvSpPr>
        <p:spPr>
          <a:xfrm>
            <a:off x="4480560" y="1700784"/>
            <a:ext cx="277063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허브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체크리스트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예외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 상태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메모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CF970CB-4AD5-452B-E46E-A73DC4A6BAC7}"/>
              </a:ext>
            </a:extLst>
          </p:cNvPr>
          <p:cNvSpPr/>
          <p:nvPr/>
        </p:nvSpPr>
        <p:spPr>
          <a:xfrm>
            <a:off x="7936992" y="1353312"/>
            <a:ext cx="30632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E3DADB8-7D23-B8DB-8D8B-D79072969CCC}"/>
              </a:ext>
            </a:extLst>
          </p:cNvPr>
          <p:cNvSpPr/>
          <p:nvPr/>
        </p:nvSpPr>
        <p:spPr>
          <a:xfrm>
            <a:off x="7936992" y="1353312"/>
            <a:ext cx="64008" cy="93268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C16494-DDB5-4E99-8649-2F330E0F88ED}"/>
              </a:ext>
            </a:extLst>
          </p:cNvPr>
          <p:cNvSpPr txBox="1"/>
          <p:nvPr/>
        </p:nvSpPr>
        <p:spPr>
          <a:xfrm>
            <a:off x="8101584" y="1453896"/>
            <a:ext cx="27706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기준</a:t>
            </a:r>
            <a:r>
              <a:rPr lang="en-US" altLang="ko-KR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자산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90DCC5E-5AB3-F856-AB72-8D32DAC1B7AD}"/>
              </a:ext>
            </a:extLst>
          </p:cNvPr>
          <p:cNvSpPr txBox="1"/>
          <p:nvPr/>
        </p:nvSpPr>
        <p:spPr>
          <a:xfrm>
            <a:off x="8101584" y="1700784"/>
            <a:ext cx="27706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자금수단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카테고리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보험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부채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차량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BBF47BC-7F5E-E6FA-4D06-516A7D73F4DE}"/>
              </a:ext>
            </a:extLst>
          </p:cNvPr>
          <p:cNvSpPr/>
          <p:nvPr/>
        </p:nvSpPr>
        <p:spPr>
          <a:xfrm>
            <a:off x="694944" y="2743200"/>
            <a:ext cx="30632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F70A923-8F6D-31AD-4B37-F160716826DC}"/>
              </a:ext>
            </a:extLst>
          </p:cNvPr>
          <p:cNvSpPr/>
          <p:nvPr/>
        </p:nvSpPr>
        <p:spPr>
          <a:xfrm>
            <a:off x="694944" y="2743200"/>
            <a:ext cx="64008" cy="93268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4FC57C-5D06-7AC7-F416-990FE03245F6}"/>
              </a:ext>
            </a:extLst>
          </p:cNvPr>
          <p:cNvSpPr txBox="1"/>
          <p:nvPr/>
        </p:nvSpPr>
        <p:spPr>
          <a:xfrm>
            <a:off x="859536" y="2843784"/>
            <a:ext cx="27706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실행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3E04D3-E9A5-6D21-106A-4A2C15AF3381}"/>
              </a:ext>
            </a:extLst>
          </p:cNvPr>
          <p:cNvSpPr txBox="1"/>
          <p:nvPr/>
        </p:nvSpPr>
        <p:spPr>
          <a:xfrm>
            <a:off x="859536" y="3090672"/>
            <a:ext cx="27706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기간 열기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7B95581-0337-71B1-5C30-D92BE78A93A2}"/>
              </a:ext>
            </a:extLst>
          </p:cNvPr>
          <p:cNvSpPr/>
          <p:nvPr/>
        </p:nvSpPr>
        <p:spPr>
          <a:xfrm>
            <a:off x="4315968" y="2743200"/>
            <a:ext cx="30632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B394D37-1680-48A8-3924-4D3AD7A1E342}"/>
              </a:ext>
            </a:extLst>
          </p:cNvPr>
          <p:cNvSpPr/>
          <p:nvPr/>
        </p:nvSpPr>
        <p:spPr>
          <a:xfrm>
            <a:off x="4315968" y="2743200"/>
            <a:ext cx="64008" cy="93268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9D500D-EA4E-E008-8BD6-B5D75558EA9B}"/>
              </a:ext>
            </a:extLst>
          </p:cNvPr>
          <p:cNvSpPr txBox="1"/>
          <p:nvPr/>
        </p:nvSpPr>
        <p:spPr>
          <a:xfrm>
            <a:off x="4480560" y="2843784"/>
            <a:ext cx="27706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보고</a:t>
            </a:r>
            <a:r>
              <a:rPr lang="en-US" altLang="ko-KR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판단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CF759DD-138A-3509-3973-39DA34ACC217}"/>
              </a:ext>
            </a:extLst>
          </p:cNvPr>
          <p:cNvSpPr txBox="1"/>
          <p:nvPr/>
        </p:nvSpPr>
        <p:spPr>
          <a:xfrm>
            <a:off x="4480560" y="3090672"/>
            <a:ext cx="27706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대시보드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재무제표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자금수단 현황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이월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전망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BEAADC9-3179-896A-7805-3950E8558771}"/>
              </a:ext>
            </a:extLst>
          </p:cNvPr>
          <p:cNvSpPr/>
          <p:nvPr/>
        </p:nvSpPr>
        <p:spPr>
          <a:xfrm>
            <a:off x="7936992" y="2743200"/>
            <a:ext cx="30632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86BB44E-D500-915B-22EE-A96E1C431105}"/>
              </a:ext>
            </a:extLst>
          </p:cNvPr>
          <p:cNvSpPr/>
          <p:nvPr/>
        </p:nvSpPr>
        <p:spPr>
          <a:xfrm>
            <a:off x="7936992" y="2743200"/>
            <a:ext cx="64008" cy="93268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7923B90-8C6A-B0E1-7DD3-696278251301}"/>
              </a:ext>
            </a:extLst>
          </p:cNvPr>
          <p:cNvSpPr txBox="1"/>
          <p:nvPr/>
        </p:nvSpPr>
        <p:spPr>
          <a:xfrm>
            <a:off x="8101584" y="2843784"/>
            <a:ext cx="27706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관리자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F03564B-C7EF-9465-D0E3-11FB4B89C3A9}"/>
              </a:ext>
            </a:extLst>
          </p:cNvPr>
          <p:cNvSpPr txBox="1"/>
          <p:nvPr/>
        </p:nvSpPr>
        <p:spPr>
          <a:xfrm>
            <a:off x="8101584" y="3090672"/>
            <a:ext cx="27706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멤버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권한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메뉴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로그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보안 위협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8521EF73-5D74-0783-2746-71965869B42B}"/>
              </a:ext>
            </a:extLst>
          </p:cNvPr>
          <p:cNvSpPr/>
          <p:nvPr/>
        </p:nvSpPr>
        <p:spPr>
          <a:xfrm>
            <a:off x="960120" y="4709160"/>
            <a:ext cx="10195560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D9EC66B2-E00F-CB20-9376-A9D875F1872F}"/>
              </a:ext>
            </a:extLst>
          </p:cNvPr>
          <p:cNvSpPr/>
          <p:nvPr/>
        </p:nvSpPr>
        <p:spPr>
          <a:xfrm>
            <a:off x="960120" y="4709160"/>
            <a:ext cx="64008" cy="786384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1E720A-035B-A2B5-3EEA-B4251F83DAE5}"/>
              </a:ext>
            </a:extLst>
          </p:cNvPr>
          <p:cNvSpPr txBox="1"/>
          <p:nvPr/>
        </p:nvSpPr>
        <p:spPr>
          <a:xfrm>
            <a:off x="1124712" y="4800600"/>
            <a:ext cx="990295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읽는 법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7E737B0-3753-AD86-B775-8682C7746161}"/>
              </a:ext>
            </a:extLst>
          </p:cNvPr>
          <p:cNvSpPr txBox="1"/>
          <p:nvPr/>
        </p:nvSpPr>
        <p:spPr>
          <a:xfrm>
            <a:off x="1124712" y="5038344"/>
            <a:ext cx="990295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화면이 많다는 인상보다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각 화면이 월 운영 사이클에서 맡는 역할을 보여주는 지도입니다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2770B80-3640-9331-1CBA-C0F63DD13F6A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9140D51-428C-CBF9-3FF5-C628F7F78DA6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15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927897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A51581B-FF20-68CF-2872-78A87AE8E43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2DE8E3-1B2C-32F7-3E14-80496D4CCAC4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45561F0E-B778-2DCE-DDBA-9F5D343619E8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CCAAF8-B86D-B89B-CAA9-C81765EA0627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 LOGIC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DDEF6F-8443-7612-40B9-EA32A6982FDC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화면에 녹인 실무 </a:t>
            </a:r>
            <a:r>
              <a:rPr lang="en-US" altLang="ko-KR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ERP </a:t>
            </a:r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관점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8613C5F2-E90F-8DAB-112F-56B31639BF6A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279759B4-60CF-51CD-9F4C-895C5815ED29}"/>
              </a:ext>
            </a:extLst>
          </p:cNvPr>
          <p:cNvSpPr/>
          <p:nvPr/>
        </p:nvSpPr>
        <p:spPr>
          <a:xfrm>
            <a:off x="658368" y="1243584"/>
            <a:ext cx="251460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EA40D48-9EAE-B80A-B243-BACF82C0F791}"/>
              </a:ext>
            </a:extLst>
          </p:cNvPr>
          <p:cNvSpPr/>
          <p:nvPr/>
        </p:nvSpPr>
        <p:spPr>
          <a:xfrm>
            <a:off x="658368" y="1243584"/>
            <a:ext cx="64008" cy="84124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B75DF4-B62A-1BC4-1161-093544813AF1}"/>
              </a:ext>
            </a:extLst>
          </p:cNvPr>
          <p:cNvSpPr txBox="1"/>
          <p:nvPr/>
        </p:nvSpPr>
        <p:spPr>
          <a:xfrm>
            <a:off x="822960" y="1344168"/>
            <a:ext cx="22219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허브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8C5BF8-603B-6CFD-654A-B6F040ED7C19}"/>
              </a:ext>
            </a:extLst>
          </p:cNvPr>
          <p:cNvSpPr txBox="1"/>
          <p:nvPr/>
        </p:nvSpPr>
        <p:spPr>
          <a:xfrm>
            <a:off x="822960" y="1591056"/>
            <a:ext cx="222199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전 예외와 우선 작업을 먼저 노출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125183C-A590-BAAB-6E0F-426B88F1A990}"/>
              </a:ext>
            </a:extLst>
          </p:cNvPr>
          <p:cNvSpPr/>
          <p:nvPr/>
        </p:nvSpPr>
        <p:spPr>
          <a:xfrm>
            <a:off x="3474720" y="1243584"/>
            <a:ext cx="251460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2D57584-C28D-6F94-A5EA-96F125BAA58B}"/>
              </a:ext>
            </a:extLst>
          </p:cNvPr>
          <p:cNvSpPr/>
          <p:nvPr/>
        </p:nvSpPr>
        <p:spPr>
          <a:xfrm>
            <a:off x="3474720" y="1243584"/>
            <a:ext cx="64008" cy="84124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AB661F-5C3B-0052-F31E-6B3AE5893986}"/>
              </a:ext>
            </a:extLst>
          </p:cNvPr>
          <p:cNvSpPr txBox="1"/>
          <p:nvPr/>
        </p:nvSpPr>
        <p:spPr>
          <a:xfrm>
            <a:off x="3639312" y="1344168"/>
            <a:ext cx="22219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기준 데이터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37335F-5807-42A7-241E-B3801AFB377F}"/>
              </a:ext>
            </a:extLst>
          </p:cNvPr>
          <p:cNvSpPr txBox="1"/>
          <p:nvPr/>
        </p:nvSpPr>
        <p:spPr>
          <a:xfrm>
            <a:off x="3639312" y="1591056"/>
            <a:ext cx="222199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거래 전에 기준 준비 상태를 확인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54414DE-0709-1565-616A-A939B15D1BCA}"/>
              </a:ext>
            </a:extLst>
          </p:cNvPr>
          <p:cNvSpPr/>
          <p:nvPr/>
        </p:nvSpPr>
        <p:spPr>
          <a:xfrm>
            <a:off x="6291072" y="1243584"/>
            <a:ext cx="251460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09DC2E9-29AF-7926-943E-6F220B548511}"/>
              </a:ext>
            </a:extLst>
          </p:cNvPr>
          <p:cNvSpPr/>
          <p:nvPr/>
        </p:nvSpPr>
        <p:spPr>
          <a:xfrm>
            <a:off x="6291072" y="1243584"/>
            <a:ext cx="64008" cy="84124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B8E22A-2234-9950-7B24-305BFE6BE82B}"/>
              </a:ext>
            </a:extLst>
          </p:cNvPr>
          <p:cNvSpPr txBox="1"/>
          <p:nvPr/>
        </p:nvSpPr>
        <p:spPr>
          <a:xfrm>
            <a:off x="6455664" y="1344168"/>
            <a:ext cx="22219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</a:t>
            </a:r>
            <a:r>
              <a:rPr lang="en-US" altLang="ko-KR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반복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6EF7FBA-B23B-BC83-0DFB-1AD4D6137C25}"/>
              </a:ext>
            </a:extLst>
          </p:cNvPr>
          <p:cNvSpPr txBox="1"/>
          <p:nvPr/>
        </p:nvSpPr>
        <p:spPr>
          <a:xfrm>
            <a:off x="6455664" y="1591056"/>
            <a:ext cx="222199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예정 거래를 실제 거래와 연결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90EC1F7-99BA-65CE-4F52-7955D27DE761}"/>
              </a:ext>
            </a:extLst>
          </p:cNvPr>
          <p:cNvSpPr/>
          <p:nvPr/>
        </p:nvSpPr>
        <p:spPr>
          <a:xfrm>
            <a:off x="9107424" y="1243584"/>
            <a:ext cx="251460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857124A-C9E7-8B67-CE7C-58B73BA70905}"/>
              </a:ext>
            </a:extLst>
          </p:cNvPr>
          <p:cNvSpPr/>
          <p:nvPr/>
        </p:nvSpPr>
        <p:spPr>
          <a:xfrm>
            <a:off x="9107424" y="1243584"/>
            <a:ext cx="64008" cy="84124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9799B02-7836-A14A-9491-1CFE989A365E}"/>
              </a:ext>
            </a:extLst>
          </p:cNvPr>
          <p:cNvSpPr txBox="1"/>
          <p:nvPr/>
        </p:nvSpPr>
        <p:spPr>
          <a:xfrm>
            <a:off x="9272016" y="1344168"/>
            <a:ext cx="22219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037380-CC11-2B13-B362-C3104B2964BA}"/>
              </a:ext>
            </a:extLst>
          </p:cNvPr>
          <p:cNvSpPr txBox="1"/>
          <p:nvPr/>
        </p:nvSpPr>
        <p:spPr>
          <a:xfrm>
            <a:off x="9272016" y="1591056"/>
            <a:ext cx="222199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원본 행 상태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중복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일괄 처리 진행률 관리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C8BE6478-0E38-7E9F-55C0-8AE460381E5F}"/>
              </a:ext>
            </a:extLst>
          </p:cNvPr>
          <p:cNvSpPr/>
          <p:nvPr/>
        </p:nvSpPr>
        <p:spPr>
          <a:xfrm>
            <a:off x="658368" y="2596896"/>
            <a:ext cx="251460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2FFF60E2-6342-69EC-C38D-58783B6ECEDA}"/>
              </a:ext>
            </a:extLst>
          </p:cNvPr>
          <p:cNvSpPr/>
          <p:nvPr/>
        </p:nvSpPr>
        <p:spPr>
          <a:xfrm>
            <a:off x="658368" y="2596896"/>
            <a:ext cx="64008" cy="84124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03B759A-2430-94B9-0D31-52DE92CA4C61}"/>
              </a:ext>
            </a:extLst>
          </p:cNvPr>
          <p:cNvSpPr txBox="1"/>
          <p:nvPr/>
        </p:nvSpPr>
        <p:spPr>
          <a:xfrm>
            <a:off x="822960" y="2697480"/>
            <a:ext cx="22219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A2D1BA-24F7-8790-8AD2-05CA1F46E225}"/>
              </a:ext>
            </a:extLst>
          </p:cNvPr>
          <p:cNvSpPr txBox="1"/>
          <p:nvPr/>
        </p:nvSpPr>
        <p:spPr>
          <a:xfrm>
            <a:off x="822960" y="2944368"/>
            <a:ext cx="222199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공식 전표 전 검토와 보정 단계를 분리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11A9637-F17A-E266-2508-76F9B9EF1A4B}"/>
              </a:ext>
            </a:extLst>
          </p:cNvPr>
          <p:cNvSpPr/>
          <p:nvPr/>
        </p:nvSpPr>
        <p:spPr>
          <a:xfrm>
            <a:off x="3474720" y="2596896"/>
            <a:ext cx="251460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BE58CFA-47CB-AA53-F98C-09E373FF7102}"/>
              </a:ext>
            </a:extLst>
          </p:cNvPr>
          <p:cNvSpPr/>
          <p:nvPr/>
        </p:nvSpPr>
        <p:spPr>
          <a:xfrm>
            <a:off x="3474720" y="2596896"/>
            <a:ext cx="64008" cy="841248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8402B6-A3F3-A177-EBE5-1CDA4816E02E}"/>
              </a:ext>
            </a:extLst>
          </p:cNvPr>
          <p:cNvSpPr txBox="1"/>
          <p:nvPr/>
        </p:nvSpPr>
        <p:spPr>
          <a:xfrm>
            <a:off x="3639312" y="2697480"/>
            <a:ext cx="22219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7A36BE-85C2-A9B5-C41A-1315921566FA}"/>
              </a:ext>
            </a:extLst>
          </p:cNvPr>
          <p:cNvSpPr txBox="1"/>
          <p:nvPr/>
        </p:nvSpPr>
        <p:spPr>
          <a:xfrm>
            <a:off x="3639312" y="2944368"/>
            <a:ext cx="222199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확정 이후 반전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정정으로 추적성 유지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1A985A2-E1B3-3628-DD32-8BEE58694795}"/>
              </a:ext>
            </a:extLst>
          </p:cNvPr>
          <p:cNvSpPr/>
          <p:nvPr/>
        </p:nvSpPr>
        <p:spPr>
          <a:xfrm>
            <a:off x="6291072" y="2596896"/>
            <a:ext cx="251460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761E9594-E164-B3CF-585D-2846810B7B82}"/>
              </a:ext>
            </a:extLst>
          </p:cNvPr>
          <p:cNvSpPr/>
          <p:nvPr/>
        </p:nvSpPr>
        <p:spPr>
          <a:xfrm>
            <a:off x="6291072" y="2596896"/>
            <a:ext cx="64008" cy="84124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31C11D1-074E-65CE-B257-68ADB24D9A8B}"/>
              </a:ext>
            </a:extLst>
          </p:cNvPr>
          <p:cNvSpPr txBox="1"/>
          <p:nvPr/>
        </p:nvSpPr>
        <p:spPr>
          <a:xfrm>
            <a:off x="6455664" y="2697480"/>
            <a:ext cx="22219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마감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7A7255B-B9CB-794D-82AF-018BB5AD86A0}"/>
              </a:ext>
            </a:extLst>
          </p:cNvPr>
          <p:cNvSpPr txBox="1"/>
          <p:nvPr/>
        </p:nvSpPr>
        <p:spPr>
          <a:xfrm>
            <a:off x="6455664" y="2944368"/>
            <a:ext cx="222199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스냅샷으로 보고 기준을 고정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D366FD51-CA92-357D-9C81-B02AD2B05130}"/>
              </a:ext>
            </a:extLst>
          </p:cNvPr>
          <p:cNvSpPr/>
          <p:nvPr/>
        </p:nvSpPr>
        <p:spPr>
          <a:xfrm>
            <a:off x="9107424" y="2596896"/>
            <a:ext cx="251460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4E2CF57-4C68-0847-8043-29868395F58B}"/>
              </a:ext>
            </a:extLst>
          </p:cNvPr>
          <p:cNvSpPr/>
          <p:nvPr/>
        </p:nvSpPr>
        <p:spPr>
          <a:xfrm>
            <a:off x="9107424" y="2596896"/>
            <a:ext cx="64008" cy="841248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992EA85-79D3-88DF-A636-7489EE981D43}"/>
              </a:ext>
            </a:extLst>
          </p:cNvPr>
          <p:cNvSpPr txBox="1"/>
          <p:nvPr/>
        </p:nvSpPr>
        <p:spPr>
          <a:xfrm>
            <a:off x="9272016" y="2697480"/>
            <a:ext cx="22219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관리자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11417A6-C035-2C28-9044-F8EB41AB4ACE}"/>
              </a:ext>
            </a:extLst>
          </p:cNvPr>
          <p:cNvSpPr txBox="1"/>
          <p:nvPr/>
        </p:nvSpPr>
        <p:spPr>
          <a:xfrm>
            <a:off x="9272016" y="2944368"/>
            <a:ext cx="222199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권한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메뉴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로그 제공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B72CF5D5-9372-1988-1544-1F946ADB05E1}"/>
              </a:ext>
            </a:extLst>
          </p:cNvPr>
          <p:cNvSpPr/>
          <p:nvPr/>
        </p:nvSpPr>
        <p:spPr>
          <a:xfrm>
            <a:off x="932688" y="4261104"/>
            <a:ext cx="10287000" cy="106070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238E1FB-0E19-E472-E71E-FEFA8AFAAFC7}"/>
              </a:ext>
            </a:extLst>
          </p:cNvPr>
          <p:cNvSpPr/>
          <p:nvPr/>
        </p:nvSpPr>
        <p:spPr>
          <a:xfrm>
            <a:off x="932688" y="4261104"/>
            <a:ext cx="64008" cy="1060704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914FB7-EEA0-33CE-C651-803E3CF706DC}"/>
              </a:ext>
            </a:extLst>
          </p:cNvPr>
          <p:cNvSpPr txBox="1"/>
          <p:nvPr/>
        </p:nvSpPr>
        <p:spPr>
          <a:xfrm>
            <a:off x="1097280" y="4370832"/>
            <a:ext cx="99943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읽는 법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BC6E1C0-ED68-DC44-ABAA-C48A779A990D}"/>
              </a:ext>
            </a:extLst>
          </p:cNvPr>
          <p:cNvSpPr txBox="1"/>
          <p:nvPr/>
        </p:nvSpPr>
        <p:spPr>
          <a:xfrm>
            <a:off x="1097280" y="4626864"/>
            <a:ext cx="999439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각 화면은 운영자가 실제로 묻는 질문에 답하도록 배치했습니다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막힌 이유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공식 숫자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변경 주체를 화면 흐름 안에서 확인하게 하는 것이 핵심입니다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71E9C8-5510-F86B-AE22-62CB2EFA66CF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DBE2F91-129B-CEC6-41ED-C618E8473303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16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96845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9B3BF17-A284-63C3-A087-A622E8CF3F23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A056788-44A9-BF19-3AB6-412A0DF03AE0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90A99888-D220-F8AF-005E-00C9DDA69220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39B5EF-5E0E-5ADA-B3EC-D2E82DD0F8E2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029DC0-3D9E-EBE5-7BC1-5BB51939D8FA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공개 홈과 데모 진입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412893C-5A9D-E4D7-008B-A4365F44716C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948383FE-C027-A2EB-980E-ED56790B5029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20A7D7C-E1DE-0861-9C85-88818B8D4D0C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7B5801C-F7A7-E44E-950C-285F3A3D5C8B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48D48B53-8E78-FB34-9F9B-01CF452E21B0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55534D16-CA4F-B998-15F3-EC22320DAB6E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6993BF-0227-C478-EDD8-5DEF3A74C730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DA2FAE-A13F-F8B8-259D-864E8AE27EF6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549A5-AB94-194B-E519-D2965ABBEF4F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01-public-home.png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AC3B93-5B10-48CD-9CA1-6056CDE49B8C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000605F-6B59-6100-B9D6-800D13B3F42C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1F13CF-1F01-E7AE-FC5E-4F3234BA507E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4E29201-22E2-6135-0609-40B48428825E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30737FB-EC01-13A2-8D74-BB5BB98A4F9A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F0CD7A9-94D0-3F2A-E664-D5DC345CCC13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831A05-AACF-39D6-82D8-5A0A8F9F9481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제품 목적과 데모 진입을 보여주는 공개 화면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E5AC480-4DAC-718B-CC4E-0809E01A6146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23631D5-C2C0-534A-DA8C-DB3200EEF8F0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5470CC-0BC9-5226-8B7D-E9526B078640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088B4A0-DE54-642C-79CF-96DD429D34CB}"/>
              </a:ext>
            </a:extLst>
          </p:cNvPr>
          <p:cNvSpPr txBox="1"/>
          <p:nvPr/>
        </p:nvSpPr>
        <p:spPr>
          <a:xfrm>
            <a:off x="7918704" y="3182112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데모 체험 또는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GitHub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로 이동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8A9366C-6CAD-D928-D0CF-EADDDE743A3A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E8F71C6-D770-EB9A-C585-B778A5A3A5DB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AF8A67-0236-B3BB-87AD-CEDC88C41B2D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046919-CC23-2220-D9EF-E7FF08EE900B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검색 메타데이터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FAQ,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공유 이미지 구성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0DA03D89-8105-1FA7-9EF0-E1D7F5CEAC7F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DA8ED3B-67B1-9C95-9FFB-F978A3EA2413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8DCB157-A83F-8F45-9FC1-02AD6C53242F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09BF73-52C3-A8D7-FC0E-C233999DDE5A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보여주는 방식까지 설계한 프로젝트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A52689-A73F-2B1F-8513-1772B7357622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919E3E0-32F3-16CC-9EB5-7EA9BDBF1ECD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17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059107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3686D80-580B-4B39-7D55-F6DC59FEC11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D34C037-8D9D-9025-5754-89D81711F231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5A4EA95-BC7B-5C34-C9D4-15AD75A4A149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80D909-F960-D7DA-D073-FA3E1377F196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130361-73AA-C1A1-67C3-4329889164DF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인증과 데모 계정 흐름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D7B1B845-81EE-209D-D665-9E056A9B2B62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3B655E0E-6C98-E762-C410-AD0F28272416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DF5809D-AD42-B48B-344F-E7C29119AC04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9060EE86-80A2-A409-FEDF-DC71A0A9D277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E018E09-B390-454D-7ECE-0AC46DE12F71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DF37D843-C903-96CB-6396-FD9935D2E999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3C1A5F-D145-3558-CC76-578AD735EE56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/login?demo=1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F07DD5-2C79-B00E-AC29-47736B93D620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BE3D8A-1A2E-2E04-87BA-C723ED6E688F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02-demo-login.png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4AE73F-A539-E985-838E-DE9EEB8120E7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A0A5ED9-692B-7DDB-76DA-3D9D9A372C60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0B910B-88FE-CE47-E666-D35F99F6ADD3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/login?demo=1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AD7BE26-FBD5-6C4C-8FE8-4457CAAA0A82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59B9C30-1E7B-8A69-A317-16806A03386D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56A257-5CDA-93FF-5FF5-3B1002310228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8B4103-B469-F277-CD30-BD326F0B589E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리뷰어가 바로 체험할 수 있는 진입 화면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047A814-F218-B444-F9AB-8ACB3C710DFB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D7C6ADA-FF31-5DF2-705F-A051B2C8797F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D7ED9F3-7434-B420-078D-6518CD2D4A3A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C53530-4424-CF11-DA4A-69DCA8A0CD54}"/>
              </a:ext>
            </a:extLst>
          </p:cNvPr>
          <p:cNvSpPr txBox="1"/>
          <p:nvPr/>
        </p:nvSpPr>
        <p:spPr>
          <a:xfrm>
            <a:off x="7918704" y="318211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데모 계정으로 로그인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1628438-B828-E1B5-E496-279220BD6D3D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66CE8A2-D209-C5F7-7C8B-49324DB33F8D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E6DB852-F7DC-3652-0E30-F6C06857E674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A1DA8DD-5054-5D9E-CE36-4E91BB775FDF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로그인 세션 갱신과 이메일 인증 흐름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3A80D66B-5DA7-739B-2536-67049807ADF4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2EDDC02-75BF-9B15-140F-ABBA568E1513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5AB7AFC-5A08-AB07-8017-34D9B933B5F3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0D735D-138B-440F-0361-602BD12B7417}"/>
              </a:ext>
            </a:extLst>
          </p:cNvPr>
          <p:cNvSpPr txBox="1"/>
          <p:nvPr/>
        </p:nvSpPr>
        <p:spPr>
          <a:xfrm>
            <a:off x="7918704" y="515721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직접 체험 가능한 포트폴리오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4D6A1AE-5FF0-A761-36F1-9476894C73ED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7A2F855-DF3A-5776-BB56-5C317A2C5937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18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69753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36349D3-A2A9-853E-F790-A93BD1BB08D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9247118-80AD-32D9-163D-46FFAF7EB5DE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DF21EF6-83D7-6773-1290-BE445C2B14BD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5D5A82-7FA2-94AF-3C8C-FA928038FBB9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1C6E10-CA1B-2BE3-B85B-05E44785C1AA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운영 대시보드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CE2711F-1BB8-DBB8-BA8E-F650CBBDDDEB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9DFB2188-FD5F-6DDF-DE21-2EC65A990296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699FE27-9D4A-5A50-8B98-B6F73AED08DF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F1B046F4-A5F4-D5F8-2E08-326DAA2E1CC3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9DB42EBA-1D91-EAFA-8C12-65B0B5B54300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8DC3B1AB-4AAA-62AC-A81C-3F0BFCCAF11A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401853-7499-DEA0-7D20-8B6285C9D456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/dashboard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A337DF9-D99C-409E-FB5A-4FDB8CFC8AB9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907CA1-D76F-EF7F-5375-04AB398D308C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03-dashboard.png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373F72-9D31-A2AC-86AA-9A47A8C27269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A04F7A5-B661-B743-CA87-9CA85A6E53F5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8F1E45-9CEB-9A97-00A7-4A406CE3BC9B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/dashboard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52DD72F-2E03-625C-E5EB-22975BBBF64E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BC52803-20C7-5E93-606F-A6CC3081AEC0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ECAEA3E-29CB-3F8B-3A52-1E2AA0838A63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019556-2777-55A7-6231-F3DBBD630AFD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현재 월 운영 상태의 시작 화면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9A6F0CA-B979-64A4-B362-8260B05EE105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904B6281-84C7-7055-382E-A105A77C7894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570EB8-74DF-52D7-9ED2-B9421A34AED0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0357CB4-0A95-127C-4314-E4463D86484D}"/>
              </a:ext>
            </a:extLst>
          </p:cNvPr>
          <p:cNvSpPr txBox="1"/>
          <p:nvPr/>
        </p:nvSpPr>
        <p:spPr>
          <a:xfrm>
            <a:off x="7918704" y="318211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요약 숫자와 다음 액션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3F21865-C717-A887-40FB-364F54CB25D0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CA49557-A8B4-CD0B-89CC-BB8315F8EEDA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9239AFD-5381-A123-04E5-4A2F3DED4A04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118C472-0262-6232-6AF5-B96FBF4CD65C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대시보드 조회 모델로 운영 데이터 요약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B8849B0-7365-1614-AA95-113489AFBE76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0305B4E-0320-064C-0727-A6E9391B3268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7451D4E-2416-2229-3968-F322F8902B06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E35B3B8-652E-F39E-B17B-A49936B0D139}"/>
              </a:ext>
            </a:extLst>
          </p:cNvPr>
          <p:cNvSpPr txBox="1"/>
          <p:nvPr/>
        </p:nvSpPr>
        <p:spPr>
          <a:xfrm>
            <a:off x="7918704" y="515721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운영을 한 화면에서 시작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1F2AA4D-8979-41DB-2FBF-A87F4DE81FBF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136AE1D-FFB0-E84E-5BEC-9B6BE6F95122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19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86281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5D44531-61E0-EF77-1D6F-FEB8270DE62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5BDCD57-318E-CD8E-3CE3-364B2453EA2E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05B95ADE-C44A-BEB4-73DC-FB1EC1278047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446047-8CA0-90A8-CDA0-18C36C978484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75C1C4-5672-8C00-5E88-03447B0B9061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허브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BFDE3397-8859-2C78-E2CE-BFF72BA55216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7E733C37-DBF6-CC9C-7BFD-B33347300D19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7E76C58-F7D1-CA0B-5F24-11398BEAADA8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4DF4D19E-4E54-0DBD-E05A-ACE5EA996236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B4ACA0D0-6C77-83ED-D175-468A7A418E14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3D131EDD-9013-78FF-9EB2-B04364CB601C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B4C6E9-C496-AF52-55C9-BF0C3DE47D8E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/operations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99D5D7-99DE-B391-60F2-71B43273DDE3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090E6CC-512E-16B7-A933-3AF64A763414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04-operations.png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FCEF27-E30B-D924-EF2E-ABBB8A4A73C6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E44845C0-FA6E-6EB9-F1FE-D7A78D19F1A4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7B0D82-1B68-3EE7-9296-AD2BA9EC41F4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/operations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673E996-3598-B3D9-5218-04491742F3FC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78C657C-262B-A005-CEE5-7F151CA7B9A2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433638-46CF-D661-7B5D-51A93E2D4502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2FE097E-0D86-5F81-7D1C-5F02255A20E4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전 운영 신호를 모으는 관제 화면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24BD510-02D8-4258-4AEB-09E4A74B5ECD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3458C3F-434D-B8B3-1DF5-32D5FC9F8AFE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57D636-EC75-44AE-4054-8EE1926DBB17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3012D98-22DB-B124-7267-3D775C0D52C6}"/>
              </a:ext>
            </a:extLst>
          </p:cNvPr>
          <p:cNvSpPr txBox="1"/>
          <p:nvPr/>
        </p:nvSpPr>
        <p:spPr>
          <a:xfrm>
            <a:off x="7918704" y="3182112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우선 확인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차단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알림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E937BD9-FC2A-4DCD-D939-D8F3CEADA906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4D8BB09-E189-40B7-A1C0-0DD78060AF9A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4D11601-AAB3-0369-2FE0-092F70CFAB6B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D4BA0E0-130C-6AA4-8587-E0DFD0866758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허브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API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와 운영 상태 연결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F47F135-2F7F-FF4C-A6F6-32CC013278A5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3FA499D-0284-E25F-DB79-F444CCF24B52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DC60486-DD74-D209-820A-3E3F2DD62384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A24DA61-6E6D-6D9A-79A9-60E6E35231EB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실제 운영자가 볼 화면까지 구성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4783C39-C315-D893-AE53-3BE90ECE65CA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762B0F2-3CBF-34D2-3C0F-932E28B71E60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20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757920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F9AA24E-9E4F-E1F7-4EE8-0521915EB9D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006ED97-7D2A-7086-EDDA-B40AC368C26D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E8B1415-EE79-062C-FE5C-27A847BD0D9C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32CCFB-5A05-56AE-5ADA-5395480F5C77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2A9163-87F4-28A1-824C-057BC54BCA62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기준 데이터와 운영 준비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D2C37A59-F53C-A912-82E1-44847C231044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A0E59972-3C7B-4929-F6D7-2273921CE860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B4435B9-213E-C64F-FA2C-55A990410164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A6866D5-7170-65FA-293D-70EB12D345E7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29E73605-3CA8-65A5-4079-FFC64CD86308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6DA69A6-DD2A-CAAE-BA40-A71CD6F8C552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D00061-973E-E9BB-80D5-6F66CBDA886D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/reference-data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832201-1D9F-148C-8D9C-6016A622CAA7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32E5D9-E107-2B77-7E56-772E3429BC34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05-reference-data.png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A159DCC-B59C-17D5-87BA-19D73B70A5DA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5664E1A-0155-EA37-C6BD-6525C9378F9E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28C0F1F-38E0-38C7-4D1C-88603E6E2C7A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/reference-data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AD3EF28-FB5F-74AE-48C1-55D94B348183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A937DA4-8458-3024-A9E6-9A30AB391B69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AE3EEB-8C3F-BD06-7703-F55B120243E3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70E51F-0344-4729-B159-9C8C83A62ACD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운영 전 기준 데이터를 준비하는 화면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99426F0-023A-C86E-F4A2-650BCFFD36FC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99B5C0EB-EEFA-EF32-ECAA-A7CFF63B0650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C3FF73-3925-70D0-B968-253682F5167B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87C8825-EE02-C9B0-EBE2-9941A07CD046}"/>
              </a:ext>
            </a:extLst>
          </p:cNvPr>
          <p:cNvSpPr txBox="1"/>
          <p:nvPr/>
        </p:nvSpPr>
        <p:spPr>
          <a:xfrm>
            <a:off x="7918704" y="318211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준비 상태와 부족 항목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865D062-4337-C6C9-E9D1-4B5FD148AE86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0422B38-1B7E-EF7E-6F91-97A451E6D3F2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DF97739-E16E-2895-9DF5-2B06F27D7580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4D8E35A-5315-CF76-7043-57938A98BAE6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자금수단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카테고리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조회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API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연결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90270B7B-FFB8-81CF-5CF8-5DEAB1709A5B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E350F4A-E6C8-A3BD-0E8E-7FED6F1F3C61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BE0E0E-7108-EEF6-FACC-8BAF033D1DB2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1794F79-E1E5-95D7-BD2A-F9A05CC9EF31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ERP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는 기준 데이터가 먼저임을 표현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701011-18DB-9B2D-3D5D-2F616B424AA6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CEDBC8-309B-69E0-83E3-DEA10EDAC1DA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21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11541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B929896-B2AB-3C94-1F1C-69BD50BC5A7D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B9C1DD1-42FA-4963-71F8-52644C368534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CC3C8F8-A90D-10FC-E31C-29AC853487E6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906ADB-F2AB-DBBD-092F-50F32A7F1BEC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DF595C-B35C-FC24-833D-89A067AF1F50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 항목과 반복 규칙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20B8B2D3-E01B-F9B9-7D1E-79F327AAE2DC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4E82E436-7197-C64F-0859-988325E97936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A438C40-B03C-0E0F-82D2-007779FF8977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A9A56CB8-13AA-04F6-01CE-601C6F0A581F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71549D40-2FF8-EE1D-5D40-B6C7BEE9B611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9EB1F424-11CA-FF5B-0DDD-BF01C998A252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9F9412-F42E-FAC7-7564-1D0112629AE3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/plan-items, /recurring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FD57A1-FAE8-6D6F-D294-ADFD8659EDE8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FFC52F-BF57-9ED1-8E30-8E40BF8C8213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06-plan-items-recurring.png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E6AF61-36B9-7100-6962-ED664703D423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65C8C542-3FE4-8D65-E7BE-BD222549E06E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6286F69-EE9B-08B9-3982-C76616E2A67B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/plan-items, /recurring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3AD20FE-B8CA-EE52-29F6-9FD4952436F2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52B49DC-1C1C-D008-B430-2308E162BA04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65CB4D-371B-3738-C436-D32C41214E2C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E46016-BDE2-8F77-E16C-AF5563D7CE7E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예정 거래를 실제 흐름과 잇는 계획 단계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5430970-C0F5-5A7F-5CA5-1D8A7704487B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C7F6766-A8E7-5A93-830D-A0D3D2C72A11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8F5403-2616-6E51-B9B8-F008638F561B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EF63D8-84BB-96CC-3FA6-450DD094AF0D}"/>
              </a:ext>
            </a:extLst>
          </p:cNvPr>
          <p:cNvSpPr txBox="1"/>
          <p:nvPr/>
        </p:nvSpPr>
        <p:spPr>
          <a:xfrm>
            <a:off x="7918704" y="318211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반복 규칙과 계획 항목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2F0357E-7C4B-2FC5-BB17-C638E6ED0CB7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EE33505-DBA0-56C6-DD6D-33D01E1865F0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4BA245-0733-07CC-70AF-7FE0B690127F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8DD4410-98EE-3BD4-A50C-84B3EC28DAA4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반복 규칙과 계획 항목 모델 연결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A6441DE-AE2A-54A3-3EDE-7557AEFCA379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3CD6A5E5-DCC5-35D1-303D-2A124D5BB2FD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DF09692-556E-1937-C3A3-F862B8A356B6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FB3BDB6-88BF-1A86-13E2-F9C63D240E33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사후 기록이 아닌 월 운영 준비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A8F92B1-EBF6-9349-C1F1-D59A4C618ABB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D97619C-776D-DE9C-DBE2-6CF80CBF410D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22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569857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1ECF68E-F741-F979-E56A-C55384A2D93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1EE6BF3-4CAD-2EDB-445D-BC614792E3B3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485637C6-703D-1D87-779E-383857858DF2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DC365F-4168-1071-4E9F-13B8FD12E802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2D9EE8-2798-DDC2-AD70-F91079EBF00B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자산과 회계 연동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8E22DFB9-B137-3BB9-8D42-1C14C468FF8E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1568D1A0-54B6-2D9D-995D-00ED465AEBC0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4B97B35-998F-49E7-6302-4ABBB5DF4B90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3F875F64-DB08-E61A-0AC4-ED77DC7F9463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685565C3-0C7F-37EE-811E-444907394572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2893B56C-CD9E-9961-E737-AAAB6CF96530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263691-2996-F709-1609-82F4521BFF3B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/insurances, /liabilities, /vehicles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594113-FBD9-F0C7-369E-5049FCF38415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402E17-477C-EB20-7D3E-F01EDD60A7E6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07-operational-assets.png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3C0B01-1A96-E9CB-40F5-2F3A35D5B8CC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9AF4FD1-DABE-3044-330E-24ABCE2965AF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767935-ED36-A7F2-D4E7-393E6E39AB12}"/>
              </a:ext>
            </a:extLst>
          </p:cNvPr>
          <p:cNvSpPr txBox="1"/>
          <p:nvPr/>
        </p:nvSpPr>
        <p:spPr>
          <a:xfrm>
            <a:off x="7882128" y="1444752"/>
            <a:ext cx="315468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/insurances, /liabilities, /vehicles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C56E100-5BBD-A303-20B0-59686ED5F3B9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CB711A5-DE8A-B742-A277-93803DA83FA0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0D6DA2D-C225-230C-4EE7-FBB385527A09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65257FE-9F34-AB18-1A2B-57ED369D8FC1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보험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부채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차량을 월 운영과 연결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639BA11-1F2C-6115-A2C5-59D128A41D55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21CA96C-71CA-CF7D-163F-A91E91C932B5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A9777E3-97D7-5C5A-66D8-A437050C391D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2CDF64B-2D3B-20E5-3001-4693791583C1}"/>
              </a:ext>
            </a:extLst>
          </p:cNvPr>
          <p:cNvSpPr txBox="1"/>
          <p:nvPr/>
        </p:nvSpPr>
        <p:spPr>
          <a:xfrm>
            <a:off x="7918704" y="318211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보험료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상환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연료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정비 관리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F9E9492-4209-C899-4A7F-B75AE68741FA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5236958-E6D5-FDD5-31FE-72A20FAD78A6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2AAF12C-6F19-2149-A793-B374B81B3E19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CDEDA6-F1E2-B6AE-392C-A61B55E947A0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상환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차량 비용의 수집 거래 연동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3F955A2D-148C-0734-78F0-BEBBD05BAB90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50BB029-E20E-ADBD-7206-946EC59C5E09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6409F72-8A9B-7721-E74B-3E24798E0745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2D5061F-B6F5-7CE6-953F-1B3BCCBA0864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단순 거래장을 넘어 운영 자산까지 확장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516BB30-8C71-E13D-D40B-04405C1955C3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E19198-D9CB-6379-A2CC-9B135A6A1E5C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23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44564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A58C111-65AF-A7E1-9AF7-21A484CC59B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78099BB-DB5F-8DA1-EE55-87782EBBC676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CC8FA2A-DCD0-14AD-FD37-C0A94365C35D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6FF8C4-E4A2-FAA0-BFE9-71B965A991CD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6F6982-145E-6B9E-0570-E8DC3BF26E48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B244BA6-EB25-0492-E873-FB8C8EA6B168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E0686F-35A3-4EE4-5BA8-F8F82E81FE61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52E0F1E-9130-3A17-A23D-F822218A3CCE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7D74200E-D91F-886E-8CCA-8BF1661437A0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0F6D5F2D-6535-885E-6DA1-60EA4C8CD002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AA2DD378-6D5B-7345-3A50-0D3831CB38D9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09EFDF-114B-3401-4249-4805D4700447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/transactions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1ACC65-467E-900A-9962-6F5784E7AF44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0D80F9-02FC-3CCC-8802-BE657B8F7287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08-transactions.png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B028E2-FC5F-35B6-D8C1-C5D97330D09A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40F48AEE-F62E-C05D-34D6-8ABA1E03207E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086683C-49A0-E58F-D954-713BACAB59A9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/transactions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B467B0D-C2FF-62E3-A0EB-A2FC5E2DF90A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6327E54-58F0-2C46-1623-15C084FEF1FE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F6FEC5-AA34-86C3-3BE3-157139DD7A4B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8AE9DD8-D9F1-47F1-B642-7960F943DC70}"/>
              </a:ext>
            </a:extLst>
          </p:cNvPr>
          <p:cNvSpPr txBox="1"/>
          <p:nvPr/>
        </p:nvSpPr>
        <p:spPr>
          <a:xfrm>
            <a:off x="7918704" y="2194560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공식 전표 전 거래 검토 단계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DDB7259-74FC-C804-90D1-ED9ED3EE33D7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F46BCDB-534D-8D26-55DC-83484DAFD4A0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4C0922-0DED-FD07-BC00-48B5FCD189AF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8AA9DE-640E-905B-030B-11474FB15C93}"/>
              </a:ext>
            </a:extLst>
          </p:cNvPr>
          <p:cNvSpPr txBox="1"/>
          <p:nvPr/>
        </p:nvSpPr>
        <p:spPr>
          <a:xfrm>
            <a:off x="7918704" y="3182112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금액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분류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 연결 후 전표 확정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E09F783-726B-EA61-CDFC-4318DF202A47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BBA0AE9-DAC2-072D-510E-C4D6B6F7017F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60FAF90-89C6-D7F7-2EA9-B3ECC2778571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FEC5566-EF8F-5CA5-D569-8CE2A460107E}"/>
              </a:ext>
            </a:extLst>
          </p:cNvPr>
          <p:cNvSpPr txBox="1"/>
          <p:nvPr/>
        </p:nvSpPr>
        <p:spPr>
          <a:xfrm>
            <a:off x="7918704" y="416966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거래와 전표 모델 분리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9587CC7A-0498-892B-9E6C-F7163CEFCD9C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1481D66-949E-81C8-932C-77205334A789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4BAB728-E229-C62A-C0D1-80D567CF9691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5142B85-C811-C7CE-C7C4-86510BFD0C0E}"/>
              </a:ext>
            </a:extLst>
          </p:cNvPr>
          <p:cNvSpPr txBox="1"/>
          <p:nvPr/>
        </p:nvSpPr>
        <p:spPr>
          <a:xfrm>
            <a:off x="7918704" y="515721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회계 상태 전이를 설계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B35C42F-E755-8780-E135-50E84C23CB84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31F77D9-61D5-32D1-6D66-DE097F4272CC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24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313202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B2EA83A-DA35-9149-FA91-56D734FCE6E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E22CFC6-CD54-3CCC-45CC-583214F24466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5B985D6-9637-9111-3F52-60BEAA0486CA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DB74C5-73FC-4D02-4057-EDFC23FBB723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23B5EE-9F7A-67B2-3CF4-273A0E1C0230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업로드와 수집 처리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263429BC-DBD8-FE8B-DA90-DF8E36EBB3AC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10373E2F-F4D9-898A-94B7-48D885E8A632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10C0614-8857-12A1-C154-D15F56045275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E5CE269-9BD2-C16B-7EBF-DA9B4EA4A5CE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39F5060E-3FB9-8A4D-C23B-91805B3C4A3F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AF2DF37E-E15A-8A71-BED1-3293853BF3EF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66F693-25E4-B822-1E31-59D06E9A2275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/imports, /imports/[batchId]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3E5252-FAA7-A644-2897-46C2D084D5BA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F145C6-88B6-5FEC-0A62-FCA81FB5724B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09-imports.png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8D32FB-31AF-7567-09C4-D22CACE384B1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77686300-3459-8843-D2C9-27C81F3042D0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461280-2317-614E-043A-E89C45AEA0EE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/imports, /imports/[batchId]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765C816-25ED-A02B-84FE-427C3316DB95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B6A89E8-6613-B04D-BD12-80272265F92C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DF1916-0C57-B433-E473-317B99A4BD61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D2A0DA-4892-3512-8223-0969005D6A02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외부 원본을 거래 후보로 바꾸는 화면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9069A2A-03D1-FF23-C3B1-C9730676097B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BD5709E2-A143-C55D-05D4-4AA9BE55F194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23D3E8-4AFA-B7F1-D226-AB9F37CF7E2A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AE0352-FCBF-3B33-396C-3EF364BC6E29}"/>
              </a:ext>
            </a:extLst>
          </p:cNvPr>
          <p:cNvSpPr txBox="1"/>
          <p:nvPr/>
        </p:nvSpPr>
        <p:spPr>
          <a:xfrm>
            <a:off x="7918704" y="318211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행 상태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중복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일괄 수집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CB888A6-053C-281B-986E-5E45AB343422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726D194-BFCA-8941-985C-D570D2F0A0B6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575956-5CAC-4D2B-8CBD-6EC2972E7DC6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46CA48D-BBC7-BC2B-11A9-C6852B20925F}"/>
              </a:ext>
            </a:extLst>
          </p:cNvPr>
          <p:cNvSpPr txBox="1"/>
          <p:nvPr/>
        </p:nvSpPr>
        <p:spPr>
          <a:xfrm>
            <a:off x="7918704" y="416966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원본을 수집 단계로 승격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10A2AF59-00A8-A104-3BE6-2D078B4BA813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052ACBA-F392-9C95-4B0E-C196B812E11D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E001A0C-5AA1-89D8-AB0C-AD58CFC17194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4EDB862-8A10-0B0E-684A-1003F51C75E4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실제 운영 데이터 유입까지 고려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B7C0309-9BC6-E827-F9D8-A2809C55A8E3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A989D98-F958-776A-6A52-337B842091DE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25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40177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FCDB5EE-880F-EDDF-D87D-78ECC2DFE70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2280637-DD1D-8515-5B05-FD75F44594DF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41BF0ED8-7A8B-67A1-C7EA-6A021474ED59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A20293-CCFD-1063-FA3D-7240778494A2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230A61-3B85-5C22-69DB-74C45F1DCE10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 조회와 정정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FA380253-9869-E539-AD7D-E15DC7DBEB5E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0D48C388-0226-20C0-231C-CAC8770DBF3F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66AA16D-5A3C-7C96-B122-F3FA0369B1B4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34AB1FAA-8D35-DC69-091B-AD68DFDC8B99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183C218C-A9A5-43B8-7410-D4F54A22FEBA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FF7FA14-9AD2-0420-5BF3-FD948F2C1FFA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2C9A3A-B2B0-65FF-E6D4-E18830D98EEA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/journal-entries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A18211-99B1-EB0F-8921-692345C61B52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351093-3101-C1C9-1268-A435DF263FD0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10-journal-entries.png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B80C42-8FCE-D172-04B0-09BC78709E8A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5569E214-E01B-AC0B-0769-5A1E36490EE5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5B232C-6A82-731A-429F-05F28C124DB4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/journal-entries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F30E72F-AA21-942F-8070-513C9C1EFB04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EB00C69-B2A2-C592-7815-5ACDD60280CE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003F62-5B20-B9E9-B7C3-F1BC0BBCB6CC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ACB2DE-D236-C17E-CD57-54DBD62ACA9A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마감과 보고의 기준인 공식 기록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E88C068-3E37-0DFB-8CA6-46BF518B79AD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BD1C11D1-6145-CCDB-E2AF-7F274159B801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AAC3A25-104E-A430-E516-5D635EC6B351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09A5B3-73C8-A62F-A4A1-EC9BDF8EDD75}"/>
              </a:ext>
            </a:extLst>
          </p:cNvPr>
          <p:cNvSpPr txBox="1"/>
          <p:nvPr/>
        </p:nvSpPr>
        <p:spPr>
          <a:xfrm>
            <a:off x="7918704" y="3182112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 번호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라인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반전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정정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4E6F4B4-6207-9D24-76ED-58EB2C4F5164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36C5963-B07F-B11B-AFA7-38320F7A6513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045D1EA-4655-218F-608B-85FA2BA66DF0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398E07-536F-96C4-B60C-6DC75669BFD8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확정 후 수정은 반전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정정으로 추적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2AADF046-D157-B811-A4BB-69C3855CF968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A2C676A-9CE7-453D-CF4C-55D89F669A2B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D9AA35-B522-380F-760A-7C18A850EEBE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C158AED-4F80-85D6-E4B8-DAA6499DA027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회계 경계를 화면으로 설명 가능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1A52357-62C3-27EB-08B7-727AD923AEB5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A597A10-6339-AC24-C12D-7EA35817BF31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26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25735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1286CAB-1AC9-1F80-8E17-F9B2D56CC47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218D8B2-67D6-E9C3-8407-5700ADAFD7B8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4F21056-BD26-E2EC-6C70-FACFF2CD9A70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DF0E67-EA3F-387A-14DF-4E43CD21BBF4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E48943-EAE6-6388-FB54-46AB37578291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마감과 재무제표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40876887-4C3E-A73A-51EC-AA5589730584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351B4F75-B2E7-647B-AA2D-22AC5A649199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00E241B-F3F0-974C-505F-DB23014FE870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1EC13C67-34C2-1420-7404-428DD8828D9D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78D73A9-40B6-07DF-6521-A20EAFEFB14F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28BBCF8A-9095-9C45-AE1A-223A3DA467A0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4C3968-C530-E541-6C94-5DCF784ED536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/periods, /financial-statements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832EB0-AC7A-374F-B2B9-3BC6D08B180A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8C8CFB-3EDF-128D-F739-992674E01B36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11-periods-financial-statements.png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EAB63C-00D0-6C61-DB17-DB8927960F0D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1E7A38D-482A-B6E7-ADD2-055CAD9DF1AB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3A7E22C-5BE0-B127-0E9A-2D4B5C0324D5}"/>
              </a:ext>
            </a:extLst>
          </p:cNvPr>
          <p:cNvSpPr txBox="1"/>
          <p:nvPr/>
        </p:nvSpPr>
        <p:spPr>
          <a:xfrm>
            <a:off x="7882128" y="1444752"/>
            <a:ext cx="315468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/periods, /financial-statements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6DFBBD3-956C-C9DE-A70A-9F2790B40626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91AEDEF-1C20-F076-787E-D5D12C7AF4E5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38D1A9-4325-0591-4B39-6E6FAC2A0FEB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FE93D87-98BE-5788-E051-5DF8D4A01A90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운영을 닫고 보고서로 남기는 화면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BE78670-DC0D-33C0-5F69-5DEF5A0E5963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73C4CC8-09FF-DE44-1112-074A99E0C346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E4F2E97-EA56-C0C1-2C02-E3DAA29B8163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C57A81-6582-5387-166A-0CBF0235B8D7}"/>
              </a:ext>
            </a:extLst>
          </p:cNvPr>
          <p:cNvSpPr txBox="1"/>
          <p:nvPr/>
        </p:nvSpPr>
        <p:spPr>
          <a:xfrm>
            <a:off x="7918704" y="3182112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조건과 재무제표 스냅샷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A249D84-E9F9-9490-9BC7-02675F42F9A7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AF615F4-A6E9-F396-12A9-B6554993A5F5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3C30B4-53E2-2BD8-0F6A-0992094E4EE1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58D7471-8EB9-891B-D398-6362BDDB057A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잠긴 운영 기간과 재무제표 스냅샷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040C68F9-01CD-2BC4-FE14-3D8232B7C85A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2430221-385D-7C07-A396-464FD7D4998A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94068E-51AE-6B32-3288-4547D5A8FCC1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CB3AEE9-46C5-8D72-B23C-194CAAFCB731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운영 마감 흐름을 직접 증명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3C1059-028B-C924-89BF-6340458F79C2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9E80FEA-CA2C-DF20-527A-CCFEF0564633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27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503324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281A108-30A5-F2B8-00C6-1EC79CB371B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2F5C643-FB86-221C-8B40-C2A0B1035B0B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DD37E89-E391-9AE2-6C46-68E480672216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812CC9-ED9C-B005-765E-F4E28D894D9B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A8D071-D1B0-E05D-ECF0-F179CA303A3D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자금수단별 현황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26865624-B395-B96B-9A79-6686963C3869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678BB830-B3BE-FE5B-96FC-9C98214FDBC0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D651E0B-9E1E-5C1E-1D0D-0FB024D3A1B3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A8A4E7B-FA9D-44B7-CBF7-E5203FD7C292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7781CCE2-277D-70E2-1B12-65809DE41BA0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6184C0E-9429-E1F7-447D-322919F81A19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449854-A503-FD8C-9165-5BE2431203DB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/funding-account-status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33ECB3-2A9E-96D1-A948-695942A7FFD6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3B396C2-2D10-C4D7-5BCB-C2525977E88A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12-funding-account-status.png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ED0DFF-1C06-643A-5BFB-1C178242E0B8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9451F41C-65D4-AB68-0FE3-72027BA21C5F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B0FBA-6435-A564-FD2C-B1B56006F9AB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/funding-account-status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35E17F5-FDA9-71E9-134C-C0E91DCA5352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F87901A-19C4-02A0-86BD-2E21758268B1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9EF323-C4E2-6184-7944-BDC4F73C27CB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9557002-7808-5F7E-D7CE-711A13E545FB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숫자와 확정 숫자를 비교하는 화면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3F6C76A-62D2-9FC8-6CFA-8AD94FC40676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CC7FEF5C-24D6-F991-FC4F-1689BAF9F65B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53BBA6-B019-48AB-D4D5-1585E521597C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18F8F9B-7099-BF0E-63DC-7583CBA843BF}"/>
              </a:ext>
            </a:extLst>
          </p:cNvPr>
          <p:cNvSpPr txBox="1"/>
          <p:nvPr/>
        </p:nvSpPr>
        <p:spPr>
          <a:xfrm>
            <a:off x="7918704" y="318211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통장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카드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현금 흐름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19FC66D-3A10-98A9-2C91-3FFD892EF8BC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53ADDEC-1BCE-0451-4B09-E11650314A35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3E1F72-24FF-6179-3787-AC570629EB89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B3270A1-0B15-83C5-DEAF-4A87C643B553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기준과 확정 전표 기준 분리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1775294E-DAF7-C561-BED5-6E9FE3E333AD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131EB21F-6BFF-0B04-8404-7CFAE46776A8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AC526EF-6177-B861-C407-7D8659C4344F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898F2FA-D1D4-CE42-AE28-4985D6C6050D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판단과 회계 기준을 함께 제공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B85FEF-CA0E-C2BF-8F9A-8DC668A9D748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1E7CD06-266C-561C-E0D2-58068DA7D6DB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28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88161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D9F4D55-20C2-5832-2BD2-ED7B0657C04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2BBFBA2-1409-28D5-2447-4491B1CEBBE9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45676436-CB3C-CBD1-12D4-C924576C5E90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B1D889-3ABC-70EE-5667-7BBA0A66F77A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DECB64-CDA0-FB63-2A1A-5ECE3DBFFDA4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차기 이월과 전망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87A3CFC4-6F7A-9859-A380-3317B011D376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0CBF0910-8259-D214-226D-078C6952C52D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5F1AA75-2034-A4D9-FD28-65039EBBC0B9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318E9B8-C89D-6F5D-6623-397A6190FAF9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871AE4A7-D5F6-66C8-BC99-297C0275D4A1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6EC2FA4F-8B55-CBA2-764D-E629818ED6B1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BB2878-19F3-AC01-807D-8ABF80A5B6C6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/carry-forwards, /forecast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4D1403-F2F3-583A-450A-8AAE4119249D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D0D30E-C22A-ECB7-723A-8D65D7DE6D45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13-carry-forwards-forecast.png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B7BE5A-FD89-DD13-1269-7D3BFCE909A9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D26712B2-4E52-1C72-4FC0-414CA3645053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DF36CDA-5E0C-A598-E134-B49649300012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/carry-forwards, /forecast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72B6346-FD86-EA2B-05B9-F4E2FE27B8C9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391E7DA-E99F-E9EF-ECCE-13E916BAB853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D46276-E9EF-9C02-AD83-F72B1647C459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8E8292-3588-82CD-9E61-85476E6FC492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결과를 다음 월 시작점으로 연결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15DEB80-12C2-A9DD-E4B2-C016F7A0DFB8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790234C-8557-DACF-E290-D23FF2BEF22A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6E4D43-3C6A-B06C-D59A-D30DE8E34412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2BFDF41-6AF8-A90F-B5A5-40DF31A5E44D}"/>
              </a:ext>
            </a:extLst>
          </p:cNvPr>
          <p:cNvSpPr txBox="1"/>
          <p:nvPr/>
        </p:nvSpPr>
        <p:spPr>
          <a:xfrm>
            <a:off x="7918704" y="318211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이월과 다음 달 전망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FED9CB2-AA69-08AD-C237-56CEC9ECD965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59296B5-58EF-B13F-95CD-BD129135936C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C109752-80C0-57DE-32E7-00501821D927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4B8A2B-A452-6E5D-8B7B-E8F5FADFCA4F}"/>
              </a:ext>
            </a:extLst>
          </p:cNvPr>
          <p:cNvSpPr txBox="1"/>
          <p:nvPr/>
        </p:nvSpPr>
        <p:spPr>
          <a:xfrm>
            <a:off x="7918704" y="416966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스냅샷 기반 차기 이월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9843668-2779-004D-824D-8DD5C118B2DA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12598FF4-D465-E0F5-838F-85A223AAF384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1A779AA-854B-E64C-5B7D-42E21E876BAA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1B81E59-0872-9E06-612E-26166A6C0588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마감 이후까지 이어지는 제품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ED44B14-C756-ACE8-9503-6CFCF55EF92B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CCFDB7-9102-2195-B77B-E8D180CC5D36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29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429234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D1F09D2-65CF-503E-1278-B09E8AAFAED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5B4BCA6-8343-EC9B-7E67-66BD60384930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0E69600-05E1-16F5-2578-B80B844589BC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F96D7B-267A-7DE3-31C9-673DB9088EBB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7C296A-9D16-FB52-5CD3-BFFC8ADBF2E9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관리자와 설정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F6A98883-C525-5C18-9087-36E57F5DF57A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5C3EBC49-53FD-A428-374B-557381E54011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0ACDCCC-8EDB-1E83-A991-8B05B55C212F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1C0EBA4-80F5-1BC7-CDD1-09774F837FCB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C0C80363-196C-2C80-3A33-3A576B5E12F6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E3926E7C-B791-9EE3-F68A-91EF2FC8D94B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7E101A-7D3D-4BE4-1DA8-A4E1FC5D0F33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/admin, /settings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FB6BFF-E53E-F0FF-47C9-450E7668DEA0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3177A06-6D36-0F28-2AAC-4EF420D82CFE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14-admin-settings.png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F7877A-9463-12AF-EC52-94B3EA7CAF5C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4FA4895E-7F9C-EC41-3918-568DC09214CD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DDF913-517C-AF81-7FB3-F03B88C52885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/admin, /settings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476DF2F-B033-9916-9446-A458B3DDBE17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421437E-C1B0-98FC-16EB-A3B595F252E8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95966E3-78C2-B1BA-C77B-66212B5D49FC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9DBD044-D755-7AA5-109B-EE5730615D34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권한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로그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워크스페이스 관리 화면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5F16F8D-3E94-95DA-399D-33903AD99DCC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DD9CD2A-D8A7-EC4F-7CCA-D025E664DFF9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17DCA92-DB84-3350-745E-858E74DF041A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1C7954-844A-2D2D-4185-BDF48A8ADAC5}"/>
              </a:ext>
            </a:extLst>
          </p:cNvPr>
          <p:cNvSpPr txBox="1"/>
          <p:nvPr/>
        </p:nvSpPr>
        <p:spPr>
          <a:xfrm>
            <a:off x="7918704" y="318211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멤버 역할과 감사 로그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0B5D12C-4A69-7B07-FA43-AC5BECCC5E4B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0341CF9-57B8-4CF6-0D55-9A58A36D8D8B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D00DDC1-B017-E23C-2FBE-289414994A17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BDDBFD-90DC-2929-8ACA-4B9E2B58E00C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관리자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API,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메뉴 관리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로그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F568C77-FE81-58BA-E071-E218470FABE9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18F205AF-E8E7-1694-23C4-F0B6C05A239C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A6CCA3-69B9-B329-31D7-D4833E807469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BC0C615-6CD2-6837-670B-3C30D15FAE62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제품의 관리 표면까지 포함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4277F8-F833-B905-37AC-8C1F4439969E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B84ADB4-892E-DB7E-4FD0-576EA2D4AF1B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30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42543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69EF962-7E58-1797-CC63-A0A02C13B5A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10A1207-BFEC-F355-A854-7C4E75D8796D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1FBE58DE-B844-BAA8-5C97-BA682731646F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81ADB7-838A-764A-4073-DB491E54B02A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QUALITY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A4E5E1-5F47-B134-FD4E-5A20A41145FC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검증 체계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166CE621-A858-C5DE-B663-B34A424140EB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707A3F55-02AA-DE6C-3E9C-8461EC4956F0}"/>
              </a:ext>
            </a:extLst>
          </p:cNvPr>
          <p:cNvSpPr/>
          <p:nvPr/>
        </p:nvSpPr>
        <p:spPr>
          <a:xfrm>
            <a:off x="685800" y="1417320"/>
            <a:ext cx="23774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E69097A-C3D3-D3BC-BF2B-C6410C653244}"/>
              </a:ext>
            </a:extLst>
          </p:cNvPr>
          <p:cNvSpPr/>
          <p:nvPr/>
        </p:nvSpPr>
        <p:spPr>
          <a:xfrm>
            <a:off x="685800" y="1417320"/>
            <a:ext cx="2377440" cy="73152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A8EEED-F739-4BBB-2887-F7583928250C}"/>
              </a:ext>
            </a:extLst>
          </p:cNvPr>
          <p:cNvSpPr txBox="1"/>
          <p:nvPr/>
        </p:nvSpPr>
        <p:spPr>
          <a:xfrm>
            <a:off x="777240" y="1618488"/>
            <a:ext cx="21945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pPr algn="ctr"/>
            <a:r>
              <a:rPr lang="en-US" altLang="ko-KR" sz="26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61</a:t>
            </a:r>
            <a:endParaRPr lang="ko-KR" altLang="en-US" sz="260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D2F285-672A-2586-3BCE-C7505649B650}"/>
              </a:ext>
            </a:extLst>
          </p:cNvPr>
          <p:cNvSpPr txBox="1"/>
          <p:nvPr/>
        </p:nvSpPr>
        <p:spPr>
          <a:xfrm>
            <a:off x="850392" y="2075688"/>
            <a:ext cx="2048256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Web </a:t>
            </a:r>
            <a:r>
              <a:rPr lang="ko-KR" altLang="en-US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화면 경로
문서</a:t>
            </a:r>
            <a:r>
              <a:rPr lang="en-US" altLang="ko-KR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-</a:t>
            </a:r>
            <a:r>
              <a:rPr lang="ko-KR" altLang="en-US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코드 대조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D13B9E7-C89E-AD89-7DDF-FBEA4DC0B87F}"/>
              </a:ext>
            </a:extLst>
          </p:cNvPr>
          <p:cNvSpPr/>
          <p:nvPr/>
        </p:nvSpPr>
        <p:spPr>
          <a:xfrm>
            <a:off x="3447288" y="1417320"/>
            <a:ext cx="23774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579729D-B3AE-AD42-6169-DFCBF4A0C0A6}"/>
              </a:ext>
            </a:extLst>
          </p:cNvPr>
          <p:cNvSpPr/>
          <p:nvPr/>
        </p:nvSpPr>
        <p:spPr>
          <a:xfrm>
            <a:off x="3447288" y="1417320"/>
            <a:ext cx="2377440" cy="7315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677E1C1-A22C-9F2E-5886-A749DB6F8C8D}"/>
              </a:ext>
            </a:extLst>
          </p:cNvPr>
          <p:cNvSpPr txBox="1"/>
          <p:nvPr/>
        </p:nvSpPr>
        <p:spPr>
          <a:xfrm>
            <a:off x="3538728" y="1618488"/>
            <a:ext cx="21945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pPr algn="ctr"/>
            <a:r>
              <a:rPr lang="en-US" altLang="ko-KR" sz="26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136</a:t>
            </a:r>
            <a:endParaRPr lang="ko-KR" altLang="en-US" sz="260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B69713-0BAF-8EAD-2474-925EB4403CE3}"/>
              </a:ext>
            </a:extLst>
          </p:cNvPr>
          <p:cNvSpPr txBox="1"/>
          <p:nvPr/>
        </p:nvSpPr>
        <p:spPr>
          <a:xfrm>
            <a:off x="3611880" y="2075688"/>
            <a:ext cx="2048256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API </a:t>
            </a:r>
            <a:r>
              <a:rPr lang="ko-KR" altLang="en-US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작업 수
명세와 컨트롤러 대조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F89368B-A851-6112-2926-7CE02FA81269}"/>
              </a:ext>
            </a:extLst>
          </p:cNvPr>
          <p:cNvSpPr/>
          <p:nvPr/>
        </p:nvSpPr>
        <p:spPr>
          <a:xfrm>
            <a:off x="6208776" y="1417320"/>
            <a:ext cx="23774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5476BEB-D1A9-17A9-31F6-A3742A690C82}"/>
              </a:ext>
            </a:extLst>
          </p:cNvPr>
          <p:cNvSpPr/>
          <p:nvPr/>
        </p:nvSpPr>
        <p:spPr>
          <a:xfrm>
            <a:off x="6208776" y="1417320"/>
            <a:ext cx="2377440" cy="73152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324C55-129D-70A3-98D3-32D69E4B63EB}"/>
              </a:ext>
            </a:extLst>
          </p:cNvPr>
          <p:cNvSpPr txBox="1"/>
          <p:nvPr/>
        </p:nvSpPr>
        <p:spPr>
          <a:xfrm>
            <a:off x="6300216" y="1618488"/>
            <a:ext cx="21945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pPr algn="ctr"/>
            <a:r>
              <a:rPr lang="en-US" altLang="ko-KR" sz="26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</a:t>
            </a:r>
            <a:endParaRPr lang="ko-KR" altLang="en-US" sz="2600" b="1">
              <a:solidFill>
                <a:srgbClr val="D97706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CBF4F0-B20F-DA0F-FC63-E4F0F447218A}"/>
              </a:ext>
            </a:extLst>
          </p:cNvPr>
          <p:cNvSpPr txBox="1"/>
          <p:nvPr/>
        </p:nvSpPr>
        <p:spPr>
          <a:xfrm>
            <a:off x="6373368" y="2075688"/>
            <a:ext cx="2048256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런타임 보안 예외
허용 예외 </a:t>
            </a:r>
            <a:r>
              <a:rPr lang="en-US" altLang="ko-KR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</a:t>
            </a:r>
            <a:r>
              <a:rPr lang="ko-KR" altLang="en-US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건 기준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C6E3939-823E-0E1C-E954-F640BBE6E830}"/>
              </a:ext>
            </a:extLst>
          </p:cNvPr>
          <p:cNvSpPr/>
          <p:nvPr/>
        </p:nvSpPr>
        <p:spPr>
          <a:xfrm>
            <a:off x="8970264" y="1417320"/>
            <a:ext cx="23774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A14CD10-2914-D6F7-C8B9-6B347B88D438}"/>
              </a:ext>
            </a:extLst>
          </p:cNvPr>
          <p:cNvSpPr/>
          <p:nvPr/>
        </p:nvSpPr>
        <p:spPr>
          <a:xfrm>
            <a:off x="8970264" y="1417320"/>
            <a:ext cx="2377440" cy="73152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6431A34-9BEC-98CB-58AE-D83D04795817}"/>
              </a:ext>
            </a:extLst>
          </p:cNvPr>
          <p:cNvSpPr txBox="1"/>
          <p:nvPr/>
        </p:nvSpPr>
        <p:spPr>
          <a:xfrm>
            <a:off x="9061704" y="1618488"/>
            <a:ext cx="21945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pPr algn="ctr"/>
            <a:r>
              <a:rPr lang="en-US" altLang="ko-KR" sz="26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5+</a:t>
            </a:r>
            <a:endParaRPr lang="ko-KR" altLang="en-US" sz="260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E01D976-F184-A1D1-91AD-1ABEA7AA08C5}"/>
              </a:ext>
            </a:extLst>
          </p:cNvPr>
          <p:cNvSpPr txBox="1"/>
          <p:nvPr/>
        </p:nvSpPr>
        <p:spPr>
          <a:xfrm>
            <a:off x="9134856" y="2075688"/>
            <a:ext cx="2048256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검증 축
문서</a:t>
            </a:r>
            <a:r>
              <a:rPr lang="en-US" altLang="ko-KR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타입</a:t>
            </a:r>
            <a:r>
              <a:rPr lang="en-US" altLang="ko-KR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브라우저</a:t>
            </a:r>
            <a:r>
              <a:rPr lang="en-US" altLang="ko-KR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·DB·</a:t>
            </a:r>
            <a:r>
              <a:rPr lang="ko-KR" altLang="en-US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보안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BFDEA71A-3B4D-465C-A242-16EC85C6D310}"/>
              </a:ext>
            </a:extLst>
          </p:cNvPr>
          <p:cNvSpPr/>
          <p:nvPr/>
        </p:nvSpPr>
        <p:spPr>
          <a:xfrm>
            <a:off x="868680" y="3246120"/>
            <a:ext cx="4800600" cy="1280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D2DEA39-7E27-0E82-7CBB-FCD9482E9CAF}"/>
              </a:ext>
            </a:extLst>
          </p:cNvPr>
          <p:cNvSpPr txBox="1"/>
          <p:nvPr/>
        </p:nvSpPr>
        <p:spPr>
          <a:xfrm>
            <a:off x="1078992" y="3520440"/>
            <a:ext cx="4224528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문서 검사로 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Web/API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표면 대조</a:t>
            </a:r>
          </a:p>
          <a:p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브라우저 스모크와 실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DB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통합 검증</a:t>
            </a:r>
          </a:p>
          <a:p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금액 규칙 검사로 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KRW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처리 확인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E4616AA-AAFC-81B0-60E8-5D207654E511}"/>
              </a:ext>
            </a:extLst>
          </p:cNvPr>
          <p:cNvSpPr/>
          <p:nvPr/>
        </p:nvSpPr>
        <p:spPr>
          <a:xfrm>
            <a:off x="6199632" y="3154680"/>
            <a:ext cx="4754880" cy="1481328"/>
          </a:xfrm>
          <a:prstGeom prst="rect">
            <a:avLst/>
          </a:prstGeom>
          <a:solidFill>
            <a:srgbClr val="18181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0E6930-0578-72E0-0981-FDDD0CE10A94}"/>
              </a:ext>
            </a:extLst>
          </p:cNvPr>
          <p:cNvSpPr txBox="1"/>
          <p:nvPr/>
        </p:nvSpPr>
        <p:spPr>
          <a:xfrm>
            <a:off x="6419088" y="3410712"/>
            <a:ext cx="4251960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33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주의
이 숫자는 사용자 수나 매출 지표가 아니라</a:t>
            </a:r>
            <a:r>
              <a:rPr lang="en-US" altLang="ko-KR" sz="133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33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구현을 검증 가능한 상태로 관리했다는 근거입니다</a:t>
            </a:r>
            <a:r>
              <a:rPr lang="en-US" altLang="ko-KR" sz="133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330" b="1">
              <a:solidFill>
                <a:srgbClr val="FFFFFF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8A3189-A2D2-E7F1-E359-22A4F5B3676E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194D67-47BC-0540-A675-7533823A5ADF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31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0223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AABA709-9E29-800C-BDAB-2A6029E3A92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795F98B-CF76-0B44-40DC-DD8EE0E7EA23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5117F6D-1620-1627-EC8F-1C4AE43F4D8D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587D8F-97D5-C921-7511-BD645059EF1B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OPERATIONS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EFB56F-8E70-967E-1B0F-B2BC69FB2D38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배포와 운영 인식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74E1EBE3-2A9C-F17B-0610-20BC93577939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444BF0FB-CADE-FD76-1EE3-9A37B411007C}"/>
              </a:ext>
            </a:extLst>
          </p:cNvPr>
          <p:cNvSpPr/>
          <p:nvPr/>
        </p:nvSpPr>
        <p:spPr>
          <a:xfrm>
            <a:off x="749808" y="1371600"/>
            <a:ext cx="233172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97A9A9B-3493-3088-3D65-11ED8368118E}"/>
              </a:ext>
            </a:extLst>
          </p:cNvPr>
          <p:cNvSpPr/>
          <p:nvPr/>
        </p:nvSpPr>
        <p:spPr>
          <a:xfrm>
            <a:off x="749808" y="1371600"/>
            <a:ext cx="64008" cy="93268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82627E-FE62-8E37-0EFA-D49B0FDA0265}"/>
              </a:ext>
            </a:extLst>
          </p:cNvPr>
          <p:cNvSpPr txBox="1"/>
          <p:nvPr/>
        </p:nvSpPr>
        <p:spPr>
          <a:xfrm>
            <a:off x="914400" y="1472184"/>
            <a:ext cx="20391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Docker</a:t>
            </a:r>
            <a:endParaRPr lang="ko-KR" altLang="en-US" sz="108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EEC26F-041C-A7C7-6868-3A20C1C06E6C}"/>
              </a:ext>
            </a:extLst>
          </p:cNvPr>
          <p:cNvSpPr txBox="1"/>
          <p:nvPr/>
        </p:nvSpPr>
        <p:spPr>
          <a:xfrm>
            <a:off x="914400" y="1719072"/>
            <a:ext cx="203911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개인 서버 배포
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API/Web/MySQL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2646FA2-49CA-74BB-A0C5-58CFDBDE0EEF}"/>
              </a:ext>
            </a:extLst>
          </p:cNvPr>
          <p:cNvSpPr/>
          <p:nvPr/>
        </p:nvSpPr>
        <p:spPr>
          <a:xfrm>
            <a:off x="3447288" y="1371600"/>
            <a:ext cx="233172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2C80D79-5B3A-487F-ACAA-76294B866B92}"/>
              </a:ext>
            </a:extLst>
          </p:cNvPr>
          <p:cNvSpPr/>
          <p:nvPr/>
        </p:nvSpPr>
        <p:spPr>
          <a:xfrm>
            <a:off x="3447288" y="1371600"/>
            <a:ext cx="64008" cy="93268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C9287D-58A7-9EEA-792A-BEDC5500451A}"/>
              </a:ext>
            </a:extLst>
          </p:cNvPr>
          <p:cNvSpPr txBox="1"/>
          <p:nvPr/>
        </p:nvSpPr>
        <p:spPr>
          <a:xfrm>
            <a:off x="3611880" y="1472184"/>
            <a:ext cx="20391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Compose</a:t>
            </a:r>
            <a:endParaRPr lang="ko-KR" altLang="en-US" sz="108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2A3212A-E490-F86D-CA02-92F6139A16C7}"/>
              </a:ext>
            </a:extLst>
          </p:cNvPr>
          <p:cNvSpPr txBox="1"/>
          <p:nvPr/>
        </p:nvSpPr>
        <p:spPr>
          <a:xfrm>
            <a:off x="3611880" y="1719072"/>
            <a:ext cx="203911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Web + API + DB
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마이그레이션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0529E04-21C7-B2A0-DA70-FFDA6BCF8E73}"/>
              </a:ext>
            </a:extLst>
          </p:cNvPr>
          <p:cNvSpPr/>
          <p:nvPr/>
        </p:nvSpPr>
        <p:spPr>
          <a:xfrm>
            <a:off x="6144768" y="1371600"/>
            <a:ext cx="233172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4C1289-DBDB-365B-B477-C4D27F2AE718}"/>
              </a:ext>
            </a:extLst>
          </p:cNvPr>
          <p:cNvSpPr/>
          <p:nvPr/>
        </p:nvSpPr>
        <p:spPr>
          <a:xfrm>
            <a:off x="6144768" y="1371600"/>
            <a:ext cx="64008" cy="93268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594C773-786A-321D-43E2-32E1EAE96992}"/>
              </a:ext>
            </a:extLst>
          </p:cNvPr>
          <p:cNvSpPr txBox="1"/>
          <p:nvPr/>
        </p:nvSpPr>
        <p:spPr>
          <a:xfrm>
            <a:off x="6309360" y="1472184"/>
            <a:ext cx="20391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DDNS/HTTPS</a:t>
            </a:r>
            <a:endParaRPr lang="ko-KR" altLang="en-US" sz="1080" b="1">
              <a:solidFill>
                <a:srgbClr val="D97706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21377A-11AE-827E-4AD1-89F07A099A77}"/>
              </a:ext>
            </a:extLst>
          </p:cNvPr>
          <p:cNvSpPr txBox="1"/>
          <p:nvPr/>
        </p:nvSpPr>
        <p:spPr>
          <a:xfrm>
            <a:off x="6309360" y="1719072"/>
            <a:ext cx="203911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Dynu DDNS
Caddy TLS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986EC21-E0E3-1C12-B935-9C7C73187149}"/>
              </a:ext>
            </a:extLst>
          </p:cNvPr>
          <p:cNvSpPr/>
          <p:nvPr/>
        </p:nvSpPr>
        <p:spPr>
          <a:xfrm>
            <a:off x="8842248" y="1371600"/>
            <a:ext cx="233172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3594AF0-9179-AAFD-3789-77C721562C15}"/>
              </a:ext>
            </a:extLst>
          </p:cNvPr>
          <p:cNvSpPr/>
          <p:nvPr/>
        </p:nvSpPr>
        <p:spPr>
          <a:xfrm>
            <a:off x="8842248" y="1371600"/>
            <a:ext cx="64008" cy="93268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0FAF9A7-8919-FFF8-7589-40283084E9B2}"/>
              </a:ext>
            </a:extLst>
          </p:cNvPr>
          <p:cNvSpPr txBox="1"/>
          <p:nvPr/>
        </p:nvSpPr>
        <p:spPr>
          <a:xfrm>
            <a:off x="9006840" y="1472184"/>
            <a:ext cx="20391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환경</a:t>
            </a:r>
            <a:r>
              <a:rPr lang="en-US" altLang="ko-KR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비밀값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4BB397-59E5-D611-B652-A7DE17D71CDC}"/>
              </a:ext>
            </a:extLst>
          </p:cNvPr>
          <p:cNvSpPr txBox="1"/>
          <p:nvPr/>
        </p:nvSpPr>
        <p:spPr>
          <a:xfrm>
            <a:off x="9006840" y="1719072"/>
            <a:ext cx="203911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환경값과
비밀값 분리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C955C36-1B86-29A4-53D2-A34FB178DE70}"/>
              </a:ext>
            </a:extLst>
          </p:cNvPr>
          <p:cNvSpPr/>
          <p:nvPr/>
        </p:nvSpPr>
        <p:spPr>
          <a:xfrm>
            <a:off x="1005840" y="2944368"/>
            <a:ext cx="996696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268FE9C-A642-015D-684D-B6475A296B5C}"/>
              </a:ext>
            </a:extLst>
          </p:cNvPr>
          <p:cNvSpPr/>
          <p:nvPr/>
        </p:nvSpPr>
        <p:spPr>
          <a:xfrm>
            <a:off x="1005840" y="2944368"/>
            <a:ext cx="64008" cy="96012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B9A0D7-F7A7-64EB-3B30-D36C467FFDD0}"/>
              </a:ext>
            </a:extLst>
          </p:cNvPr>
          <p:cNvSpPr txBox="1"/>
          <p:nvPr/>
        </p:nvSpPr>
        <p:spPr>
          <a:xfrm>
            <a:off x="1170432" y="3044952"/>
            <a:ext cx="967435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개인 서버 배포 기준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CABC71F-D7FA-3C95-8FE6-324F984A8D6D}"/>
              </a:ext>
            </a:extLst>
          </p:cNvPr>
          <p:cNvSpPr txBox="1"/>
          <p:nvPr/>
        </p:nvSpPr>
        <p:spPr>
          <a:xfrm>
            <a:off x="1170432" y="3291840"/>
            <a:ext cx="967435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Docker Compose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로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Web/API/MySQL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을 개인 서버에 배포하고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Dynu DDNS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와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Caddy HTTPS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리버스 프록시로 외부 접속을 구성했습니다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1FB2E25-A45D-5E63-048E-D861F639CF3D}"/>
              </a:ext>
            </a:extLst>
          </p:cNvPr>
          <p:cNvSpPr/>
          <p:nvPr/>
        </p:nvSpPr>
        <p:spPr>
          <a:xfrm>
            <a:off x="1005840" y="4370832"/>
            <a:ext cx="9966960" cy="804672"/>
          </a:xfrm>
          <a:prstGeom prst="rect">
            <a:avLst/>
          </a:prstGeom>
          <a:solidFill>
            <a:srgbClr val="18181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04E00AC-4199-FD9F-7EEB-3145A0589C24}"/>
              </a:ext>
            </a:extLst>
          </p:cNvPr>
          <p:cNvSpPr txBox="1"/>
          <p:nvPr/>
        </p:nvSpPr>
        <p:spPr>
          <a:xfrm>
            <a:off x="1261872" y="4553712"/>
            <a:ext cx="18745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2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실무로 이어진 이해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04963A7-98B4-0744-0BD4-EE57EF288263}"/>
              </a:ext>
            </a:extLst>
          </p:cNvPr>
          <p:cNvSpPr txBox="1"/>
          <p:nvPr/>
        </p:nvSpPr>
        <p:spPr>
          <a:xfrm>
            <a:off x="2971800" y="4480560"/>
            <a:ext cx="717804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직접 배포 경험은 </a:t>
            </a:r>
            <a:r>
              <a:rPr lang="en-US" altLang="ko-KR" sz="10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DB </a:t>
            </a:r>
            <a:r>
              <a:rPr lang="ko-KR" altLang="en-US" sz="10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서버 간 연결</a:t>
            </a:r>
            <a:r>
              <a:rPr lang="en-US" altLang="ko-KR" sz="10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방화벽 인바운드</a:t>
            </a:r>
            <a:r>
              <a:rPr lang="en-US" altLang="ko-KR" sz="10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DTC/RPC Dynamic Port </a:t>
            </a:r>
            <a:r>
              <a:rPr lang="ko-KR" altLang="en-US" sz="10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같은 통신 이슈를 구조적으로 보는 기반이 되었습니다</a:t>
            </a:r>
            <a:r>
              <a:rPr lang="en-US" altLang="ko-KR" sz="10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80">
              <a:solidFill>
                <a:srgbClr val="FFFFFF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011F246-C624-A366-2932-23EEB0C2D602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2B1D06-3D24-ABCE-603D-52EBF5793929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32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949478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C490AFE-9804-198F-855D-A0057B1730E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D3515E7-97C0-F50A-3A6D-B7D22BB25E19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9C41845-10D8-600D-C86C-249215AA5B21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50199A-97F6-461C-8FC5-E9EFA279BCB2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ROADMAP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20B89A-42C0-D2EC-FB39-71170E4B7361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한계와 다음 단계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B7C45ADA-3001-1904-B7D2-CB57BB456B5B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2ED17599-DADB-1A66-F5FF-54866087D070}"/>
              </a:ext>
            </a:extLst>
          </p:cNvPr>
          <p:cNvSpPr/>
          <p:nvPr/>
        </p:nvSpPr>
        <p:spPr>
          <a:xfrm>
            <a:off x="749808" y="1298448"/>
            <a:ext cx="2377440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2688652-F5D5-9ED2-A64C-7BC60EE9EEF0}"/>
              </a:ext>
            </a:extLst>
          </p:cNvPr>
          <p:cNvSpPr/>
          <p:nvPr/>
        </p:nvSpPr>
        <p:spPr>
          <a:xfrm>
            <a:off x="749808" y="1298448"/>
            <a:ext cx="64008" cy="67665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C1C95D-3377-E431-0530-907438A6317B}"/>
              </a:ext>
            </a:extLst>
          </p:cNvPr>
          <p:cNvSpPr txBox="1"/>
          <p:nvPr/>
        </p:nvSpPr>
        <p:spPr>
          <a:xfrm>
            <a:off x="914400" y="1389888"/>
            <a:ext cx="20848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라이선스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077E09-5ABA-B46C-C68B-EED5CE316470}"/>
              </a:ext>
            </a:extLst>
          </p:cNvPr>
          <p:cNvSpPr txBox="1"/>
          <p:nvPr/>
        </p:nvSpPr>
        <p:spPr>
          <a:xfrm>
            <a:off x="914400" y="1627632"/>
            <a:ext cx="20848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현재 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LICENSE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파일 없음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1BDB1AA0-51B1-075D-1217-4CA2B9603CE5}"/>
              </a:ext>
            </a:extLst>
          </p:cNvPr>
          <p:cNvCxnSpPr/>
          <p:nvPr/>
        </p:nvCxnSpPr>
        <p:spPr>
          <a:xfrm>
            <a:off x="3246120" y="1636776"/>
            <a:ext cx="301752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37F16D-6D93-6389-F209-F25A3AADF58D}"/>
              </a:ext>
            </a:extLst>
          </p:cNvPr>
          <p:cNvSpPr/>
          <p:nvPr/>
        </p:nvSpPr>
        <p:spPr>
          <a:xfrm>
            <a:off x="3703320" y="1298448"/>
            <a:ext cx="729691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A83A820-658B-7828-DF47-8991340CBAE3}"/>
              </a:ext>
            </a:extLst>
          </p:cNvPr>
          <p:cNvSpPr/>
          <p:nvPr/>
        </p:nvSpPr>
        <p:spPr>
          <a:xfrm>
            <a:off x="3703320" y="1298448"/>
            <a:ext cx="64008" cy="67665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329A79-0931-6E12-B0F4-E980EA3F2571}"/>
              </a:ext>
            </a:extLst>
          </p:cNvPr>
          <p:cNvSpPr txBox="1"/>
          <p:nvPr/>
        </p:nvSpPr>
        <p:spPr>
          <a:xfrm>
            <a:off x="3867912" y="1389888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보완 방향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301680-913B-8073-52B3-58A77FB2D134}"/>
              </a:ext>
            </a:extLst>
          </p:cNvPr>
          <p:cNvSpPr txBox="1"/>
          <p:nvPr/>
        </p:nvSpPr>
        <p:spPr>
          <a:xfrm>
            <a:off x="3867912" y="1627632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공개 저장소 사용 의도에 맞는 라이선스 추가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8D2DEF3-5427-F514-AF31-F3B073B67A8C}"/>
              </a:ext>
            </a:extLst>
          </p:cNvPr>
          <p:cNvSpPr/>
          <p:nvPr/>
        </p:nvSpPr>
        <p:spPr>
          <a:xfrm>
            <a:off x="749808" y="2176272"/>
            <a:ext cx="2377440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AA4B42B-D659-A737-568C-02E1A6B2C081}"/>
              </a:ext>
            </a:extLst>
          </p:cNvPr>
          <p:cNvSpPr/>
          <p:nvPr/>
        </p:nvSpPr>
        <p:spPr>
          <a:xfrm>
            <a:off x="749808" y="2176272"/>
            <a:ext cx="64008" cy="67665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9BEFF1A-6109-00D2-BCF3-6A4A84BF8706}"/>
              </a:ext>
            </a:extLst>
          </p:cNvPr>
          <p:cNvSpPr txBox="1"/>
          <p:nvPr/>
        </p:nvSpPr>
        <p:spPr>
          <a:xfrm>
            <a:off x="914400" y="2267712"/>
            <a:ext cx="20848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프록시 설정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2C73D99-9916-C80F-E9CB-F526F2CB628A}"/>
              </a:ext>
            </a:extLst>
          </p:cNvPr>
          <p:cNvSpPr txBox="1"/>
          <p:nvPr/>
        </p:nvSpPr>
        <p:spPr>
          <a:xfrm>
            <a:off x="914400" y="2505456"/>
            <a:ext cx="20848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실제 서버 설정은 저장소 외부</a:t>
            </a: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11385404-25A6-0818-E61D-2C8721B54533}"/>
              </a:ext>
            </a:extLst>
          </p:cNvPr>
          <p:cNvCxnSpPr/>
          <p:nvPr/>
        </p:nvCxnSpPr>
        <p:spPr>
          <a:xfrm>
            <a:off x="3246120" y="2514600"/>
            <a:ext cx="301752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E34B173-6F22-7282-3B06-7BE893DA3236}"/>
              </a:ext>
            </a:extLst>
          </p:cNvPr>
          <p:cNvSpPr/>
          <p:nvPr/>
        </p:nvSpPr>
        <p:spPr>
          <a:xfrm>
            <a:off x="3703320" y="2176272"/>
            <a:ext cx="729691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250896D-DD17-A445-1425-C7875D9EF9AA}"/>
              </a:ext>
            </a:extLst>
          </p:cNvPr>
          <p:cNvSpPr/>
          <p:nvPr/>
        </p:nvSpPr>
        <p:spPr>
          <a:xfrm>
            <a:off x="3703320" y="2176272"/>
            <a:ext cx="64008" cy="67665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D4DEEE-47A3-4BC4-1CA6-176761184D09}"/>
              </a:ext>
            </a:extLst>
          </p:cNvPr>
          <p:cNvSpPr txBox="1"/>
          <p:nvPr/>
        </p:nvSpPr>
        <p:spPr>
          <a:xfrm>
            <a:off x="3867912" y="2267712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보완 방향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0041D4-4FBE-7F70-7A75-5E12031D7E52}"/>
              </a:ext>
            </a:extLst>
          </p:cNvPr>
          <p:cNvSpPr txBox="1"/>
          <p:nvPr/>
        </p:nvSpPr>
        <p:spPr>
          <a:xfrm>
            <a:off x="3867912" y="2505456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공개 가능한 예시 템플릿 추가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5B8E9BC-8F5E-FD82-AD2D-6A04ADF243EB}"/>
              </a:ext>
            </a:extLst>
          </p:cNvPr>
          <p:cNvSpPr/>
          <p:nvPr/>
        </p:nvSpPr>
        <p:spPr>
          <a:xfrm>
            <a:off x="749808" y="3054096"/>
            <a:ext cx="2377440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642AA49-194C-6F04-64D9-1F189B4DB27B}"/>
              </a:ext>
            </a:extLst>
          </p:cNvPr>
          <p:cNvSpPr/>
          <p:nvPr/>
        </p:nvSpPr>
        <p:spPr>
          <a:xfrm>
            <a:off x="749808" y="3054096"/>
            <a:ext cx="64008" cy="67665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0F804BB-97D9-7BD8-EE08-EB3084E26F47}"/>
              </a:ext>
            </a:extLst>
          </p:cNvPr>
          <p:cNvSpPr txBox="1"/>
          <p:nvPr/>
        </p:nvSpPr>
        <p:spPr>
          <a:xfrm>
            <a:off x="914400" y="3145536"/>
            <a:ext cx="20848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최신 보안 점검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900DDA-A8FD-6058-D04D-C35AED2F9D13}"/>
              </a:ext>
            </a:extLst>
          </p:cNvPr>
          <p:cNvSpPr txBox="1"/>
          <p:nvPr/>
        </p:nvSpPr>
        <p:spPr>
          <a:xfrm>
            <a:off x="914400" y="3383280"/>
            <a:ext cx="20848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발표 시점 최신 실행 로그 필요</a:t>
            </a:r>
          </a:p>
        </p:txBody>
      </p: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3313574F-E813-DB7E-78F1-898B3ACF5026}"/>
              </a:ext>
            </a:extLst>
          </p:cNvPr>
          <p:cNvCxnSpPr/>
          <p:nvPr/>
        </p:nvCxnSpPr>
        <p:spPr>
          <a:xfrm>
            <a:off x="3246120" y="3392424"/>
            <a:ext cx="301752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1FD9748-0E34-0864-E4B8-1AC169447497}"/>
              </a:ext>
            </a:extLst>
          </p:cNvPr>
          <p:cNvSpPr/>
          <p:nvPr/>
        </p:nvSpPr>
        <p:spPr>
          <a:xfrm>
            <a:off x="3703320" y="3054096"/>
            <a:ext cx="729691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DA0E8689-487C-8D37-A501-0353C4AA8D9D}"/>
              </a:ext>
            </a:extLst>
          </p:cNvPr>
          <p:cNvSpPr/>
          <p:nvPr/>
        </p:nvSpPr>
        <p:spPr>
          <a:xfrm>
            <a:off x="3703320" y="3054096"/>
            <a:ext cx="64008" cy="67665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D0E2CDB-7CB5-8589-B52C-DA3BC3D46B9D}"/>
              </a:ext>
            </a:extLst>
          </p:cNvPr>
          <p:cNvSpPr txBox="1"/>
          <p:nvPr/>
        </p:nvSpPr>
        <p:spPr>
          <a:xfrm>
            <a:off x="3867912" y="3145536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보완 방향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2578A42-E826-01D0-A436-0826555A6005}"/>
              </a:ext>
            </a:extLst>
          </p:cNvPr>
          <p:cNvSpPr txBox="1"/>
          <p:nvPr/>
        </p:nvSpPr>
        <p:spPr>
          <a:xfrm>
            <a:off x="3867912" y="3383280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PPT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제작 직전 실행 결과 캡처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82F838C4-C529-4EBD-F47D-E5145FB783F3}"/>
              </a:ext>
            </a:extLst>
          </p:cNvPr>
          <p:cNvSpPr/>
          <p:nvPr/>
        </p:nvSpPr>
        <p:spPr>
          <a:xfrm>
            <a:off x="749808" y="3931920"/>
            <a:ext cx="2377440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50A80CB-5160-2544-C221-70655DA87A4C}"/>
              </a:ext>
            </a:extLst>
          </p:cNvPr>
          <p:cNvSpPr/>
          <p:nvPr/>
        </p:nvSpPr>
        <p:spPr>
          <a:xfrm>
            <a:off x="749808" y="3931920"/>
            <a:ext cx="64008" cy="67665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D198DCA-05FB-F876-11D3-C4E5CB2E1E3F}"/>
              </a:ext>
            </a:extLst>
          </p:cNvPr>
          <p:cNvSpPr txBox="1"/>
          <p:nvPr/>
        </p:nvSpPr>
        <p:spPr>
          <a:xfrm>
            <a:off x="914400" y="4023360"/>
            <a:ext cx="20848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장기 운영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0E5699B-BDA6-6A89-92A9-89C64878B298}"/>
              </a:ext>
            </a:extLst>
          </p:cNvPr>
          <p:cNvSpPr txBox="1"/>
          <p:nvPr/>
        </p:nvSpPr>
        <p:spPr>
          <a:xfrm>
            <a:off x="914400" y="4261104"/>
            <a:ext cx="20848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백업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모니터링은 추가 과제</a:t>
            </a: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A3003929-A1A7-EB42-8154-6E4B990811BA}"/>
              </a:ext>
            </a:extLst>
          </p:cNvPr>
          <p:cNvCxnSpPr/>
          <p:nvPr/>
        </p:nvCxnSpPr>
        <p:spPr>
          <a:xfrm>
            <a:off x="3246120" y="4270248"/>
            <a:ext cx="301752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22967317-B5D7-2836-BCB5-8C0CAEA77646}"/>
              </a:ext>
            </a:extLst>
          </p:cNvPr>
          <p:cNvSpPr/>
          <p:nvPr/>
        </p:nvSpPr>
        <p:spPr>
          <a:xfrm>
            <a:off x="3703320" y="3931920"/>
            <a:ext cx="729691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3FD1CB7-03A2-422E-ABB3-91406FE24474}"/>
              </a:ext>
            </a:extLst>
          </p:cNvPr>
          <p:cNvSpPr/>
          <p:nvPr/>
        </p:nvSpPr>
        <p:spPr>
          <a:xfrm>
            <a:off x="3703320" y="3931920"/>
            <a:ext cx="64008" cy="67665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F4A76B4-BD5A-C5DE-BECE-FA50A5A8F190}"/>
              </a:ext>
            </a:extLst>
          </p:cNvPr>
          <p:cNvSpPr txBox="1"/>
          <p:nvPr/>
        </p:nvSpPr>
        <p:spPr>
          <a:xfrm>
            <a:off x="3867912" y="4023360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보완 방향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06EAF0-A4DB-B1C5-F2C7-9FB3914E7D75}"/>
              </a:ext>
            </a:extLst>
          </p:cNvPr>
          <p:cNvSpPr txBox="1"/>
          <p:nvPr/>
        </p:nvSpPr>
        <p:spPr>
          <a:xfrm>
            <a:off x="3867912" y="4261104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문서와 복구 시나리오 보강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DC9805EF-68FA-73EE-BB53-E9C2A1A3F414}"/>
              </a:ext>
            </a:extLst>
          </p:cNvPr>
          <p:cNvSpPr/>
          <p:nvPr/>
        </p:nvSpPr>
        <p:spPr>
          <a:xfrm>
            <a:off x="749808" y="4809744"/>
            <a:ext cx="2377440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772C8206-418F-11A3-63EB-B5CAF620729E}"/>
              </a:ext>
            </a:extLst>
          </p:cNvPr>
          <p:cNvSpPr/>
          <p:nvPr/>
        </p:nvSpPr>
        <p:spPr>
          <a:xfrm>
            <a:off x="749808" y="4809744"/>
            <a:ext cx="64008" cy="67665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6F4A0DE-8543-F529-6C0C-B84217F1A171}"/>
              </a:ext>
            </a:extLst>
          </p:cNvPr>
          <p:cNvSpPr txBox="1"/>
          <p:nvPr/>
        </p:nvSpPr>
        <p:spPr>
          <a:xfrm>
            <a:off x="914400" y="4901184"/>
            <a:ext cx="20848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외부 연동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55A0CEE-79DA-D7E1-80D5-8DED9A646617}"/>
              </a:ext>
            </a:extLst>
          </p:cNvPr>
          <p:cNvSpPr txBox="1"/>
          <p:nvPr/>
        </p:nvSpPr>
        <p:spPr>
          <a:xfrm>
            <a:off x="914400" y="5138928"/>
            <a:ext cx="20848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세무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은행 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API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는 범위 밖</a:t>
            </a:r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B9DE14AC-8425-825B-B79F-F51C77EC8619}"/>
              </a:ext>
            </a:extLst>
          </p:cNvPr>
          <p:cNvCxnSpPr/>
          <p:nvPr/>
        </p:nvCxnSpPr>
        <p:spPr>
          <a:xfrm>
            <a:off x="3246120" y="5148072"/>
            <a:ext cx="301752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EEBE0DBB-07AE-DFF2-E856-FB4682B70EEF}"/>
              </a:ext>
            </a:extLst>
          </p:cNvPr>
          <p:cNvSpPr/>
          <p:nvPr/>
        </p:nvSpPr>
        <p:spPr>
          <a:xfrm>
            <a:off x="3703320" y="4809744"/>
            <a:ext cx="729691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0F6D76E5-1C17-7353-2A51-6A3F7A51F399}"/>
              </a:ext>
            </a:extLst>
          </p:cNvPr>
          <p:cNvSpPr/>
          <p:nvPr/>
        </p:nvSpPr>
        <p:spPr>
          <a:xfrm>
            <a:off x="3703320" y="4809744"/>
            <a:ext cx="64008" cy="67665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B61F29-C0D5-3E80-F8B8-9150BB98CD86}"/>
              </a:ext>
            </a:extLst>
          </p:cNvPr>
          <p:cNvSpPr txBox="1"/>
          <p:nvPr/>
        </p:nvSpPr>
        <p:spPr>
          <a:xfrm>
            <a:off x="3867912" y="4901184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보완 방향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FE1BD52-C4D8-80BE-F2A8-C12BF5FEB123}"/>
              </a:ext>
            </a:extLst>
          </p:cNvPr>
          <p:cNvSpPr txBox="1"/>
          <p:nvPr/>
        </p:nvSpPr>
        <p:spPr>
          <a:xfrm>
            <a:off x="3867912" y="5138928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후속 제품 로드맵으로 분리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72BC7FD-BDA3-4A7C-EF24-99E8D8A9ACB3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43F80E-A665-41C5-5BF7-87F1DAA8079C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33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611924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1A9F0BE-344A-69D7-1AFC-A8B2322B6D0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7E5065A-3DBA-13EC-DD3A-C045D7B12F18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7805661-8233-CE43-6A3B-FB7BADED7CD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ED7D1C9-AB61-4BA8-20ED-E6CF4F0B8717}"/>
              </a:ext>
            </a:extLst>
          </p:cNvPr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3A93FD-1C92-5637-957B-68DF69C55F0D}"/>
              </a:ext>
            </a:extLst>
          </p:cNvPr>
          <p:cNvSpPr txBox="1"/>
          <p:nvPr/>
        </p:nvSpPr>
        <p:spPr>
          <a:xfrm>
            <a:off x="749808" y="749808"/>
            <a:ext cx="98755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en-US" altLang="ko-KR" sz="29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</a:t>
            </a:r>
            <a:r>
              <a:rPr lang="ko-KR" altLang="en-US" sz="29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가 보여주는 것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E7FB0CC-1CEB-C152-50AC-1257667058EA}"/>
              </a:ext>
            </a:extLst>
          </p:cNvPr>
          <p:cNvSpPr/>
          <p:nvPr/>
        </p:nvSpPr>
        <p:spPr>
          <a:xfrm>
            <a:off x="804672" y="1828800"/>
            <a:ext cx="327355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B728712-CCCA-0F83-0CD6-6477A1DFBC75}"/>
              </a:ext>
            </a:extLst>
          </p:cNvPr>
          <p:cNvSpPr/>
          <p:nvPr/>
        </p:nvSpPr>
        <p:spPr>
          <a:xfrm>
            <a:off x="804672" y="1828800"/>
            <a:ext cx="64008" cy="93268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B82E33-BD6E-4BAD-2081-651A3C28A832}"/>
              </a:ext>
            </a:extLst>
          </p:cNvPr>
          <p:cNvSpPr txBox="1"/>
          <p:nvPr/>
        </p:nvSpPr>
        <p:spPr>
          <a:xfrm>
            <a:off x="969264" y="1929384"/>
            <a:ext cx="298094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실무 관점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746450-D1EB-CB04-69AD-42670B7AE6A3}"/>
              </a:ext>
            </a:extLst>
          </p:cNvPr>
          <p:cNvSpPr txBox="1"/>
          <p:nvPr/>
        </p:nvSpPr>
        <p:spPr>
          <a:xfrm>
            <a:off x="969264" y="2176272"/>
            <a:ext cx="2980944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ERP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유지보수 경험을 화면과 흐름에 반영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06507EE-3291-D87A-1549-EF283F07A86A}"/>
              </a:ext>
            </a:extLst>
          </p:cNvPr>
          <p:cNvSpPr/>
          <p:nvPr/>
        </p:nvSpPr>
        <p:spPr>
          <a:xfrm>
            <a:off x="4462272" y="1828800"/>
            <a:ext cx="327355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229207F-B7F6-C2F8-0C86-4E69D000AD92}"/>
              </a:ext>
            </a:extLst>
          </p:cNvPr>
          <p:cNvSpPr/>
          <p:nvPr/>
        </p:nvSpPr>
        <p:spPr>
          <a:xfrm>
            <a:off x="4462272" y="1828800"/>
            <a:ext cx="64008" cy="93268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89B48A-25F5-1E26-3C0D-CF9E60BFB14F}"/>
              </a:ext>
            </a:extLst>
          </p:cNvPr>
          <p:cNvSpPr txBox="1"/>
          <p:nvPr/>
        </p:nvSpPr>
        <p:spPr>
          <a:xfrm>
            <a:off x="4626864" y="1929384"/>
            <a:ext cx="298094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도메인 경계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4AD49D-4137-272A-C423-B8E965E238E7}"/>
              </a:ext>
            </a:extLst>
          </p:cNvPr>
          <p:cNvSpPr txBox="1"/>
          <p:nvPr/>
        </p:nvSpPr>
        <p:spPr>
          <a:xfrm>
            <a:off x="4626864" y="2176272"/>
            <a:ext cx="298094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거래와 전표를 분리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71F8CA1-93DC-1BC7-FB1C-CFE007312014}"/>
              </a:ext>
            </a:extLst>
          </p:cNvPr>
          <p:cNvSpPr/>
          <p:nvPr/>
        </p:nvSpPr>
        <p:spPr>
          <a:xfrm>
            <a:off x="8119872" y="1828800"/>
            <a:ext cx="327355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50FE719-5C66-6E4E-F7EE-6F07594AB051}"/>
              </a:ext>
            </a:extLst>
          </p:cNvPr>
          <p:cNvSpPr/>
          <p:nvPr/>
        </p:nvSpPr>
        <p:spPr>
          <a:xfrm>
            <a:off x="8119872" y="1828800"/>
            <a:ext cx="64008" cy="93268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EA4343F-6FB6-86A2-4B0B-D052E2603A3E}"/>
              </a:ext>
            </a:extLst>
          </p:cNvPr>
          <p:cNvSpPr txBox="1"/>
          <p:nvPr/>
        </p:nvSpPr>
        <p:spPr>
          <a:xfrm>
            <a:off x="8284464" y="1929384"/>
            <a:ext cx="298094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제품 완성도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F34A0-54FC-81DB-E826-02BBD946CCED}"/>
              </a:ext>
            </a:extLst>
          </p:cNvPr>
          <p:cNvSpPr txBox="1"/>
          <p:nvPr/>
        </p:nvSpPr>
        <p:spPr>
          <a:xfrm>
            <a:off x="8284464" y="2176272"/>
            <a:ext cx="2980944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Web/API/DB/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검증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배포 연결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5D32817-10C0-3CB3-6204-7A1A762B3E3E}"/>
              </a:ext>
            </a:extLst>
          </p:cNvPr>
          <p:cNvSpPr/>
          <p:nvPr/>
        </p:nvSpPr>
        <p:spPr>
          <a:xfrm>
            <a:off x="859536" y="3749040"/>
            <a:ext cx="10424160" cy="1115568"/>
          </a:xfrm>
          <a:prstGeom prst="rect">
            <a:avLst/>
          </a:prstGeom>
          <a:solidFill>
            <a:srgbClr val="272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066DBF-87A3-74AE-CE31-733BB9B10DC2}"/>
              </a:ext>
            </a:extLst>
          </p:cNvPr>
          <p:cNvSpPr txBox="1"/>
          <p:nvPr/>
        </p:nvSpPr>
        <p:spPr>
          <a:xfrm>
            <a:off x="1097280" y="3950208"/>
            <a:ext cx="9784080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1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마지막 문장
실무 </a:t>
            </a:r>
            <a:r>
              <a:rPr lang="en-US" altLang="ko-KR" sz="21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ERP </a:t>
            </a:r>
            <a:r>
              <a:rPr lang="ko-KR" altLang="en-US" sz="21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유지보수에서 배운 운영 기준을 바탕으로</a:t>
            </a:r>
            <a:r>
              <a:rPr lang="en-US" altLang="ko-KR" sz="21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21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도메인 경계와 월 운영 흐름을 끝까지 설명할 수 있게 만든 </a:t>
            </a:r>
            <a:r>
              <a:rPr lang="en-US" altLang="ko-KR" sz="21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ERP</a:t>
            </a:r>
            <a:r>
              <a:rPr lang="ko-KR" altLang="en-US" sz="21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입니다</a:t>
            </a:r>
            <a:r>
              <a:rPr lang="en-US" altLang="ko-KR" sz="21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2100" b="1">
              <a:solidFill>
                <a:srgbClr val="FFFFFF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A37BD7F-666D-BA09-156E-1C0F81CB7A89}"/>
              </a:ext>
            </a:extLst>
          </p:cNvPr>
          <p:cNvSpPr txBox="1"/>
          <p:nvPr/>
        </p:nvSpPr>
        <p:spPr>
          <a:xfrm>
            <a:off x="1024128" y="5513832"/>
            <a:ext cx="49377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50">
                <a:solidFill>
                  <a:srgbClr val="D4D4D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public demo: personalerp.theworkpc.com</a:t>
            </a:r>
            <a:endParaRPr lang="ko-KR" altLang="en-US" sz="1150">
              <a:solidFill>
                <a:srgbClr val="D4D4D8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909E682-7164-6D28-ED34-F1C1414E5063}"/>
              </a:ext>
            </a:extLst>
          </p:cNvPr>
          <p:cNvSpPr txBox="1"/>
          <p:nvPr/>
        </p:nvSpPr>
        <p:spPr>
          <a:xfrm>
            <a:off x="1024128" y="5870448"/>
            <a:ext cx="52578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50">
                <a:solidFill>
                  <a:srgbClr val="D4D4D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github.com/cheon0965/PERSONAL_ERP</a:t>
            </a:r>
            <a:endParaRPr lang="ko-KR" altLang="en-US" sz="1150">
              <a:solidFill>
                <a:srgbClr val="D4D4D8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B4B7A1-268D-981B-848D-B8093A6E9BB7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A1A1A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A1A1A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FD6ED0-76AE-439D-5ADC-B845EB981B16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A1A1A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34</a:t>
            </a:r>
            <a:endParaRPr lang="ko-KR" altLang="en-US" sz="780">
              <a:solidFill>
                <a:srgbClr val="A1A1A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91129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2997</Words>
  <Application>Microsoft Office PowerPoint</Application>
  <PresentationFormat>사용자 지정</PresentationFormat>
  <Paragraphs>616</Paragraphs>
  <Slides>34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38" baseType="lpstr">
      <vt:lpstr>맑은 고딕</vt:lpstr>
      <vt:lpstr>Aptos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chc</dc:creator>
  <cp:lastModifiedBy>chc</cp:lastModifiedBy>
  <cp:revision>1</cp:revision>
  <dcterms:created xsi:type="dcterms:W3CDTF">2026-05-14T01:58:18Z</dcterms:created>
  <dcterms:modified xsi:type="dcterms:W3CDTF">2026-05-14T01:59:03Z</dcterms:modified>
</cp:coreProperties>
</file>