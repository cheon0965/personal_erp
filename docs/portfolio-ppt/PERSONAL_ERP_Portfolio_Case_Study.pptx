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67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0BCDDC-10D7-A54B-A520-6FED612386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C437700-CFB3-C0EC-95CC-E471DBBEB56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AB315EF-1F83-408D-2894-38358D75DA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25D5B-0C8C-42D8-B410-236B6607C076}" type="datetimeFigureOut">
              <a:rPr lang="ko-KR" altLang="en-US" smtClean="0"/>
              <a:t>2026-06-17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4526BDF-2FA7-FCF7-DCC7-A44F2A28EB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F4CFE62-FF3F-5582-CA41-FEAD460AAF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4B7D-18DC-4624-BEAA-E4F07FE5466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02185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7F1CA1-09D0-6A70-CEEE-FEA63E7E29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20FD74A-0E2D-3C2C-EABB-BE97C10FE5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CEF6D9A-107B-68A3-DD1A-CEBEFEABB9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25D5B-0C8C-42D8-B410-236B6607C076}" type="datetimeFigureOut">
              <a:rPr lang="ko-KR" altLang="en-US" smtClean="0"/>
              <a:t>2026-06-17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B9C301-98EB-D893-21A6-F3CDF01AAD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11A02-6849-E3D8-6386-8C86974A36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4B7D-18DC-4624-BEAA-E4F07FE5466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27107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EA9BFD-1CF5-0821-AA8B-C2B8686533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B268DB9-A919-EDD7-E3DF-FDF7B386B7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3F329E3-83B7-F68D-0B04-36602C2294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25D5B-0C8C-42D8-B410-236B6607C076}" type="datetimeFigureOut">
              <a:rPr lang="ko-KR" altLang="en-US" smtClean="0"/>
              <a:t>2026-06-17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3F20971-59FA-2653-7427-A66FC6626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1FD8556-46ED-745E-C086-75B36ECAC9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4B7D-18DC-4624-BEAA-E4F07FE5466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9529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9FDC1A-9C42-1662-C45C-145045E684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15D9398-79E7-962E-8144-17840F3F87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FE6C03B-7C28-A691-0387-66E006ABF5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E728ABC-ECC9-6D2C-2747-EEB6FFD959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25D5B-0C8C-42D8-B410-236B6607C076}" type="datetimeFigureOut">
              <a:rPr lang="ko-KR" altLang="en-US" smtClean="0"/>
              <a:t>2026-06-17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A5B7E7B-CC00-856C-E1D9-DB745A1974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82D76AC-64DD-73E9-517A-CFB7F69044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4B7D-18DC-4624-BEAA-E4F07FE5466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66723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52B796-BD9E-83DB-E7BC-E608B31DD0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0FC8BB1-20E8-39D2-6E07-8AE65F2818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7A5476A-DDA8-117F-A11B-A128AD629D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9E026FA-8492-B0D1-F979-5EC89765115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996965C-84C3-0A4F-7336-7F2B1BD2B29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9079C46-A198-3D38-6D17-5708B571F5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25D5B-0C8C-42D8-B410-236B6607C076}" type="datetimeFigureOut">
              <a:rPr lang="ko-KR" altLang="en-US" smtClean="0"/>
              <a:t>2026-06-17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340836C-2B6C-9EBC-746F-C7EE37DE4A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4078820D-05D9-B22F-8EE7-E0D525A4E8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4B7D-18DC-4624-BEAA-E4F07FE5466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21282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00AB5E-6DC0-D183-70A0-77FE878024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5935B213-8F15-6D35-1365-8DF3B4C05B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25D5B-0C8C-42D8-B410-236B6607C076}" type="datetimeFigureOut">
              <a:rPr lang="ko-KR" altLang="en-US" smtClean="0"/>
              <a:t>2026-06-17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D833F9A-564D-636F-E018-9EF9B03C00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56EA61A-564E-A1F3-E77A-C495996A65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4B7D-18DC-4624-BEAA-E4F07FE5466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77157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21EF41F-8E95-A85F-3016-138918C1D4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25D5B-0C8C-42D8-B410-236B6607C076}" type="datetimeFigureOut">
              <a:rPr lang="ko-KR" altLang="en-US" smtClean="0"/>
              <a:t>2026-06-17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188B8488-D05A-1D84-D67F-B869FA4ADA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33F110-0424-3F2A-65BA-44F2ECA09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4B7D-18DC-4624-BEAA-E4F07FE5466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00976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4006D7-FC8D-A060-5C05-C0DBA9FAF8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9EA3FC0-5C1B-47D7-1864-C15E697749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87DAD65-AE85-F14D-0BA7-A1071A9980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8482733-585C-5FC0-FAE9-F4B84CB383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25D5B-0C8C-42D8-B410-236B6607C076}" type="datetimeFigureOut">
              <a:rPr lang="ko-KR" altLang="en-US" smtClean="0"/>
              <a:t>2026-06-17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023E519-C595-7342-F52B-8EFACFE751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5A447C4-C4F0-4D13-30B0-832A9BA6B5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4B7D-18DC-4624-BEAA-E4F07FE5466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51369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73FE27-2943-1D9E-BCF0-E0DA8D668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91C7CA4-1F80-86EB-85DB-C92D292588D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63A4F02-500C-D4AD-9B4A-44DEEE3774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23C032-2508-0A70-89E9-45870E4B5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25D5B-0C8C-42D8-B410-236B6607C076}" type="datetimeFigureOut">
              <a:rPr lang="ko-KR" altLang="en-US" smtClean="0"/>
              <a:t>2026-06-17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1BB4A9A-D50B-7167-B016-E8D407866A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7EC7F25-2174-7132-540B-EE75C1FA0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4B7D-18DC-4624-BEAA-E4F07FE5466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29694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E98067D-AC91-CDEC-7559-E01E479553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415D4CF-03CF-7791-5B3D-4097CF5876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942EAB-63CC-A5D6-F092-A98CF42E91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25D5B-0C8C-42D8-B410-236B6607C076}" type="datetimeFigureOut">
              <a:rPr lang="ko-KR" altLang="en-US" smtClean="0"/>
              <a:t>2026-06-17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B1534E7-5EC9-B6AF-68CB-A3BC496281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9101034-BA9C-F901-AC17-4437178849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4B7D-18DC-4624-BEAA-E4F07FE5466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991311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33467323-B0E7-7528-F559-AA923140190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B6C4E05-E78E-2876-4D44-C9A445241C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7E8B85C-83CC-CDA3-0BA7-5EADBB0ED7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25D5B-0C8C-42D8-B410-236B6607C076}" type="datetimeFigureOut">
              <a:rPr lang="ko-KR" altLang="en-US" smtClean="0"/>
              <a:t>2026-06-17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8FF85DD-8F01-51BA-CFCF-295F5069CA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B265F23-0B73-7F17-203A-7675859DB6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4B7D-18DC-4624-BEAA-E4F07FE5466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72158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BC145F5-002A-93BE-D44B-E3BDCFF651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C77ED38-B197-A187-15D8-AB67F91DE0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887B7D-A729-9B2C-38CF-41BDEB48B4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825D5B-0C8C-42D8-B410-236B6607C076}" type="datetimeFigureOut">
              <a:rPr lang="ko-KR" altLang="en-US" smtClean="0"/>
              <a:t>2026-06-17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9683DDC-B8D5-5B72-58EA-5F064A9B89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0225F34-9612-615D-7B49-4969B0FDA2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124B7D-18DC-4624-BEAA-E4F07FE5466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58952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4D894F6-705D-88B4-1768-76E0B4C55AF1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9968CDAB-19F0-0174-AD66-72454577A265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4ACAA54-B042-2432-8D33-EE6D8EDEBF00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81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6FEFA9A-05FE-BAF5-E730-307B6C641C5E}"/>
              </a:ext>
            </a:extLst>
          </p:cNvPr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516C3DE-4FAF-E8BC-A278-BB98A7AE1322}"/>
              </a:ext>
            </a:extLst>
          </p:cNvPr>
          <p:cNvSpPr/>
          <p:nvPr/>
        </p:nvSpPr>
        <p:spPr>
          <a:xfrm>
            <a:off x="109728" y="0"/>
            <a:ext cx="45720" cy="6858000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3B2F7F9F-4719-B1CD-C987-087FE1B5FFC6}"/>
              </a:ext>
            </a:extLst>
          </p:cNvPr>
          <p:cNvSpPr/>
          <p:nvPr/>
        </p:nvSpPr>
        <p:spPr>
          <a:xfrm>
            <a:off x="658368" y="713232"/>
            <a:ext cx="1508760" cy="256032"/>
          </a:xfrm>
          <a:prstGeom prst="roundRect">
            <a:avLst/>
          </a:prstGeom>
          <a:solidFill>
            <a:srgbClr val="EEF4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0B5B10C-A8EC-CD9F-4144-3C8A764A9F1E}"/>
              </a:ext>
            </a:extLst>
          </p:cNvPr>
          <p:cNvSpPr txBox="1"/>
          <p:nvPr/>
        </p:nvSpPr>
        <p:spPr>
          <a:xfrm>
            <a:off x="731520" y="763524"/>
            <a:ext cx="1362456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7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Portfolio Case Study</a:t>
            </a:r>
            <a:endParaRPr lang="ko-KR" altLang="en-US" sz="780" b="1">
              <a:solidFill>
                <a:srgbClr val="2454D9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FDC0AF9-5D21-91A9-D964-BFA59468BE24}"/>
              </a:ext>
            </a:extLst>
          </p:cNvPr>
          <p:cNvSpPr txBox="1"/>
          <p:nvPr/>
        </p:nvSpPr>
        <p:spPr>
          <a:xfrm>
            <a:off x="640080" y="1188720"/>
            <a:ext cx="512064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en-US" altLang="ko-KR" sz="3600" b="1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</a:t>
            </a:r>
            <a:endParaRPr lang="ko-KR" altLang="en-US" sz="3600" b="1">
              <a:solidFill>
                <a:srgbClr val="FFFFFF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F1EEA3A-CCB9-C68C-8B23-2D96005E7F95}"/>
              </a:ext>
            </a:extLst>
          </p:cNvPr>
          <p:cNvSpPr/>
          <p:nvPr/>
        </p:nvSpPr>
        <p:spPr>
          <a:xfrm>
            <a:off x="694944" y="1856232"/>
            <a:ext cx="1234440" cy="73152"/>
          </a:xfrm>
          <a:prstGeom prst="rect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7FDEE22-9294-2C5E-5E58-74A647C790D1}"/>
              </a:ext>
            </a:extLst>
          </p:cNvPr>
          <p:cNvSpPr txBox="1"/>
          <p:nvPr/>
        </p:nvSpPr>
        <p:spPr>
          <a:xfrm>
            <a:off x="640080" y="2212848"/>
            <a:ext cx="50292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>
                <a:solidFill>
                  <a:srgbClr val="E5E7E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1</a:t>
            </a:r>
            <a:r>
              <a:rPr lang="ko-KR" altLang="en-US">
                <a:solidFill>
                  <a:srgbClr val="E5E7E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인 사업자와 소상공인의 월별 재무 운영을 계획부터 마감까지 연결하는 </a:t>
            </a:r>
            <a:r>
              <a:rPr lang="en-US" altLang="ko-KR">
                <a:solidFill>
                  <a:srgbClr val="E5E7E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ERP</a:t>
            </a:r>
            <a:endParaRPr lang="ko-KR" altLang="en-US">
              <a:solidFill>
                <a:srgbClr val="E5E7E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49260FE4-6935-1874-060F-131812EB5443}"/>
              </a:ext>
            </a:extLst>
          </p:cNvPr>
          <p:cNvSpPr/>
          <p:nvPr/>
        </p:nvSpPr>
        <p:spPr>
          <a:xfrm>
            <a:off x="676656" y="3310128"/>
            <a:ext cx="73152" cy="73152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57D558-BDF8-7727-29B6-36CB72725115}"/>
              </a:ext>
            </a:extLst>
          </p:cNvPr>
          <p:cNvSpPr txBox="1"/>
          <p:nvPr/>
        </p:nvSpPr>
        <p:spPr>
          <a:xfrm>
            <a:off x="859536" y="3236976"/>
            <a:ext cx="429768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18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계획</a:t>
            </a:r>
            <a:r>
              <a:rPr lang="en-US" altLang="ko-KR" sz="118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18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수집</a:t>
            </a:r>
            <a:r>
              <a:rPr lang="en-US" altLang="ko-KR" sz="118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18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전표</a:t>
            </a:r>
            <a:r>
              <a:rPr lang="en-US" altLang="ko-KR" sz="118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18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마감</a:t>
            </a:r>
            <a:r>
              <a:rPr lang="en-US" altLang="ko-KR" sz="118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18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보고를 하나의 월 운영 흐름으로 구성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A206039B-C8BD-864D-C1E7-CF2074F07301}"/>
              </a:ext>
            </a:extLst>
          </p:cNvPr>
          <p:cNvSpPr/>
          <p:nvPr/>
        </p:nvSpPr>
        <p:spPr>
          <a:xfrm>
            <a:off x="676656" y="3694176"/>
            <a:ext cx="73152" cy="73152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6E96451-3309-E7CA-FF8D-C7C08913FD95}"/>
              </a:ext>
            </a:extLst>
          </p:cNvPr>
          <p:cNvSpPr txBox="1"/>
          <p:nvPr/>
        </p:nvSpPr>
        <p:spPr>
          <a:xfrm>
            <a:off x="859536" y="3621024"/>
            <a:ext cx="429768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18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수집 거래와 전표를 분리해 운영 데이터와 공식 기록의 경계를 명확화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E64C8532-F618-A95F-8E51-45CDA97AF413}"/>
              </a:ext>
            </a:extLst>
          </p:cNvPr>
          <p:cNvSpPr/>
          <p:nvPr/>
        </p:nvSpPr>
        <p:spPr>
          <a:xfrm>
            <a:off x="676656" y="4078224"/>
            <a:ext cx="73152" cy="73152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14F619E-F16C-C905-C5AF-035DCA2547AD}"/>
              </a:ext>
            </a:extLst>
          </p:cNvPr>
          <p:cNvSpPr txBox="1"/>
          <p:nvPr/>
        </p:nvSpPr>
        <p:spPr>
          <a:xfrm>
            <a:off x="859536" y="4005072"/>
            <a:ext cx="429768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18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공개 데모</a:t>
            </a:r>
            <a:r>
              <a:rPr lang="en-US" altLang="ko-KR" sz="118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18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검증 체계</a:t>
            </a:r>
            <a:r>
              <a:rPr lang="en-US" altLang="ko-KR" sz="118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18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배포 문서까지 갖춘 풀스택 케이스 스터디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9EC12AFA-93C5-98A6-AA55-A7659AAA8DE3}"/>
              </a:ext>
            </a:extLst>
          </p:cNvPr>
          <p:cNvSpPr/>
          <p:nvPr/>
        </p:nvSpPr>
        <p:spPr>
          <a:xfrm>
            <a:off x="5989320" y="768096"/>
            <a:ext cx="5468112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94A3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C3CFB5AD-23A4-23F5-782B-D83FECD839C2}"/>
              </a:ext>
            </a:extLst>
          </p:cNvPr>
          <p:cNvSpPr/>
          <p:nvPr/>
        </p:nvSpPr>
        <p:spPr>
          <a:xfrm>
            <a:off x="5989320" y="768096"/>
            <a:ext cx="5468112" cy="365760"/>
          </a:xfrm>
          <a:prstGeom prst="rect">
            <a:avLst/>
          </a:prstGeom>
          <a:solidFill>
            <a:srgbClr val="F1F5F9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D3729610-6141-E83E-8C78-3D4DB5B746DC}"/>
              </a:ext>
            </a:extLst>
          </p:cNvPr>
          <p:cNvSpPr/>
          <p:nvPr/>
        </p:nvSpPr>
        <p:spPr>
          <a:xfrm>
            <a:off x="6153912" y="905256"/>
            <a:ext cx="82296" cy="82296"/>
          </a:xfrm>
          <a:prstGeom prst="ellipse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6AA3BE0D-BF03-7CCD-F2D7-56EEF09D217C}"/>
              </a:ext>
            </a:extLst>
          </p:cNvPr>
          <p:cNvSpPr/>
          <p:nvPr/>
        </p:nvSpPr>
        <p:spPr>
          <a:xfrm>
            <a:off x="6300216" y="905256"/>
            <a:ext cx="82296" cy="82296"/>
          </a:xfrm>
          <a:prstGeom prst="ellipse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D7711901-A278-6608-FA7C-39D31DB35D36}"/>
              </a:ext>
            </a:extLst>
          </p:cNvPr>
          <p:cNvSpPr/>
          <p:nvPr/>
        </p:nvSpPr>
        <p:spPr>
          <a:xfrm>
            <a:off x="6446520" y="905256"/>
            <a:ext cx="82296" cy="82296"/>
          </a:xfrm>
          <a:prstGeom prst="ellipse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CF28B5C-760B-DB6C-E4C3-620E6781D4AD}"/>
              </a:ext>
            </a:extLst>
          </p:cNvPr>
          <p:cNvSpPr txBox="1"/>
          <p:nvPr/>
        </p:nvSpPr>
        <p:spPr>
          <a:xfrm>
            <a:off x="6629400" y="877824"/>
            <a:ext cx="45537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공개 홈 </a:t>
            </a:r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 </a:t>
            </a:r>
            <a:r>
              <a:rPr lang="ko-KR" altLang="en-US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대시보드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6CC3321-6DC5-9BF1-2F48-0A232AE7986D}"/>
              </a:ext>
            </a:extLst>
          </p:cNvPr>
          <p:cNvSpPr txBox="1"/>
          <p:nvPr/>
        </p:nvSpPr>
        <p:spPr>
          <a:xfrm>
            <a:off x="6217920" y="1499616"/>
            <a:ext cx="50109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02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캡처 삽입 영역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B446848-B957-DAAA-B017-AFB793C62BA7}"/>
              </a:ext>
            </a:extLst>
          </p:cNvPr>
          <p:cNvSpPr txBox="1"/>
          <p:nvPr/>
        </p:nvSpPr>
        <p:spPr>
          <a:xfrm>
            <a:off x="6309360" y="3031236"/>
            <a:ext cx="48280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170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01-public-home.png </a:t>
            </a:r>
            <a:r>
              <a:rPr lang="ko-KR" altLang="en-US" sz="170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또는 </a:t>
            </a:r>
            <a:r>
              <a:rPr lang="en-US" altLang="ko-KR" sz="170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03-dashboard.png</a:t>
            </a:r>
            <a:endParaRPr lang="ko-KR" altLang="en-US" sz="1700" b="1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8562C33-9D5E-1290-31F1-BA7F12961C71}"/>
              </a:ext>
            </a:extLst>
          </p:cNvPr>
          <p:cNvSpPr txBox="1"/>
          <p:nvPr/>
        </p:nvSpPr>
        <p:spPr>
          <a:xfrm>
            <a:off x="6492240" y="3470148"/>
            <a:ext cx="446227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94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 영역에 실제 화면 캡처를 배치하세요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E6E42F97-D782-BB62-050D-702808625084}"/>
              </a:ext>
            </a:extLst>
          </p:cNvPr>
          <p:cNvSpPr/>
          <p:nvPr/>
        </p:nvSpPr>
        <p:spPr>
          <a:xfrm>
            <a:off x="5623560" y="5989320"/>
            <a:ext cx="987552" cy="82296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06EDD95C-5B9B-7D3A-55CF-FC9F2086100D}"/>
              </a:ext>
            </a:extLst>
          </p:cNvPr>
          <p:cNvSpPr/>
          <p:nvPr/>
        </p:nvSpPr>
        <p:spPr>
          <a:xfrm>
            <a:off x="6729984" y="5989320"/>
            <a:ext cx="987552" cy="82296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8A54A614-7B37-613F-6C79-CCE3A9BCEC98}"/>
              </a:ext>
            </a:extLst>
          </p:cNvPr>
          <p:cNvSpPr/>
          <p:nvPr/>
        </p:nvSpPr>
        <p:spPr>
          <a:xfrm>
            <a:off x="7836408" y="5989320"/>
            <a:ext cx="987552" cy="82296"/>
          </a:xfrm>
          <a:prstGeom prst="rect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49FCE9F-0A5B-E1A6-B5D4-F4CA7DA82BCB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A1A1A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A1A1A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5B2718C-9FF7-E3FD-B906-456933DA4B4A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A1A1A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01</a:t>
            </a:r>
            <a:endParaRPr lang="ko-KR" altLang="en-US" sz="780">
              <a:solidFill>
                <a:srgbClr val="A1A1A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769647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DA025A78-AB0F-8063-A011-F42924FC3457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8E1BFCCC-479C-870C-9316-43ECBAEE5E78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4459D250-D483-711B-264E-19E7AB522F7F}"/>
              </a:ext>
            </a:extLst>
          </p:cNvPr>
          <p:cNvSpPr/>
          <p:nvPr/>
        </p:nvSpPr>
        <p:spPr>
          <a:xfrm>
            <a:off x="548640" y="310896"/>
            <a:ext cx="1170432" cy="228600"/>
          </a:xfrm>
          <a:prstGeom prst="roundRect">
            <a:avLst/>
          </a:prstGeom>
          <a:solidFill>
            <a:srgbClr val="EAFB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20A19C-73CE-3C74-73BE-78170F0F6B38}"/>
              </a:ext>
            </a:extLst>
          </p:cNvPr>
          <p:cNvSpPr txBox="1"/>
          <p:nvPr/>
        </p:nvSpPr>
        <p:spPr>
          <a:xfrm>
            <a:off x="630936" y="338328"/>
            <a:ext cx="96012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7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SUMMARY</a:t>
            </a:r>
            <a:endParaRPr lang="ko-KR" altLang="en-US" sz="7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0115BA8-1597-822B-9875-76C13BE44263}"/>
              </a:ext>
            </a:extLst>
          </p:cNvPr>
          <p:cNvSpPr txBox="1"/>
          <p:nvPr/>
        </p:nvSpPr>
        <p:spPr>
          <a:xfrm>
            <a:off x="530352" y="603504"/>
            <a:ext cx="10698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프로젝트를 한 장으로 요약하면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D8B5128F-8003-0A29-D6B9-D4FD613C591A}"/>
              </a:ext>
            </a:extLst>
          </p:cNvPr>
          <p:cNvCxnSpPr/>
          <p:nvPr/>
        </p:nvCxnSpPr>
        <p:spPr>
          <a:xfrm>
            <a:off x="548640" y="1097280"/>
            <a:ext cx="11109960" cy="0"/>
          </a:xfrm>
          <a:prstGeom prst="line">
            <a:avLst/>
          </a:prstGeom>
          <a:ln w="15240">
            <a:solidFill>
              <a:srgbClr val="E8EDF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A701CBD5-A0FC-4107-27E4-915EEDD1EA96}"/>
              </a:ext>
            </a:extLst>
          </p:cNvPr>
          <p:cNvSpPr/>
          <p:nvPr/>
        </p:nvSpPr>
        <p:spPr>
          <a:xfrm>
            <a:off x="621792" y="1444752"/>
            <a:ext cx="2596896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FCAB7E7-BB14-F570-CBFC-A3674E7911D8}"/>
              </a:ext>
            </a:extLst>
          </p:cNvPr>
          <p:cNvSpPr/>
          <p:nvPr/>
        </p:nvSpPr>
        <p:spPr>
          <a:xfrm>
            <a:off x="621792" y="1444752"/>
            <a:ext cx="64008" cy="932688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6E880C2-9FF4-1FD7-1015-0BE633EC83E6}"/>
              </a:ext>
            </a:extLst>
          </p:cNvPr>
          <p:cNvSpPr txBox="1"/>
          <p:nvPr/>
        </p:nvSpPr>
        <p:spPr>
          <a:xfrm>
            <a:off x="786384" y="1545336"/>
            <a:ext cx="230428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대상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D59095-6EC2-4090-E455-9606EBB76D31}"/>
              </a:ext>
            </a:extLst>
          </p:cNvPr>
          <p:cNvSpPr txBox="1"/>
          <p:nvPr/>
        </p:nvSpPr>
        <p:spPr>
          <a:xfrm>
            <a:off x="786384" y="1792224"/>
            <a:ext cx="2304288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반복적인 월별 재무 운영을 직접 챙겨야 하는 소규모 사업자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6985141-9ECF-C30C-374D-6320113B9A3E}"/>
              </a:ext>
            </a:extLst>
          </p:cNvPr>
          <p:cNvSpPr/>
          <p:nvPr/>
        </p:nvSpPr>
        <p:spPr>
          <a:xfrm>
            <a:off x="3438144" y="1444752"/>
            <a:ext cx="2596896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CE9C2ED4-71E8-FC86-A44E-4DE48A0F458F}"/>
              </a:ext>
            </a:extLst>
          </p:cNvPr>
          <p:cNvSpPr/>
          <p:nvPr/>
        </p:nvSpPr>
        <p:spPr>
          <a:xfrm>
            <a:off x="3438144" y="1444752"/>
            <a:ext cx="64008" cy="932688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A438031-F18E-1180-1A78-853D379D5E85}"/>
              </a:ext>
            </a:extLst>
          </p:cNvPr>
          <p:cNvSpPr txBox="1"/>
          <p:nvPr/>
        </p:nvSpPr>
        <p:spPr>
          <a:xfrm>
            <a:off x="3602736" y="1545336"/>
            <a:ext cx="230428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핵심 문제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F2FC126-6EDF-487F-C7B2-CFEF55356651}"/>
              </a:ext>
            </a:extLst>
          </p:cNvPr>
          <p:cNvSpPr txBox="1"/>
          <p:nvPr/>
        </p:nvSpPr>
        <p:spPr>
          <a:xfrm>
            <a:off x="3602736" y="1792224"/>
            <a:ext cx="2304288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예정 거래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실제 거래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전표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마감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보고가 서로 끊겨 있음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CCC14388-53ED-6396-4EB9-0111923ACB5F}"/>
              </a:ext>
            </a:extLst>
          </p:cNvPr>
          <p:cNvSpPr/>
          <p:nvPr/>
        </p:nvSpPr>
        <p:spPr>
          <a:xfrm>
            <a:off x="6254496" y="1444752"/>
            <a:ext cx="2596896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6D0274F1-44E0-B4E0-A015-436726D1F4B8}"/>
              </a:ext>
            </a:extLst>
          </p:cNvPr>
          <p:cNvSpPr/>
          <p:nvPr/>
        </p:nvSpPr>
        <p:spPr>
          <a:xfrm>
            <a:off x="6254496" y="1444752"/>
            <a:ext cx="64008" cy="932688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15783AC-75A6-A05D-54A4-69809E7E5516}"/>
              </a:ext>
            </a:extLst>
          </p:cNvPr>
          <p:cNvSpPr txBox="1"/>
          <p:nvPr/>
        </p:nvSpPr>
        <p:spPr>
          <a:xfrm>
            <a:off x="6419088" y="1545336"/>
            <a:ext cx="230428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제품 해법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C6B53F0-09D1-85A6-DDAE-47E9FC70849A}"/>
              </a:ext>
            </a:extLst>
          </p:cNvPr>
          <p:cNvSpPr txBox="1"/>
          <p:nvPr/>
        </p:nvSpPr>
        <p:spPr>
          <a:xfrm>
            <a:off x="6419088" y="1792224"/>
            <a:ext cx="2304288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한 달의 운영을 열고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수집하고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확정하고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닫는 흐름 제공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C4D57ED8-3A0E-1D23-6D90-66A80313062F}"/>
              </a:ext>
            </a:extLst>
          </p:cNvPr>
          <p:cNvSpPr/>
          <p:nvPr/>
        </p:nvSpPr>
        <p:spPr>
          <a:xfrm>
            <a:off x="9070848" y="1444752"/>
            <a:ext cx="2596896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C078EB97-0CB1-14F4-DB1C-4DEF9F8EF1A0}"/>
              </a:ext>
            </a:extLst>
          </p:cNvPr>
          <p:cNvSpPr/>
          <p:nvPr/>
        </p:nvSpPr>
        <p:spPr>
          <a:xfrm>
            <a:off x="9070848" y="1444752"/>
            <a:ext cx="64008" cy="932688"/>
          </a:xfrm>
          <a:prstGeom prst="rect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D096D3A-F4BB-B21D-3C81-EB9CA492E867}"/>
              </a:ext>
            </a:extLst>
          </p:cNvPr>
          <p:cNvSpPr txBox="1"/>
          <p:nvPr/>
        </p:nvSpPr>
        <p:spPr>
          <a:xfrm>
            <a:off x="9235440" y="1545336"/>
            <a:ext cx="230428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E11D4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기술 판단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4ADF9B5-D675-63ED-3776-78A0EABAC87F}"/>
              </a:ext>
            </a:extLst>
          </p:cNvPr>
          <p:cNvSpPr txBox="1"/>
          <p:nvPr/>
        </p:nvSpPr>
        <p:spPr>
          <a:xfrm>
            <a:off x="9235440" y="1792224"/>
            <a:ext cx="2304288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Modular monolith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와 선택적 헥사고날 구조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A907C170-20AF-CC3D-ED53-4A978AFCCF57}"/>
              </a:ext>
            </a:extLst>
          </p:cNvPr>
          <p:cNvSpPr/>
          <p:nvPr/>
        </p:nvSpPr>
        <p:spPr>
          <a:xfrm>
            <a:off x="658368" y="2788920"/>
            <a:ext cx="5212080" cy="221284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4795F7C-8EAF-F07F-0535-A1FEBFD81DFE}"/>
              </a:ext>
            </a:extLst>
          </p:cNvPr>
          <p:cNvSpPr txBox="1"/>
          <p:nvPr/>
        </p:nvSpPr>
        <p:spPr>
          <a:xfrm>
            <a:off x="868680" y="2971800"/>
            <a:ext cx="44805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50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제품이 다루는 월 운영 범위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95CFDA5-E343-3F36-4864-8219A311193E}"/>
              </a:ext>
            </a:extLst>
          </p:cNvPr>
          <p:cNvSpPr txBox="1"/>
          <p:nvPr/>
        </p:nvSpPr>
        <p:spPr>
          <a:xfrm>
            <a:off x="932688" y="3456432"/>
            <a:ext cx="4434840" cy="120032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• </a:t>
            </a:r>
            <a:r>
              <a:rPr lang="ko-KR" altLang="en-US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기준 데이터 준비와 월 운영 시작</a:t>
            </a:r>
          </a:p>
          <a:p>
            <a:r>
              <a:rPr lang="en-US" altLang="ko-KR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• </a:t>
            </a:r>
            <a:r>
              <a:rPr lang="ko-KR" altLang="en-US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계획 항목</a:t>
            </a:r>
            <a:r>
              <a:rPr lang="en-US" altLang="ko-KR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반복 규칙</a:t>
            </a:r>
            <a:r>
              <a:rPr lang="en-US" altLang="ko-KR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업로드</a:t>
            </a:r>
            <a:r>
              <a:rPr lang="en-US" altLang="ko-KR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수집 거래</a:t>
            </a:r>
          </a:p>
          <a:p>
            <a:r>
              <a:rPr lang="en-US" altLang="ko-KR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• </a:t>
            </a:r>
            <a:r>
              <a:rPr lang="ko-KR" altLang="en-US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전표 확정</a:t>
            </a:r>
            <a:r>
              <a:rPr lang="en-US" altLang="ko-KR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월 마감</a:t>
            </a:r>
            <a:r>
              <a:rPr lang="en-US" altLang="ko-KR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재무제표 스냅샷</a:t>
            </a:r>
          </a:p>
          <a:p>
            <a:r>
              <a:rPr lang="en-US" altLang="ko-KR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• </a:t>
            </a:r>
            <a:r>
              <a:rPr lang="ko-KR" altLang="en-US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이월</a:t>
            </a:r>
            <a:r>
              <a:rPr lang="en-US" altLang="ko-KR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전망</a:t>
            </a:r>
            <a:r>
              <a:rPr lang="en-US" altLang="ko-KR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운영 허브</a:t>
            </a:r>
            <a:r>
              <a:rPr lang="en-US" altLang="ko-KR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관리자</a:t>
            </a:r>
            <a:r>
              <a:rPr lang="en-US" altLang="ko-KR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r>
              <a:rPr lang="ko-KR" altLang="en-US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감사 로그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E6BE96BA-9E04-AE7D-3DA0-CD1EB7DD3710}"/>
              </a:ext>
            </a:extLst>
          </p:cNvPr>
          <p:cNvSpPr/>
          <p:nvPr/>
        </p:nvSpPr>
        <p:spPr>
          <a:xfrm>
            <a:off x="6291072" y="2788920"/>
            <a:ext cx="5212080" cy="2212848"/>
          </a:xfrm>
          <a:prstGeom prst="rect">
            <a:avLst/>
          </a:prstGeom>
          <a:solidFill>
            <a:srgbClr val="18181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409D58E-128A-7953-4892-DE572C7B529F}"/>
              </a:ext>
            </a:extLst>
          </p:cNvPr>
          <p:cNvSpPr txBox="1"/>
          <p:nvPr/>
        </p:nvSpPr>
        <p:spPr>
          <a:xfrm>
            <a:off x="6492240" y="2971800"/>
            <a:ext cx="44805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500" b="1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포트폴리오에서 드러나는 역량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F814B61-BAEA-D296-4A3A-CDDB58874E8C}"/>
              </a:ext>
            </a:extLst>
          </p:cNvPr>
          <p:cNvSpPr txBox="1"/>
          <p:nvPr/>
        </p:nvSpPr>
        <p:spPr>
          <a:xfrm>
            <a:off x="6565392" y="3456432"/>
            <a:ext cx="4434840" cy="2308324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14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• </a:t>
            </a:r>
            <a:r>
              <a:rPr lang="ko-KR" altLang="en-US" sz="114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문제 정의에서 화면 설계까지 이어지는 제품 사고</a:t>
            </a:r>
          </a:p>
          <a:p>
            <a:r>
              <a:rPr lang="en-US" altLang="ko-KR" sz="114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• ERP </a:t>
            </a:r>
            <a:r>
              <a:rPr lang="ko-KR" altLang="en-US" sz="114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유지보수 경험에서 나온 상태</a:t>
            </a:r>
            <a:r>
              <a:rPr lang="en-US" altLang="ko-KR" sz="114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·</a:t>
            </a:r>
            <a:r>
              <a:rPr lang="ko-KR" altLang="en-US" sz="114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예외</a:t>
            </a:r>
            <a:r>
              <a:rPr lang="en-US" altLang="ko-KR" sz="114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·</a:t>
            </a:r>
            <a:r>
              <a:rPr lang="ko-KR" altLang="en-US" sz="114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감사 설계</a:t>
            </a:r>
          </a:p>
          <a:p>
            <a:r>
              <a:rPr lang="en-US" altLang="ko-KR" sz="114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• </a:t>
            </a:r>
            <a:r>
              <a:rPr lang="ko-KR" altLang="en-US" sz="114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도메인 경계와 상태 전이를 코드</a:t>
            </a:r>
            <a:r>
              <a:rPr lang="en-US" altLang="ko-KR" sz="114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r>
              <a:rPr lang="ko-KR" altLang="en-US" sz="114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화면으로 구현</a:t>
            </a:r>
          </a:p>
          <a:p>
            <a:r>
              <a:rPr lang="en-US" altLang="ko-KR" sz="114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• Web/API/DB/</a:t>
            </a:r>
            <a:r>
              <a:rPr lang="ko-KR" altLang="en-US" sz="114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검증</a:t>
            </a:r>
            <a:r>
              <a:rPr lang="en-US" altLang="ko-KR" sz="114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r>
              <a:rPr lang="ko-KR" altLang="en-US" sz="114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배포를 연결한 완성도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0C14E093-2314-FAFD-2E04-44EC8997A84E}"/>
              </a:ext>
            </a:extLst>
          </p:cNvPr>
          <p:cNvSpPr/>
          <p:nvPr/>
        </p:nvSpPr>
        <p:spPr>
          <a:xfrm>
            <a:off x="6473952" y="4645152"/>
            <a:ext cx="1143000" cy="64008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FE13B864-8F31-D189-50A5-8A8AB32E3852}"/>
              </a:ext>
            </a:extLst>
          </p:cNvPr>
          <p:cNvSpPr/>
          <p:nvPr/>
        </p:nvSpPr>
        <p:spPr>
          <a:xfrm>
            <a:off x="7772400" y="4645152"/>
            <a:ext cx="1143000" cy="64008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13DA7B43-DE60-85CE-91BF-38F1D18CEA63}"/>
              </a:ext>
            </a:extLst>
          </p:cNvPr>
          <p:cNvSpPr/>
          <p:nvPr/>
        </p:nvSpPr>
        <p:spPr>
          <a:xfrm>
            <a:off x="9070848" y="4645152"/>
            <a:ext cx="1143000" cy="64008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23889FF-DF6D-9CCD-D012-692E9FDB620A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1E7258A-30E2-044D-98EC-9B5DDEA9F79E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02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639301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656F8678-9DFC-2DAF-F74F-B7239D783B3B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66FDFB5-680B-5A19-C685-16D555B1B518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298F928C-201E-0C8C-1746-CE0FC4404809}"/>
              </a:ext>
            </a:extLst>
          </p:cNvPr>
          <p:cNvSpPr/>
          <p:nvPr/>
        </p:nvSpPr>
        <p:spPr>
          <a:xfrm>
            <a:off x="548640" y="310896"/>
            <a:ext cx="1170432" cy="228600"/>
          </a:xfrm>
          <a:prstGeom prst="roundRect">
            <a:avLst/>
          </a:prstGeom>
          <a:solidFill>
            <a:srgbClr val="EAFB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335BAD-A30B-3BDC-728D-6C6601DDFF46}"/>
              </a:ext>
            </a:extLst>
          </p:cNvPr>
          <p:cNvSpPr txBox="1"/>
          <p:nvPr/>
        </p:nvSpPr>
        <p:spPr>
          <a:xfrm>
            <a:off x="630936" y="338328"/>
            <a:ext cx="96012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7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PROBLEM</a:t>
            </a:r>
            <a:endParaRPr lang="ko-KR" altLang="en-US" sz="7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65E968A-9737-4798-DB2B-7777EBA6142D}"/>
              </a:ext>
            </a:extLst>
          </p:cNvPr>
          <p:cNvSpPr txBox="1"/>
          <p:nvPr/>
        </p:nvSpPr>
        <p:spPr>
          <a:xfrm>
            <a:off x="530352" y="603504"/>
            <a:ext cx="10698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해결하려는 문제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64F0211D-64FB-C33A-5A4B-EB90652AF0E3}"/>
              </a:ext>
            </a:extLst>
          </p:cNvPr>
          <p:cNvCxnSpPr/>
          <p:nvPr/>
        </p:nvCxnSpPr>
        <p:spPr>
          <a:xfrm>
            <a:off x="548640" y="1097280"/>
            <a:ext cx="11109960" cy="0"/>
          </a:xfrm>
          <a:prstGeom prst="line">
            <a:avLst/>
          </a:prstGeom>
          <a:ln w="15240">
            <a:solidFill>
              <a:srgbClr val="E8EDF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88B87DCF-8E93-1562-622C-FBDD2B26A86C}"/>
              </a:ext>
            </a:extLst>
          </p:cNvPr>
          <p:cNvSpPr txBox="1"/>
          <p:nvPr/>
        </p:nvSpPr>
        <p:spPr>
          <a:xfrm>
            <a:off x="713232" y="1298448"/>
            <a:ext cx="43891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00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Pain point</a:t>
            </a:r>
            <a:endParaRPr lang="ko-KR" altLang="en-US" sz="1000" b="1">
              <a:solidFill>
                <a:srgbClr val="D97706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3AF2BD-3604-118A-583D-4740B97A7BE0}"/>
              </a:ext>
            </a:extLst>
          </p:cNvPr>
          <p:cNvSpPr txBox="1"/>
          <p:nvPr/>
        </p:nvSpPr>
        <p:spPr>
          <a:xfrm>
            <a:off x="4526280" y="1298448"/>
            <a:ext cx="43891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00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Product response</a:t>
            </a:r>
            <a:endParaRPr lang="ko-KR" altLang="en-US" sz="100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E55D257-A69F-026B-C214-FFE167916D7B}"/>
              </a:ext>
            </a:extLst>
          </p:cNvPr>
          <p:cNvSpPr/>
          <p:nvPr/>
        </p:nvSpPr>
        <p:spPr>
          <a:xfrm>
            <a:off x="658368" y="1645920"/>
            <a:ext cx="3154680" cy="74980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5D3E3446-7267-B56A-60D9-832CFDB07312}"/>
              </a:ext>
            </a:extLst>
          </p:cNvPr>
          <p:cNvSpPr/>
          <p:nvPr/>
        </p:nvSpPr>
        <p:spPr>
          <a:xfrm>
            <a:off x="658368" y="1645920"/>
            <a:ext cx="64008" cy="749808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793532F-DC54-677D-CB85-0025E701B67D}"/>
              </a:ext>
            </a:extLst>
          </p:cNvPr>
          <p:cNvSpPr txBox="1"/>
          <p:nvPr/>
        </p:nvSpPr>
        <p:spPr>
          <a:xfrm>
            <a:off x="822960" y="1737360"/>
            <a:ext cx="286207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5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거래가 흩어짐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6471F4F-A598-E6C7-0327-0AF79FBAB81F}"/>
              </a:ext>
            </a:extLst>
          </p:cNvPr>
          <p:cNvSpPr txBox="1"/>
          <p:nvPr/>
        </p:nvSpPr>
        <p:spPr>
          <a:xfrm>
            <a:off x="822960" y="1975104"/>
            <a:ext cx="286207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통장</a:t>
            </a:r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카드</a:t>
            </a:r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수기 입력</a:t>
            </a:r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업로드 파일이 따로 움직임</a:t>
            </a:r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32FB140E-5360-322A-4E3E-1746783B4A24}"/>
              </a:ext>
            </a:extLst>
          </p:cNvPr>
          <p:cNvCxnSpPr/>
          <p:nvPr/>
        </p:nvCxnSpPr>
        <p:spPr>
          <a:xfrm>
            <a:off x="3913632" y="2020824"/>
            <a:ext cx="365760" cy="0"/>
          </a:xfrm>
          <a:prstGeom prst="line">
            <a:avLst/>
          </a:prstGeom>
          <a:ln w="15240">
            <a:solidFill>
              <a:srgbClr val="D8DE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F0B8A141-DC74-05EE-42F8-FF6083AFDBFF}"/>
              </a:ext>
            </a:extLst>
          </p:cNvPr>
          <p:cNvSpPr/>
          <p:nvPr/>
        </p:nvSpPr>
        <p:spPr>
          <a:xfrm>
            <a:off x="4443984" y="1645920"/>
            <a:ext cx="6720840" cy="74980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66600BEB-233C-02FA-A8AB-EE262D7B06AC}"/>
              </a:ext>
            </a:extLst>
          </p:cNvPr>
          <p:cNvSpPr/>
          <p:nvPr/>
        </p:nvSpPr>
        <p:spPr>
          <a:xfrm>
            <a:off x="4443984" y="1645920"/>
            <a:ext cx="64008" cy="749808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FA7ED29-E1AE-F6ED-8201-4BD5A2AF8693}"/>
              </a:ext>
            </a:extLst>
          </p:cNvPr>
          <p:cNvSpPr txBox="1"/>
          <p:nvPr/>
        </p:nvSpPr>
        <p:spPr>
          <a:xfrm>
            <a:off x="4608576" y="1737360"/>
            <a:ext cx="64282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대응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A0E4BAA-BAEF-7A39-9B8B-1FDAA2BF75E4}"/>
              </a:ext>
            </a:extLst>
          </p:cNvPr>
          <p:cNvSpPr txBox="1"/>
          <p:nvPr/>
        </p:nvSpPr>
        <p:spPr>
          <a:xfrm>
            <a:off x="4608576" y="1975104"/>
            <a:ext cx="64282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업로드 배치와 수집 거래로 입력을 모음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A545AFD3-A667-ED86-396D-734F25248891}"/>
              </a:ext>
            </a:extLst>
          </p:cNvPr>
          <p:cNvSpPr/>
          <p:nvPr/>
        </p:nvSpPr>
        <p:spPr>
          <a:xfrm>
            <a:off x="658368" y="2578608"/>
            <a:ext cx="3154680" cy="74980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51053AC7-C0B3-5466-794E-8D61AC387187}"/>
              </a:ext>
            </a:extLst>
          </p:cNvPr>
          <p:cNvSpPr/>
          <p:nvPr/>
        </p:nvSpPr>
        <p:spPr>
          <a:xfrm>
            <a:off x="658368" y="2578608"/>
            <a:ext cx="64008" cy="749808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E85433C-82E4-876D-C5A7-34C6542CACFE}"/>
              </a:ext>
            </a:extLst>
          </p:cNvPr>
          <p:cNvSpPr txBox="1"/>
          <p:nvPr/>
        </p:nvSpPr>
        <p:spPr>
          <a:xfrm>
            <a:off x="822960" y="2670048"/>
            <a:ext cx="286207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5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계획과 실제가 끊김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DB7724B-6935-2360-2731-A7D20890D1B4}"/>
              </a:ext>
            </a:extLst>
          </p:cNvPr>
          <p:cNvSpPr txBox="1"/>
          <p:nvPr/>
        </p:nvSpPr>
        <p:spPr>
          <a:xfrm>
            <a:off x="822960" y="2907792"/>
            <a:ext cx="286207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예정 거래가 실제 거래와 이어지지 않음</a:t>
            </a:r>
          </a:p>
        </p:txBody>
      </p: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905F0E7B-E965-24A5-982C-3724BA7C5B92}"/>
              </a:ext>
            </a:extLst>
          </p:cNvPr>
          <p:cNvCxnSpPr/>
          <p:nvPr/>
        </p:nvCxnSpPr>
        <p:spPr>
          <a:xfrm>
            <a:off x="3913632" y="2953512"/>
            <a:ext cx="365760" cy="0"/>
          </a:xfrm>
          <a:prstGeom prst="line">
            <a:avLst/>
          </a:prstGeom>
          <a:ln w="15240">
            <a:solidFill>
              <a:srgbClr val="D8DE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34DC03C6-9E7C-7DBD-1025-53BF2BF7C590}"/>
              </a:ext>
            </a:extLst>
          </p:cNvPr>
          <p:cNvSpPr/>
          <p:nvPr/>
        </p:nvSpPr>
        <p:spPr>
          <a:xfrm>
            <a:off x="4443984" y="2578608"/>
            <a:ext cx="6720840" cy="74980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FA78840B-2024-BF02-8161-D38CDC4BE199}"/>
              </a:ext>
            </a:extLst>
          </p:cNvPr>
          <p:cNvSpPr/>
          <p:nvPr/>
        </p:nvSpPr>
        <p:spPr>
          <a:xfrm>
            <a:off x="4443984" y="2578608"/>
            <a:ext cx="64008" cy="749808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A03A37A-B587-89CD-A6FB-ADBDB2B5C4FD}"/>
              </a:ext>
            </a:extLst>
          </p:cNvPr>
          <p:cNvSpPr txBox="1"/>
          <p:nvPr/>
        </p:nvSpPr>
        <p:spPr>
          <a:xfrm>
            <a:off x="4608576" y="2670048"/>
            <a:ext cx="64282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대응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32C5802-3658-D843-BFD6-730E9F87CFFC}"/>
              </a:ext>
            </a:extLst>
          </p:cNvPr>
          <p:cNvSpPr txBox="1"/>
          <p:nvPr/>
        </p:nvSpPr>
        <p:spPr>
          <a:xfrm>
            <a:off x="4608576" y="2907792"/>
            <a:ext cx="64282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반복 규칙</a:t>
            </a:r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계획 항목</a:t>
            </a:r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수집 거래를 연결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51A958D4-AB74-CB31-84B3-CDE236AA62E3}"/>
              </a:ext>
            </a:extLst>
          </p:cNvPr>
          <p:cNvSpPr/>
          <p:nvPr/>
        </p:nvSpPr>
        <p:spPr>
          <a:xfrm>
            <a:off x="658368" y="3511296"/>
            <a:ext cx="3154680" cy="74980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88144B82-3845-F53D-23EB-12A9CA995BEA}"/>
              </a:ext>
            </a:extLst>
          </p:cNvPr>
          <p:cNvSpPr/>
          <p:nvPr/>
        </p:nvSpPr>
        <p:spPr>
          <a:xfrm>
            <a:off x="658368" y="3511296"/>
            <a:ext cx="64008" cy="749808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67895AA-F66B-F596-D26A-127F8ACFA890}"/>
              </a:ext>
            </a:extLst>
          </p:cNvPr>
          <p:cNvSpPr txBox="1"/>
          <p:nvPr/>
        </p:nvSpPr>
        <p:spPr>
          <a:xfrm>
            <a:off x="822960" y="3602736"/>
            <a:ext cx="286207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5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공식 숫자가 불명확함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8859149-EE0A-7CBD-D304-5BFE10A3B300}"/>
              </a:ext>
            </a:extLst>
          </p:cNvPr>
          <p:cNvSpPr txBox="1"/>
          <p:nvPr/>
        </p:nvSpPr>
        <p:spPr>
          <a:xfrm>
            <a:off x="822960" y="3840480"/>
            <a:ext cx="286207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검토 중 거래와 확정 기록이 섞임</a:t>
            </a:r>
          </a:p>
        </p:txBody>
      </p: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B97686D8-2856-23A7-192B-8427659924AB}"/>
              </a:ext>
            </a:extLst>
          </p:cNvPr>
          <p:cNvCxnSpPr/>
          <p:nvPr/>
        </p:nvCxnSpPr>
        <p:spPr>
          <a:xfrm>
            <a:off x="3913632" y="3886200"/>
            <a:ext cx="365760" cy="0"/>
          </a:xfrm>
          <a:prstGeom prst="line">
            <a:avLst/>
          </a:prstGeom>
          <a:ln w="15240">
            <a:solidFill>
              <a:srgbClr val="D8DE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AA321DD7-7BB3-34C8-34E0-BABEDA4F65DE}"/>
              </a:ext>
            </a:extLst>
          </p:cNvPr>
          <p:cNvSpPr/>
          <p:nvPr/>
        </p:nvSpPr>
        <p:spPr>
          <a:xfrm>
            <a:off x="4443984" y="3511296"/>
            <a:ext cx="6720840" cy="74980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97CBC69C-0F6E-1C6D-4DAE-E07632698009}"/>
              </a:ext>
            </a:extLst>
          </p:cNvPr>
          <p:cNvSpPr/>
          <p:nvPr/>
        </p:nvSpPr>
        <p:spPr>
          <a:xfrm>
            <a:off x="4443984" y="3511296"/>
            <a:ext cx="64008" cy="749808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599F814-7D9F-6525-5AC3-C97466C065E7}"/>
              </a:ext>
            </a:extLst>
          </p:cNvPr>
          <p:cNvSpPr txBox="1"/>
          <p:nvPr/>
        </p:nvSpPr>
        <p:spPr>
          <a:xfrm>
            <a:off x="4608576" y="3602736"/>
            <a:ext cx="64282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대응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7FCA179-68F4-1308-B3DD-5E0EEA73B440}"/>
              </a:ext>
            </a:extLst>
          </p:cNvPr>
          <p:cNvSpPr txBox="1"/>
          <p:nvPr/>
        </p:nvSpPr>
        <p:spPr>
          <a:xfrm>
            <a:off x="4608576" y="3840480"/>
            <a:ext cx="64282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전표와 마감 스냅샷으로 공식 기록 분리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4BBB4DC6-12E5-1499-3325-1CE815FD4D8A}"/>
              </a:ext>
            </a:extLst>
          </p:cNvPr>
          <p:cNvSpPr/>
          <p:nvPr/>
        </p:nvSpPr>
        <p:spPr>
          <a:xfrm>
            <a:off x="658368" y="4443984"/>
            <a:ext cx="3154680" cy="74980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F4298E6D-AC10-E1C9-3D2F-CC49928D0DB6}"/>
              </a:ext>
            </a:extLst>
          </p:cNvPr>
          <p:cNvSpPr/>
          <p:nvPr/>
        </p:nvSpPr>
        <p:spPr>
          <a:xfrm>
            <a:off x="658368" y="4443984"/>
            <a:ext cx="64008" cy="749808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4D84D95-F1BA-FFC8-FC81-1A57B4913B51}"/>
              </a:ext>
            </a:extLst>
          </p:cNvPr>
          <p:cNvSpPr txBox="1"/>
          <p:nvPr/>
        </p:nvSpPr>
        <p:spPr>
          <a:xfrm>
            <a:off x="822960" y="4535424"/>
            <a:ext cx="286207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5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다음 달 준비가 수동적임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80EB4FB-764A-4025-F4C6-B18D87712283}"/>
              </a:ext>
            </a:extLst>
          </p:cNvPr>
          <p:cNvSpPr txBox="1"/>
          <p:nvPr/>
        </p:nvSpPr>
        <p:spPr>
          <a:xfrm>
            <a:off x="822960" y="4773168"/>
            <a:ext cx="286207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마감 이후 이월과 전망이 따로 관리됨</a:t>
            </a:r>
          </a:p>
        </p:txBody>
      </p: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397626FB-EB77-B7B4-AF85-25C7B040AA33}"/>
              </a:ext>
            </a:extLst>
          </p:cNvPr>
          <p:cNvCxnSpPr/>
          <p:nvPr/>
        </p:nvCxnSpPr>
        <p:spPr>
          <a:xfrm>
            <a:off x="3913632" y="4818888"/>
            <a:ext cx="365760" cy="0"/>
          </a:xfrm>
          <a:prstGeom prst="line">
            <a:avLst/>
          </a:prstGeom>
          <a:ln w="15240">
            <a:solidFill>
              <a:srgbClr val="D8DE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91E2D999-425A-D733-BD5B-0D4FC60795C6}"/>
              </a:ext>
            </a:extLst>
          </p:cNvPr>
          <p:cNvSpPr/>
          <p:nvPr/>
        </p:nvSpPr>
        <p:spPr>
          <a:xfrm>
            <a:off x="4443984" y="4443984"/>
            <a:ext cx="6720840" cy="74980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95B7D12F-6677-A4C1-B889-6A3F10F106FE}"/>
              </a:ext>
            </a:extLst>
          </p:cNvPr>
          <p:cNvSpPr/>
          <p:nvPr/>
        </p:nvSpPr>
        <p:spPr>
          <a:xfrm>
            <a:off x="4443984" y="4443984"/>
            <a:ext cx="64008" cy="749808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AEA1173-CA04-E61A-849E-C1182FD4538D}"/>
              </a:ext>
            </a:extLst>
          </p:cNvPr>
          <p:cNvSpPr txBox="1"/>
          <p:nvPr/>
        </p:nvSpPr>
        <p:spPr>
          <a:xfrm>
            <a:off x="4608576" y="4535424"/>
            <a:ext cx="64282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대응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17295FE-EF6A-4E3F-E67A-7E2FCECBAF31}"/>
              </a:ext>
            </a:extLst>
          </p:cNvPr>
          <p:cNvSpPr txBox="1"/>
          <p:nvPr/>
        </p:nvSpPr>
        <p:spPr>
          <a:xfrm>
            <a:off x="4608576" y="4773168"/>
            <a:ext cx="64282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차기 이월과 전망으로 다음 월 운영 연결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02E0DB2-77B6-D14D-5B97-92917AA0DF6F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42C2A91-F64F-37FE-553E-42DCC9757422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03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611099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CDE4FBCD-2B91-F2E9-2820-F91230080A23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FA11E7B-AA25-B2AC-3B89-51F6F5C17AC9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1C211A7F-9396-1AEB-758C-06778A1600BC}"/>
              </a:ext>
            </a:extLst>
          </p:cNvPr>
          <p:cNvSpPr/>
          <p:nvPr/>
        </p:nvSpPr>
        <p:spPr>
          <a:xfrm>
            <a:off x="548640" y="310896"/>
            <a:ext cx="1170432" cy="228600"/>
          </a:xfrm>
          <a:prstGeom prst="roundRect">
            <a:avLst/>
          </a:prstGeom>
          <a:solidFill>
            <a:srgbClr val="EAFB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FF85CF-51C7-E70A-CA9A-449A93356884}"/>
              </a:ext>
            </a:extLst>
          </p:cNvPr>
          <p:cNvSpPr txBox="1"/>
          <p:nvPr/>
        </p:nvSpPr>
        <p:spPr>
          <a:xfrm>
            <a:off x="630936" y="338328"/>
            <a:ext cx="96012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7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USER FLOW</a:t>
            </a:r>
            <a:endParaRPr lang="ko-KR" altLang="en-US" sz="7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4ADC14D-F53F-FAAB-B1D3-A6ECDCC3E4D7}"/>
              </a:ext>
            </a:extLst>
          </p:cNvPr>
          <p:cNvSpPr txBox="1"/>
          <p:nvPr/>
        </p:nvSpPr>
        <p:spPr>
          <a:xfrm>
            <a:off x="530352" y="603504"/>
            <a:ext cx="10698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사용자 시나리오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CDE2960B-437F-982A-19D2-22F152DF778A}"/>
              </a:ext>
            </a:extLst>
          </p:cNvPr>
          <p:cNvCxnSpPr/>
          <p:nvPr/>
        </p:nvCxnSpPr>
        <p:spPr>
          <a:xfrm>
            <a:off x="548640" y="1097280"/>
            <a:ext cx="11109960" cy="0"/>
          </a:xfrm>
          <a:prstGeom prst="line">
            <a:avLst/>
          </a:prstGeom>
          <a:ln w="15240">
            <a:solidFill>
              <a:srgbClr val="E8EDF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93032B48-87D1-041C-95A4-E879FA5A080B}"/>
              </a:ext>
            </a:extLst>
          </p:cNvPr>
          <p:cNvSpPr/>
          <p:nvPr/>
        </p:nvSpPr>
        <p:spPr>
          <a:xfrm>
            <a:off x="713232" y="1417320"/>
            <a:ext cx="4297680" cy="3749040"/>
          </a:xfrm>
          <a:prstGeom prst="rect">
            <a:avLst/>
          </a:prstGeom>
          <a:solidFill>
            <a:srgbClr val="18181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26A17BF-FE12-1BEE-A81A-80EE627DA428}"/>
              </a:ext>
            </a:extLst>
          </p:cNvPr>
          <p:cNvSpPr txBox="1"/>
          <p:nvPr/>
        </p:nvSpPr>
        <p:spPr>
          <a:xfrm>
            <a:off x="960120" y="1700784"/>
            <a:ext cx="361188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500" b="1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한 달 운영에서 사용자가 해야 하는 일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2E7B97C-6869-DBA0-EE0F-F729E7444087}"/>
              </a:ext>
            </a:extLst>
          </p:cNvPr>
          <p:cNvSpPr txBox="1"/>
          <p:nvPr/>
        </p:nvSpPr>
        <p:spPr>
          <a:xfrm>
            <a:off x="987552" y="2240280"/>
            <a:ext cx="3520440" cy="147732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22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• </a:t>
            </a:r>
            <a:r>
              <a:rPr lang="ko-KR" altLang="en-US" sz="122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기준 데이터 확인
</a:t>
            </a:r>
            <a:r>
              <a:rPr lang="en-US" altLang="ko-KR" sz="122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• </a:t>
            </a:r>
            <a:r>
              <a:rPr lang="ko-KR" altLang="en-US" sz="122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이번 달 예정 거래 생성
</a:t>
            </a:r>
            <a:r>
              <a:rPr lang="en-US" altLang="ko-KR" sz="122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• </a:t>
            </a:r>
            <a:r>
              <a:rPr lang="ko-KR" altLang="en-US" sz="122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통장</a:t>
            </a:r>
            <a:r>
              <a:rPr lang="en-US" altLang="ko-KR" sz="122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r>
              <a:rPr lang="ko-KR" altLang="en-US" sz="122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카드</a:t>
            </a:r>
            <a:r>
              <a:rPr lang="en-US" altLang="ko-KR" sz="122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r>
              <a:rPr lang="ko-KR" altLang="en-US" sz="122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수기 입력 정리
</a:t>
            </a:r>
            <a:r>
              <a:rPr lang="en-US" altLang="ko-KR" sz="122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• </a:t>
            </a:r>
            <a:r>
              <a:rPr lang="ko-KR" altLang="en-US" sz="122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공식 전표 확정
</a:t>
            </a:r>
            <a:r>
              <a:rPr lang="en-US" altLang="ko-KR" sz="122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• </a:t>
            </a:r>
            <a:r>
              <a:rPr lang="ko-KR" altLang="en-US" sz="122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보고서와 다음 달 기준 생성</a:t>
            </a:r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43FC4EAB-E1D9-CDE5-66B8-7B6A8137E402}"/>
              </a:ext>
            </a:extLst>
          </p:cNvPr>
          <p:cNvCxnSpPr/>
          <p:nvPr/>
        </p:nvCxnSpPr>
        <p:spPr>
          <a:xfrm>
            <a:off x="5596128" y="1682496"/>
            <a:ext cx="0" cy="3200400"/>
          </a:xfrm>
          <a:prstGeom prst="line">
            <a:avLst/>
          </a:prstGeom>
          <a:ln w="15240">
            <a:solidFill>
              <a:srgbClr val="D8DEE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타원 11">
            <a:extLst>
              <a:ext uri="{FF2B5EF4-FFF2-40B4-BE49-F238E27FC236}">
                <a16:creationId xmlns:a16="http://schemas.microsoft.com/office/drawing/2014/main" id="{B6B23C8F-2BF0-A300-CC35-7B16F9EB30F8}"/>
              </a:ext>
            </a:extLst>
          </p:cNvPr>
          <p:cNvSpPr/>
          <p:nvPr/>
        </p:nvSpPr>
        <p:spPr>
          <a:xfrm>
            <a:off x="5376672" y="1627632"/>
            <a:ext cx="438912" cy="438912"/>
          </a:xfrm>
          <a:prstGeom prst="ellipse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B88249-7E4B-B73D-2FFF-C52BF98F674E}"/>
              </a:ext>
            </a:extLst>
          </p:cNvPr>
          <p:cNvSpPr txBox="1"/>
          <p:nvPr/>
        </p:nvSpPr>
        <p:spPr>
          <a:xfrm>
            <a:off x="5468112" y="1737360"/>
            <a:ext cx="2560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850" b="1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1</a:t>
            </a:r>
            <a:endParaRPr lang="ko-KR" altLang="en-US" sz="850" b="1">
              <a:solidFill>
                <a:srgbClr val="FFFFFF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5236B8E-8FD0-0953-3DA7-9CB302C75819}"/>
              </a:ext>
            </a:extLst>
          </p:cNvPr>
          <p:cNvSpPr/>
          <p:nvPr/>
        </p:nvSpPr>
        <p:spPr>
          <a:xfrm>
            <a:off x="6080760" y="1417320"/>
            <a:ext cx="5120640" cy="74980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F0C235B2-CFFA-2B85-4ACF-A615517838D8}"/>
              </a:ext>
            </a:extLst>
          </p:cNvPr>
          <p:cNvSpPr/>
          <p:nvPr/>
        </p:nvSpPr>
        <p:spPr>
          <a:xfrm>
            <a:off x="6080760" y="1417320"/>
            <a:ext cx="64008" cy="749808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F57EF1F-7150-DDC3-F42E-529155D2DBE2}"/>
              </a:ext>
            </a:extLst>
          </p:cNvPr>
          <p:cNvSpPr txBox="1"/>
          <p:nvPr/>
        </p:nvSpPr>
        <p:spPr>
          <a:xfrm>
            <a:off x="6245352" y="1508760"/>
            <a:ext cx="48280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5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운영 허브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4D6A51-B95F-9061-701F-4ED0875BBBC2}"/>
              </a:ext>
            </a:extLst>
          </p:cNvPr>
          <p:cNvSpPr txBox="1"/>
          <p:nvPr/>
        </p:nvSpPr>
        <p:spPr>
          <a:xfrm>
            <a:off x="6245352" y="1746504"/>
            <a:ext cx="48280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우선 작업과 마감 차단 사유 확인</a:t>
            </a:r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33C0521B-8843-B4D6-514F-3AD6865FE1C0}"/>
              </a:ext>
            </a:extLst>
          </p:cNvPr>
          <p:cNvSpPr/>
          <p:nvPr/>
        </p:nvSpPr>
        <p:spPr>
          <a:xfrm>
            <a:off x="5376672" y="2587752"/>
            <a:ext cx="438912" cy="438912"/>
          </a:xfrm>
          <a:prstGeom prst="ellipse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1913C47-B2F8-8858-7BEA-7BE69DE273FF}"/>
              </a:ext>
            </a:extLst>
          </p:cNvPr>
          <p:cNvSpPr txBox="1"/>
          <p:nvPr/>
        </p:nvSpPr>
        <p:spPr>
          <a:xfrm>
            <a:off x="5468112" y="2697480"/>
            <a:ext cx="2560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850" b="1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2</a:t>
            </a:r>
            <a:endParaRPr lang="ko-KR" altLang="en-US" sz="850" b="1">
              <a:solidFill>
                <a:srgbClr val="FFFFFF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C9B2FE1D-3AB4-0032-E9EC-3AC3491C7001}"/>
              </a:ext>
            </a:extLst>
          </p:cNvPr>
          <p:cNvSpPr/>
          <p:nvPr/>
        </p:nvSpPr>
        <p:spPr>
          <a:xfrm>
            <a:off x="6080760" y="2377440"/>
            <a:ext cx="5120640" cy="74980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6D3EF8D5-35D0-172F-5CC0-803C2917A2AC}"/>
              </a:ext>
            </a:extLst>
          </p:cNvPr>
          <p:cNvSpPr/>
          <p:nvPr/>
        </p:nvSpPr>
        <p:spPr>
          <a:xfrm>
            <a:off x="6080760" y="2377440"/>
            <a:ext cx="64008" cy="749808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F990E9A-9EFD-9ACA-6F14-112AFE7B362E}"/>
              </a:ext>
            </a:extLst>
          </p:cNvPr>
          <p:cNvSpPr txBox="1"/>
          <p:nvPr/>
        </p:nvSpPr>
        <p:spPr>
          <a:xfrm>
            <a:off x="6245352" y="2468880"/>
            <a:ext cx="48280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수집</a:t>
            </a:r>
            <a:r>
              <a:rPr lang="en-US" altLang="ko-KR" sz="10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r>
              <a:rPr lang="ko-KR" altLang="en-US" sz="10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업로드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A4F600C-477A-6BA1-F93D-453B19A2F4F7}"/>
              </a:ext>
            </a:extLst>
          </p:cNvPr>
          <p:cNvSpPr txBox="1"/>
          <p:nvPr/>
        </p:nvSpPr>
        <p:spPr>
          <a:xfrm>
            <a:off x="6245352" y="2706624"/>
            <a:ext cx="48280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입력 후보를 수집 거래로 정리</a:t>
            </a:r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4EF14BC9-8CBB-A52B-04FD-6F7E73D078CE}"/>
              </a:ext>
            </a:extLst>
          </p:cNvPr>
          <p:cNvSpPr/>
          <p:nvPr/>
        </p:nvSpPr>
        <p:spPr>
          <a:xfrm>
            <a:off x="5376672" y="3547872"/>
            <a:ext cx="438912" cy="438912"/>
          </a:xfrm>
          <a:prstGeom prst="ellipse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C30143B-AABC-4B57-FEAA-1B37102171D2}"/>
              </a:ext>
            </a:extLst>
          </p:cNvPr>
          <p:cNvSpPr txBox="1"/>
          <p:nvPr/>
        </p:nvSpPr>
        <p:spPr>
          <a:xfrm>
            <a:off x="5468112" y="3657600"/>
            <a:ext cx="2560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850" b="1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3</a:t>
            </a:r>
            <a:endParaRPr lang="ko-KR" altLang="en-US" sz="850" b="1">
              <a:solidFill>
                <a:srgbClr val="FFFFFF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88D25D57-CE9E-72E5-43A7-B4ED0F9BE4C4}"/>
              </a:ext>
            </a:extLst>
          </p:cNvPr>
          <p:cNvSpPr/>
          <p:nvPr/>
        </p:nvSpPr>
        <p:spPr>
          <a:xfrm>
            <a:off x="6080760" y="3337560"/>
            <a:ext cx="5120640" cy="74980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E968E0FB-64E8-4C98-2BC1-33E08872E60D}"/>
              </a:ext>
            </a:extLst>
          </p:cNvPr>
          <p:cNvSpPr/>
          <p:nvPr/>
        </p:nvSpPr>
        <p:spPr>
          <a:xfrm>
            <a:off x="6080760" y="3337560"/>
            <a:ext cx="64008" cy="749808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050D868-E6E9-A5EB-E933-F97EB87B887A}"/>
              </a:ext>
            </a:extLst>
          </p:cNvPr>
          <p:cNvSpPr txBox="1"/>
          <p:nvPr/>
        </p:nvSpPr>
        <p:spPr>
          <a:xfrm>
            <a:off x="6245352" y="3429000"/>
            <a:ext cx="48280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5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전표</a:t>
            </a:r>
            <a:r>
              <a:rPr lang="en-US" altLang="ko-KR" sz="105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r>
              <a:rPr lang="ko-KR" altLang="en-US" sz="105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마감</a:t>
            </a:r>
            <a:r>
              <a:rPr lang="en-US" altLang="ko-KR" sz="105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r>
              <a:rPr lang="ko-KR" altLang="en-US" sz="105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보고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46FC87B-C7AF-9832-9DFA-3FE2ECD911A4}"/>
              </a:ext>
            </a:extLst>
          </p:cNvPr>
          <p:cNvSpPr txBox="1"/>
          <p:nvPr/>
        </p:nvSpPr>
        <p:spPr>
          <a:xfrm>
            <a:off x="6245352" y="3666744"/>
            <a:ext cx="48280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공식 기록으로 확정하고 월 마감</a:t>
            </a:r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C3E11D33-B2C3-671C-4359-160518D38B06}"/>
              </a:ext>
            </a:extLst>
          </p:cNvPr>
          <p:cNvSpPr/>
          <p:nvPr/>
        </p:nvSpPr>
        <p:spPr>
          <a:xfrm>
            <a:off x="5376672" y="4507992"/>
            <a:ext cx="438912" cy="438912"/>
          </a:xfrm>
          <a:prstGeom prst="ellipse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57BD356-5B5B-BA81-B1DB-363D08C38F5F}"/>
              </a:ext>
            </a:extLst>
          </p:cNvPr>
          <p:cNvSpPr txBox="1"/>
          <p:nvPr/>
        </p:nvSpPr>
        <p:spPr>
          <a:xfrm>
            <a:off x="5468112" y="4617720"/>
            <a:ext cx="2560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850" b="1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4</a:t>
            </a:r>
            <a:endParaRPr lang="ko-KR" altLang="en-US" sz="850" b="1">
              <a:solidFill>
                <a:srgbClr val="FFFFFF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C3772426-92EB-5AFF-52C6-FAF10A64D9ED}"/>
              </a:ext>
            </a:extLst>
          </p:cNvPr>
          <p:cNvSpPr/>
          <p:nvPr/>
        </p:nvSpPr>
        <p:spPr>
          <a:xfrm>
            <a:off x="6080760" y="4297680"/>
            <a:ext cx="5120640" cy="74980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544E614A-7C8E-42D2-1467-67B3D102CBC9}"/>
              </a:ext>
            </a:extLst>
          </p:cNvPr>
          <p:cNvSpPr/>
          <p:nvPr/>
        </p:nvSpPr>
        <p:spPr>
          <a:xfrm>
            <a:off x="6080760" y="4297680"/>
            <a:ext cx="64008" cy="749808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E257065-5970-E3C3-7487-EDA4C441A3CD}"/>
              </a:ext>
            </a:extLst>
          </p:cNvPr>
          <p:cNvSpPr txBox="1"/>
          <p:nvPr/>
        </p:nvSpPr>
        <p:spPr>
          <a:xfrm>
            <a:off x="6245352" y="4389120"/>
            <a:ext cx="48280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5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이월</a:t>
            </a:r>
            <a:r>
              <a:rPr lang="en-US" altLang="ko-KR" sz="105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r>
              <a:rPr lang="ko-KR" altLang="en-US" sz="105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전망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DCA9A8E-1382-DB4F-B6D2-A2D8FAF80A92}"/>
              </a:ext>
            </a:extLst>
          </p:cNvPr>
          <p:cNvSpPr txBox="1"/>
          <p:nvPr/>
        </p:nvSpPr>
        <p:spPr>
          <a:xfrm>
            <a:off x="6245352" y="4626864"/>
            <a:ext cx="48280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결과를 다음 달 운영으로 연결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56B43D9-E12C-2A37-E647-173F78E65808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404AC2F-E708-084D-2899-8AE9BC0D428A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04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240208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091B2A38-554F-3986-A511-DAFEB4E01B97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015FDCA-2065-ECEA-046D-AE055D9F0578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9C30389E-3D7D-E9F4-69A0-EC40F8825322}"/>
              </a:ext>
            </a:extLst>
          </p:cNvPr>
          <p:cNvSpPr/>
          <p:nvPr/>
        </p:nvSpPr>
        <p:spPr>
          <a:xfrm>
            <a:off x="548640" y="310896"/>
            <a:ext cx="1170432" cy="228600"/>
          </a:xfrm>
          <a:prstGeom prst="roundRect">
            <a:avLst/>
          </a:prstGeom>
          <a:solidFill>
            <a:srgbClr val="EAFB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9B7310-826E-8C0B-98E5-77BC73AE50B7}"/>
              </a:ext>
            </a:extLst>
          </p:cNvPr>
          <p:cNvSpPr txBox="1"/>
          <p:nvPr/>
        </p:nvSpPr>
        <p:spPr>
          <a:xfrm>
            <a:off x="630936" y="338328"/>
            <a:ext cx="960120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7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ERP LESSONS</a:t>
            </a:r>
            <a:endParaRPr lang="ko-KR" altLang="en-US" sz="7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774F1D1-7B66-7338-1BCF-0843B6F68B86}"/>
              </a:ext>
            </a:extLst>
          </p:cNvPr>
          <p:cNvSpPr txBox="1"/>
          <p:nvPr/>
        </p:nvSpPr>
        <p:spPr>
          <a:xfrm>
            <a:off x="530352" y="603504"/>
            <a:ext cx="10698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en-US" altLang="ko-KR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ERP </a:t>
            </a:r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유지보수 경험을 반영한 설계 기준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763AE649-C906-370D-5573-84D74984AB4B}"/>
              </a:ext>
            </a:extLst>
          </p:cNvPr>
          <p:cNvCxnSpPr/>
          <p:nvPr/>
        </p:nvCxnSpPr>
        <p:spPr>
          <a:xfrm>
            <a:off x="548640" y="1097280"/>
            <a:ext cx="11109960" cy="0"/>
          </a:xfrm>
          <a:prstGeom prst="line">
            <a:avLst/>
          </a:prstGeom>
          <a:ln w="15240">
            <a:solidFill>
              <a:srgbClr val="E8EDF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886D689A-F889-A946-5A7D-7E3C858B50D9}"/>
              </a:ext>
            </a:extLst>
          </p:cNvPr>
          <p:cNvSpPr/>
          <p:nvPr/>
        </p:nvSpPr>
        <p:spPr>
          <a:xfrm>
            <a:off x="640080" y="1243584"/>
            <a:ext cx="3246120" cy="1078992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1CDB8D1-8FF0-0FC6-87B8-ECC057BAFDD2}"/>
              </a:ext>
            </a:extLst>
          </p:cNvPr>
          <p:cNvSpPr/>
          <p:nvPr/>
        </p:nvSpPr>
        <p:spPr>
          <a:xfrm>
            <a:off x="640080" y="1243584"/>
            <a:ext cx="64008" cy="1078992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176142C-654D-B493-E49B-52204CBBA620}"/>
              </a:ext>
            </a:extLst>
          </p:cNvPr>
          <p:cNvSpPr txBox="1"/>
          <p:nvPr/>
        </p:nvSpPr>
        <p:spPr>
          <a:xfrm>
            <a:off x="804672" y="1353312"/>
            <a:ext cx="29535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10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기준정보 우선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3585B4-2069-E475-0EC3-0B92073D602B}"/>
              </a:ext>
            </a:extLst>
          </p:cNvPr>
          <p:cNvSpPr txBox="1"/>
          <p:nvPr/>
        </p:nvSpPr>
        <p:spPr>
          <a:xfrm>
            <a:off x="804672" y="1609344"/>
            <a:ext cx="2953512" cy="120032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현업 오류는 잘못된 계정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자금수단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카테고리 기준에서 시작되는 경우가 많았습니다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6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5CFFDDD-001F-E11C-C8D3-B2E7161E0F97}"/>
              </a:ext>
            </a:extLst>
          </p:cNvPr>
          <p:cNvSpPr/>
          <p:nvPr/>
        </p:nvSpPr>
        <p:spPr>
          <a:xfrm>
            <a:off x="4343400" y="1243584"/>
            <a:ext cx="3246120" cy="1078992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00EDCB47-3F73-8DB2-11EF-1A0A12BC43EB}"/>
              </a:ext>
            </a:extLst>
          </p:cNvPr>
          <p:cNvSpPr/>
          <p:nvPr/>
        </p:nvSpPr>
        <p:spPr>
          <a:xfrm>
            <a:off x="4343400" y="1243584"/>
            <a:ext cx="64008" cy="1078992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6875304-0E61-85A9-F68D-771AB90FA8AD}"/>
              </a:ext>
            </a:extLst>
          </p:cNvPr>
          <p:cNvSpPr txBox="1"/>
          <p:nvPr/>
        </p:nvSpPr>
        <p:spPr>
          <a:xfrm>
            <a:off x="4507992" y="1353312"/>
            <a:ext cx="29535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10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상태가 보여야 운영 가능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BB48048-D3D7-F7B0-FCE3-1B12A8260A43}"/>
              </a:ext>
            </a:extLst>
          </p:cNvPr>
          <p:cNvSpPr txBox="1"/>
          <p:nvPr/>
        </p:nvSpPr>
        <p:spPr>
          <a:xfrm>
            <a:off x="4507992" y="1609344"/>
            <a:ext cx="2953512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처리 중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검토 필요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확정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마감 상태가 보여야 문의와 장애 대응이 가능합니다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6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A4F35D16-E5F4-9AA5-0A10-CFC9CD58589D}"/>
              </a:ext>
            </a:extLst>
          </p:cNvPr>
          <p:cNvSpPr/>
          <p:nvPr/>
        </p:nvSpPr>
        <p:spPr>
          <a:xfrm>
            <a:off x="8046720" y="1243584"/>
            <a:ext cx="3246119" cy="1078992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A9113513-61B3-5B65-1322-229D386CEF84}"/>
              </a:ext>
            </a:extLst>
          </p:cNvPr>
          <p:cNvSpPr/>
          <p:nvPr/>
        </p:nvSpPr>
        <p:spPr>
          <a:xfrm>
            <a:off x="8046720" y="1243584"/>
            <a:ext cx="64007" cy="1078992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F861E4A-FF9F-BA7C-884A-559C6CD52920}"/>
              </a:ext>
            </a:extLst>
          </p:cNvPr>
          <p:cNvSpPr txBox="1"/>
          <p:nvPr/>
        </p:nvSpPr>
        <p:spPr>
          <a:xfrm>
            <a:off x="8211312" y="1353312"/>
            <a:ext cx="29535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10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원본 덮어쓰기 금지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BF49C2C-7820-7190-BACA-8898BBD3754A}"/>
              </a:ext>
            </a:extLst>
          </p:cNvPr>
          <p:cNvSpPr txBox="1"/>
          <p:nvPr/>
        </p:nvSpPr>
        <p:spPr>
          <a:xfrm>
            <a:off x="8211312" y="1609344"/>
            <a:ext cx="2953512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확정 이후에는 반전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정정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감사 로그로 이력을 남기는 쪽이 실무에 맞습니다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6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6DBA91E1-07EA-CB41-B30F-5F56D953E425}"/>
              </a:ext>
            </a:extLst>
          </p:cNvPr>
          <p:cNvSpPr/>
          <p:nvPr/>
        </p:nvSpPr>
        <p:spPr>
          <a:xfrm>
            <a:off x="640080" y="2724912"/>
            <a:ext cx="3246120" cy="1078992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09BD4882-16D3-498E-A45B-609BA48AB743}"/>
              </a:ext>
            </a:extLst>
          </p:cNvPr>
          <p:cNvSpPr/>
          <p:nvPr/>
        </p:nvSpPr>
        <p:spPr>
          <a:xfrm>
            <a:off x="640080" y="2724912"/>
            <a:ext cx="64008" cy="1078992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BA4149A-C49F-681B-6C4B-C69DA81142FF}"/>
              </a:ext>
            </a:extLst>
          </p:cNvPr>
          <p:cNvSpPr txBox="1"/>
          <p:nvPr/>
        </p:nvSpPr>
        <p:spPr>
          <a:xfrm>
            <a:off x="804672" y="2834640"/>
            <a:ext cx="29535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10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마감 기준 고정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ED9EB15-AD21-4C42-0C8D-DCCD54721B87}"/>
              </a:ext>
            </a:extLst>
          </p:cNvPr>
          <p:cNvSpPr txBox="1"/>
          <p:nvPr/>
        </p:nvSpPr>
        <p:spPr>
          <a:xfrm>
            <a:off x="804672" y="3090672"/>
            <a:ext cx="2953512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월 기준이 잠기지 않으면 보고 숫자와 운영 숫자가 계속 흔들립니다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6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A22E1EB9-2A8A-4898-C251-D57D76838B14}"/>
              </a:ext>
            </a:extLst>
          </p:cNvPr>
          <p:cNvSpPr/>
          <p:nvPr/>
        </p:nvSpPr>
        <p:spPr>
          <a:xfrm>
            <a:off x="4343400" y="2724912"/>
            <a:ext cx="3246120" cy="1078992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280C1A8B-D613-E67F-9245-203C3909CB51}"/>
              </a:ext>
            </a:extLst>
          </p:cNvPr>
          <p:cNvSpPr/>
          <p:nvPr/>
        </p:nvSpPr>
        <p:spPr>
          <a:xfrm>
            <a:off x="4343400" y="2724912"/>
            <a:ext cx="64008" cy="1078992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1284A81-DADC-98A9-5626-8FCF7ECABB42}"/>
              </a:ext>
            </a:extLst>
          </p:cNvPr>
          <p:cNvSpPr txBox="1"/>
          <p:nvPr/>
        </p:nvSpPr>
        <p:spPr>
          <a:xfrm>
            <a:off x="4507992" y="2834640"/>
            <a:ext cx="29535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10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예외를 먼저 보여주기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98C6262-8898-5341-6890-54FF3716E5CE}"/>
              </a:ext>
            </a:extLst>
          </p:cNvPr>
          <p:cNvSpPr txBox="1"/>
          <p:nvPr/>
        </p:nvSpPr>
        <p:spPr>
          <a:xfrm>
            <a:off x="4507992" y="3090672"/>
            <a:ext cx="2953512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성공 결과만이 아니라 막힌 이유와 다음 조치까지 보여줘야 합니다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6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139D8A63-E01B-3D2E-EBBB-E0C643B92DBF}"/>
              </a:ext>
            </a:extLst>
          </p:cNvPr>
          <p:cNvSpPr/>
          <p:nvPr/>
        </p:nvSpPr>
        <p:spPr>
          <a:xfrm>
            <a:off x="8046720" y="2724912"/>
            <a:ext cx="3246119" cy="1078992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7671357C-30C3-D75A-C5AD-BBC06551C4BA}"/>
              </a:ext>
            </a:extLst>
          </p:cNvPr>
          <p:cNvSpPr/>
          <p:nvPr/>
        </p:nvSpPr>
        <p:spPr>
          <a:xfrm>
            <a:off x="8046720" y="2724912"/>
            <a:ext cx="64007" cy="1078992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8283A62-9DDE-B098-E478-103DBBAEFCA4}"/>
              </a:ext>
            </a:extLst>
          </p:cNvPr>
          <p:cNvSpPr txBox="1"/>
          <p:nvPr/>
        </p:nvSpPr>
        <p:spPr>
          <a:xfrm>
            <a:off x="8211312" y="2834640"/>
            <a:ext cx="29535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10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권한과 감사는 기본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A57CDA8-8EE4-D9ED-B898-3ABA0038692C}"/>
              </a:ext>
            </a:extLst>
          </p:cNvPr>
          <p:cNvSpPr txBox="1"/>
          <p:nvPr/>
        </p:nvSpPr>
        <p:spPr>
          <a:xfrm>
            <a:off x="8211312" y="3090672"/>
            <a:ext cx="2953512" cy="120032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누가 어떤 작업을 했는지 남기고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역할별 가능 작업을 제한해야 운영 제품이 됩니다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6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C332CF80-DB74-F70B-8525-80CE36AFAE1F}"/>
              </a:ext>
            </a:extLst>
          </p:cNvPr>
          <p:cNvSpPr/>
          <p:nvPr/>
        </p:nvSpPr>
        <p:spPr>
          <a:xfrm>
            <a:off x="640080" y="4663440"/>
            <a:ext cx="10652760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0E53D7C8-37C4-4AD0-2D98-023CF2460C6E}"/>
              </a:ext>
            </a:extLst>
          </p:cNvPr>
          <p:cNvSpPr/>
          <p:nvPr/>
        </p:nvSpPr>
        <p:spPr>
          <a:xfrm>
            <a:off x="640080" y="4663440"/>
            <a:ext cx="64008" cy="932688"/>
          </a:xfrm>
          <a:prstGeom prst="rect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B7265BD-E715-DFD1-7541-361D4E0ED9DA}"/>
              </a:ext>
            </a:extLst>
          </p:cNvPr>
          <p:cNvSpPr txBox="1"/>
          <p:nvPr/>
        </p:nvSpPr>
        <p:spPr>
          <a:xfrm>
            <a:off x="804672" y="4764024"/>
            <a:ext cx="1036015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E11D4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포트폴리오 메시지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C47B9E7-1B24-FD6F-2715-94357A6798D0}"/>
              </a:ext>
            </a:extLst>
          </p:cNvPr>
          <p:cNvSpPr txBox="1"/>
          <p:nvPr/>
        </p:nvSpPr>
        <p:spPr>
          <a:xfrm>
            <a:off x="804672" y="5010912"/>
            <a:ext cx="1036015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의 흐름과 화면은 기능 나열이 아니라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ERP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유지보수에서 마주친 데이터 품질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상태 추적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마감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감사 문제를 제품 구조로 풀어낸 결과입니다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2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069F43D-BDCD-D1B0-BB77-6C4B03730C5B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017F855-8EAC-F90F-73BB-DDA216C44815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05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992511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FC153391-4BFD-9B32-69D6-D487A7D64581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799AD7EE-6267-50FB-3FF5-7D7F5C06CB9C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5DE0681D-0A24-9EF4-D8CC-845793D6D12C}"/>
              </a:ext>
            </a:extLst>
          </p:cNvPr>
          <p:cNvSpPr/>
          <p:nvPr/>
        </p:nvSpPr>
        <p:spPr>
          <a:xfrm>
            <a:off x="548640" y="310896"/>
            <a:ext cx="1170432" cy="228600"/>
          </a:xfrm>
          <a:prstGeom prst="roundRect">
            <a:avLst/>
          </a:prstGeom>
          <a:solidFill>
            <a:srgbClr val="EAFB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40BFEC-7908-5801-C182-8A8F5E567B0B}"/>
              </a:ext>
            </a:extLst>
          </p:cNvPr>
          <p:cNvSpPr txBox="1"/>
          <p:nvPr/>
        </p:nvSpPr>
        <p:spPr>
          <a:xfrm>
            <a:off x="630936" y="338328"/>
            <a:ext cx="960120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7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BUSINESS FLOW</a:t>
            </a:r>
            <a:endParaRPr lang="ko-KR" altLang="en-US" sz="7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B92D17F-9136-0A5C-9E79-AD02340D15BC}"/>
              </a:ext>
            </a:extLst>
          </p:cNvPr>
          <p:cNvSpPr txBox="1"/>
          <p:nvPr/>
        </p:nvSpPr>
        <p:spPr>
          <a:xfrm>
            <a:off x="530352" y="603504"/>
            <a:ext cx="10698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월 운영 전체 흐름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ADFEDFEA-D065-FDBE-AF10-37697B68BC8B}"/>
              </a:ext>
            </a:extLst>
          </p:cNvPr>
          <p:cNvCxnSpPr/>
          <p:nvPr/>
        </p:nvCxnSpPr>
        <p:spPr>
          <a:xfrm>
            <a:off x="548640" y="1097280"/>
            <a:ext cx="11109960" cy="0"/>
          </a:xfrm>
          <a:prstGeom prst="line">
            <a:avLst/>
          </a:prstGeom>
          <a:ln w="15240">
            <a:solidFill>
              <a:srgbClr val="E8EDF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69CEE423-34DA-65C2-00AF-F165A2352710}"/>
              </a:ext>
            </a:extLst>
          </p:cNvPr>
          <p:cNvSpPr/>
          <p:nvPr/>
        </p:nvSpPr>
        <p:spPr>
          <a:xfrm>
            <a:off x="713232" y="1664208"/>
            <a:ext cx="1536192" cy="804672"/>
          </a:xfrm>
          <a:prstGeom prst="rect">
            <a:avLst/>
          </a:prstGeom>
          <a:solidFill>
            <a:srgbClr val="EEF4FF"/>
          </a:solidFill>
          <a:ln w="10160">
            <a:solidFill>
              <a:srgbClr val="2454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36509C-EDFC-084A-D619-1BDACD44269F}"/>
              </a:ext>
            </a:extLst>
          </p:cNvPr>
          <p:cNvSpPr txBox="1"/>
          <p:nvPr/>
        </p:nvSpPr>
        <p:spPr>
          <a:xfrm>
            <a:off x="877824" y="1901952"/>
            <a:ext cx="118872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14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기준 데이터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C084F1-258D-966F-AF2E-56D4A67A37CD}"/>
              </a:ext>
            </a:extLst>
          </p:cNvPr>
          <p:cNvSpPr txBox="1"/>
          <p:nvPr/>
        </p:nvSpPr>
        <p:spPr>
          <a:xfrm>
            <a:off x="786384" y="1371600"/>
            <a:ext cx="54864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85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01</a:t>
            </a:r>
            <a:endParaRPr lang="ko-KR" altLang="en-US" sz="850" b="1">
              <a:solidFill>
                <a:srgbClr val="2454D9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1C11E2BE-E1A4-A358-962C-4ABD9E147795}"/>
              </a:ext>
            </a:extLst>
          </p:cNvPr>
          <p:cNvCxnSpPr/>
          <p:nvPr/>
        </p:nvCxnSpPr>
        <p:spPr>
          <a:xfrm>
            <a:off x="2322576" y="2066544"/>
            <a:ext cx="237744" cy="0"/>
          </a:xfrm>
          <a:prstGeom prst="line">
            <a:avLst/>
          </a:prstGeom>
          <a:ln w="15240">
            <a:solidFill>
              <a:srgbClr val="D8DE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BFEEC6BF-AF69-50A5-91D8-77FF47CDEC05}"/>
              </a:ext>
            </a:extLst>
          </p:cNvPr>
          <p:cNvSpPr/>
          <p:nvPr/>
        </p:nvSpPr>
        <p:spPr>
          <a:xfrm>
            <a:off x="2706624" y="1664208"/>
            <a:ext cx="1536192" cy="804672"/>
          </a:xfrm>
          <a:prstGeom prst="rect">
            <a:avLst/>
          </a:prstGeom>
          <a:solidFill>
            <a:srgbClr val="EEF4FF"/>
          </a:solidFill>
          <a:ln w="10160">
            <a:solidFill>
              <a:srgbClr val="2454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4DE360A-92A7-5815-4F88-9996DA297BF9}"/>
              </a:ext>
            </a:extLst>
          </p:cNvPr>
          <p:cNvSpPr txBox="1"/>
          <p:nvPr/>
        </p:nvSpPr>
        <p:spPr>
          <a:xfrm>
            <a:off x="2871216" y="1901952"/>
            <a:ext cx="118872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14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월 운영 시작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3FBC9BE-58F7-8F82-5171-B1ABAA68C391}"/>
              </a:ext>
            </a:extLst>
          </p:cNvPr>
          <p:cNvSpPr txBox="1"/>
          <p:nvPr/>
        </p:nvSpPr>
        <p:spPr>
          <a:xfrm>
            <a:off x="2779776" y="1371600"/>
            <a:ext cx="54864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85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02</a:t>
            </a:r>
            <a:endParaRPr lang="ko-KR" altLang="en-US" sz="850" b="1">
              <a:solidFill>
                <a:srgbClr val="2454D9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A5DBD9C0-78BE-898E-4E79-BDC43E885AB4}"/>
              </a:ext>
            </a:extLst>
          </p:cNvPr>
          <p:cNvCxnSpPr/>
          <p:nvPr/>
        </p:nvCxnSpPr>
        <p:spPr>
          <a:xfrm>
            <a:off x="4315968" y="2066544"/>
            <a:ext cx="237744" cy="0"/>
          </a:xfrm>
          <a:prstGeom prst="line">
            <a:avLst/>
          </a:prstGeom>
          <a:ln w="15240">
            <a:solidFill>
              <a:srgbClr val="D8DE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3FB971B1-1FEC-4B71-2C61-A23BC59A5261}"/>
              </a:ext>
            </a:extLst>
          </p:cNvPr>
          <p:cNvSpPr/>
          <p:nvPr/>
        </p:nvSpPr>
        <p:spPr>
          <a:xfrm>
            <a:off x="4700016" y="1664208"/>
            <a:ext cx="1536192" cy="804672"/>
          </a:xfrm>
          <a:prstGeom prst="rect">
            <a:avLst/>
          </a:prstGeom>
          <a:solidFill>
            <a:srgbClr val="EEF4FF"/>
          </a:solidFill>
          <a:ln w="10160">
            <a:solidFill>
              <a:srgbClr val="2454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0761398-7231-4ACA-39BF-F5407E628C31}"/>
              </a:ext>
            </a:extLst>
          </p:cNvPr>
          <p:cNvSpPr txBox="1"/>
          <p:nvPr/>
        </p:nvSpPr>
        <p:spPr>
          <a:xfrm>
            <a:off x="4864608" y="1901952"/>
            <a:ext cx="11887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14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계획 생성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F16419B-EAB5-BD3E-5FEB-C26EE1D7A943}"/>
              </a:ext>
            </a:extLst>
          </p:cNvPr>
          <p:cNvSpPr txBox="1"/>
          <p:nvPr/>
        </p:nvSpPr>
        <p:spPr>
          <a:xfrm>
            <a:off x="4773168" y="1371600"/>
            <a:ext cx="54864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85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03</a:t>
            </a:r>
            <a:endParaRPr lang="ko-KR" altLang="en-US" sz="850" b="1">
              <a:solidFill>
                <a:srgbClr val="2454D9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7BBBFB33-B078-0589-3C7B-6A31224B9F07}"/>
              </a:ext>
            </a:extLst>
          </p:cNvPr>
          <p:cNvCxnSpPr/>
          <p:nvPr/>
        </p:nvCxnSpPr>
        <p:spPr>
          <a:xfrm>
            <a:off x="6309360" y="2066544"/>
            <a:ext cx="237744" cy="0"/>
          </a:xfrm>
          <a:prstGeom prst="line">
            <a:avLst/>
          </a:prstGeom>
          <a:ln w="15240">
            <a:solidFill>
              <a:srgbClr val="D8DE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F94D3232-F71D-F842-8DD2-9AF2D0BD0798}"/>
              </a:ext>
            </a:extLst>
          </p:cNvPr>
          <p:cNvSpPr/>
          <p:nvPr/>
        </p:nvSpPr>
        <p:spPr>
          <a:xfrm>
            <a:off x="6693408" y="1664208"/>
            <a:ext cx="1536192" cy="804672"/>
          </a:xfrm>
          <a:prstGeom prst="rect">
            <a:avLst/>
          </a:prstGeom>
          <a:solidFill>
            <a:srgbClr val="EAFBF8"/>
          </a:solidFill>
          <a:ln w="10160">
            <a:solidFill>
              <a:srgbClr val="008A8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4252203-2591-D4F5-2098-8F3FDF47053F}"/>
              </a:ext>
            </a:extLst>
          </p:cNvPr>
          <p:cNvSpPr txBox="1"/>
          <p:nvPr/>
        </p:nvSpPr>
        <p:spPr>
          <a:xfrm>
            <a:off x="6858000" y="1901952"/>
            <a:ext cx="11887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14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거래 수집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44667EC-1393-4DFD-A04B-7450C5E62052}"/>
              </a:ext>
            </a:extLst>
          </p:cNvPr>
          <p:cNvSpPr txBox="1"/>
          <p:nvPr/>
        </p:nvSpPr>
        <p:spPr>
          <a:xfrm>
            <a:off x="6766560" y="1371600"/>
            <a:ext cx="54864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8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04</a:t>
            </a:r>
            <a:endParaRPr lang="ko-KR" altLang="en-US" sz="8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CACC3866-0ECF-FDB2-A701-4554A84B39A8}"/>
              </a:ext>
            </a:extLst>
          </p:cNvPr>
          <p:cNvCxnSpPr/>
          <p:nvPr/>
        </p:nvCxnSpPr>
        <p:spPr>
          <a:xfrm>
            <a:off x="8302752" y="2066544"/>
            <a:ext cx="237744" cy="0"/>
          </a:xfrm>
          <a:prstGeom prst="line">
            <a:avLst/>
          </a:prstGeom>
          <a:ln w="15240">
            <a:solidFill>
              <a:srgbClr val="D8DE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4A211A18-C09B-7D7F-9890-7C230E7F74C8}"/>
              </a:ext>
            </a:extLst>
          </p:cNvPr>
          <p:cNvSpPr/>
          <p:nvPr/>
        </p:nvSpPr>
        <p:spPr>
          <a:xfrm>
            <a:off x="8686800" y="1664208"/>
            <a:ext cx="1536192" cy="804672"/>
          </a:xfrm>
          <a:prstGeom prst="rect">
            <a:avLst/>
          </a:prstGeom>
          <a:solidFill>
            <a:srgbClr val="EAFBF8"/>
          </a:solidFill>
          <a:ln w="10160">
            <a:solidFill>
              <a:srgbClr val="008A8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5EF3D3F-BCFB-5A2F-0251-00AC8D6494EC}"/>
              </a:ext>
            </a:extLst>
          </p:cNvPr>
          <p:cNvSpPr txBox="1"/>
          <p:nvPr/>
        </p:nvSpPr>
        <p:spPr>
          <a:xfrm>
            <a:off x="8851392" y="1901952"/>
            <a:ext cx="11887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14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전표 확정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7E58099-E577-4098-BDCE-DD6E82EEE206}"/>
              </a:ext>
            </a:extLst>
          </p:cNvPr>
          <p:cNvSpPr txBox="1"/>
          <p:nvPr/>
        </p:nvSpPr>
        <p:spPr>
          <a:xfrm>
            <a:off x="8759952" y="1371600"/>
            <a:ext cx="54864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8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05</a:t>
            </a:r>
            <a:endParaRPr lang="ko-KR" altLang="en-US" sz="8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DC6A893E-04D4-6593-FA5B-A1EA368AAAFD}"/>
              </a:ext>
            </a:extLst>
          </p:cNvPr>
          <p:cNvCxnSpPr/>
          <p:nvPr/>
        </p:nvCxnSpPr>
        <p:spPr>
          <a:xfrm>
            <a:off x="9454896" y="2542032"/>
            <a:ext cx="0" cy="292608"/>
          </a:xfrm>
          <a:prstGeom prst="line">
            <a:avLst/>
          </a:prstGeom>
          <a:ln w="15240">
            <a:solidFill>
              <a:srgbClr val="D8DEE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F6371400-EF03-6C53-0B0F-2346E212BC17}"/>
              </a:ext>
            </a:extLst>
          </p:cNvPr>
          <p:cNvCxnSpPr/>
          <p:nvPr/>
        </p:nvCxnSpPr>
        <p:spPr>
          <a:xfrm flipH="1">
            <a:off x="4544568" y="2834640"/>
            <a:ext cx="4910328" cy="0"/>
          </a:xfrm>
          <a:prstGeom prst="line">
            <a:avLst/>
          </a:prstGeom>
          <a:ln w="15240">
            <a:solidFill>
              <a:srgbClr val="D8DEE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5F9553A0-5A29-A532-E799-B1CEA49A00B6}"/>
              </a:ext>
            </a:extLst>
          </p:cNvPr>
          <p:cNvCxnSpPr/>
          <p:nvPr/>
        </p:nvCxnSpPr>
        <p:spPr>
          <a:xfrm>
            <a:off x="4544568" y="2834640"/>
            <a:ext cx="0" cy="310896"/>
          </a:xfrm>
          <a:prstGeom prst="line">
            <a:avLst/>
          </a:prstGeom>
          <a:ln w="15240">
            <a:solidFill>
              <a:srgbClr val="D8DE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936DBD54-4D1E-8972-CB96-767CFDC5B49D}"/>
              </a:ext>
            </a:extLst>
          </p:cNvPr>
          <p:cNvSpPr/>
          <p:nvPr/>
        </p:nvSpPr>
        <p:spPr>
          <a:xfrm>
            <a:off x="3776472" y="3218688"/>
            <a:ext cx="1664208" cy="804672"/>
          </a:xfrm>
          <a:prstGeom prst="rect">
            <a:avLst/>
          </a:prstGeom>
          <a:solidFill>
            <a:srgbClr val="EAFBF8"/>
          </a:solidFill>
          <a:ln w="10160">
            <a:solidFill>
              <a:srgbClr val="008A8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D12FB26-FB16-C2D2-A32E-8A7A43CB61DA}"/>
              </a:ext>
            </a:extLst>
          </p:cNvPr>
          <p:cNvSpPr txBox="1"/>
          <p:nvPr/>
        </p:nvSpPr>
        <p:spPr>
          <a:xfrm>
            <a:off x="3941064" y="3456432"/>
            <a:ext cx="1335024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14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월 마감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1E74D12-5FB2-24F6-ED84-5C3C5B94ED33}"/>
              </a:ext>
            </a:extLst>
          </p:cNvPr>
          <p:cNvSpPr txBox="1"/>
          <p:nvPr/>
        </p:nvSpPr>
        <p:spPr>
          <a:xfrm>
            <a:off x="3849624" y="2926080"/>
            <a:ext cx="54864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8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06</a:t>
            </a:r>
            <a:endParaRPr lang="ko-KR" altLang="en-US" sz="8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4A5F47A2-4A56-01FC-9F44-046640A3C13C}"/>
              </a:ext>
            </a:extLst>
          </p:cNvPr>
          <p:cNvCxnSpPr/>
          <p:nvPr/>
        </p:nvCxnSpPr>
        <p:spPr>
          <a:xfrm>
            <a:off x="5385816" y="3621024"/>
            <a:ext cx="237744" cy="0"/>
          </a:xfrm>
          <a:prstGeom prst="line">
            <a:avLst/>
          </a:prstGeom>
          <a:ln w="15240">
            <a:solidFill>
              <a:srgbClr val="D8DE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93BBFFCB-6F5D-BA5C-2098-4BB16C29D0B2}"/>
              </a:ext>
            </a:extLst>
          </p:cNvPr>
          <p:cNvSpPr/>
          <p:nvPr/>
        </p:nvSpPr>
        <p:spPr>
          <a:xfrm>
            <a:off x="5769864" y="3218688"/>
            <a:ext cx="1664208" cy="804672"/>
          </a:xfrm>
          <a:prstGeom prst="rect">
            <a:avLst/>
          </a:prstGeom>
          <a:solidFill>
            <a:srgbClr val="FFF7E6"/>
          </a:solidFill>
          <a:ln w="10160">
            <a:solidFill>
              <a:srgbClr val="D9770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2E77966-7D4F-44DA-5AD1-A6C67836AD66}"/>
              </a:ext>
            </a:extLst>
          </p:cNvPr>
          <p:cNvSpPr txBox="1"/>
          <p:nvPr/>
        </p:nvSpPr>
        <p:spPr>
          <a:xfrm>
            <a:off x="5934456" y="3456432"/>
            <a:ext cx="1335024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14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재무제표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B2B0132-AE5A-D98B-2115-370445CB687E}"/>
              </a:ext>
            </a:extLst>
          </p:cNvPr>
          <p:cNvSpPr txBox="1"/>
          <p:nvPr/>
        </p:nvSpPr>
        <p:spPr>
          <a:xfrm>
            <a:off x="5843016" y="2926080"/>
            <a:ext cx="54864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85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07</a:t>
            </a:r>
            <a:endParaRPr lang="ko-KR" altLang="en-US" sz="850" b="1">
              <a:solidFill>
                <a:srgbClr val="D97706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E70440C7-9FD6-0EDF-1377-4CB01EABCF31}"/>
              </a:ext>
            </a:extLst>
          </p:cNvPr>
          <p:cNvCxnSpPr/>
          <p:nvPr/>
        </p:nvCxnSpPr>
        <p:spPr>
          <a:xfrm>
            <a:off x="7379208" y="3621024"/>
            <a:ext cx="237744" cy="0"/>
          </a:xfrm>
          <a:prstGeom prst="line">
            <a:avLst/>
          </a:prstGeom>
          <a:ln w="15240">
            <a:solidFill>
              <a:srgbClr val="D8DE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3F6EABA9-308F-7F4F-7C47-9CBEE9CDF325}"/>
              </a:ext>
            </a:extLst>
          </p:cNvPr>
          <p:cNvSpPr/>
          <p:nvPr/>
        </p:nvSpPr>
        <p:spPr>
          <a:xfrm>
            <a:off x="7763256" y="3218688"/>
            <a:ext cx="1664208" cy="804672"/>
          </a:xfrm>
          <a:prstGeom prst="rect">
            <a:avLst/>
          </a:prstGeom>
          <a:solidFill>
            <a:srgbClr val="FFF7E6"/>
          </a:solidFill>
          <a:ln w="10160">
            <a:solidFill>
              <a:srgbClr val="D9770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92CE9E4-62E5-9C63-0C5C-929FBDB5845D}"/>
              </a:ext>
            </a:extLst>
          </p:cNvPr>
          <p:cNvSpPr txBox="1"/>
          <p:nvPr/>
        </p:nvSpPr>
        <p:spPr>
          <a:xfrm>
            <a:off x="7927848" y="3456432"/>
            <a:ext cx="1335024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14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차기 이월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87861B9-B11A-E838-FE16-38719836D6F2}"/>
              </a:ext>
            </a:extLst>
          </p:cNvPr>
          <p:cNvSpPr txBox="1"/>
          <p:nvPr/>
        </p:nvSpPr>
        <p:spPr>
          <a:xfrm>
            <a:off x="7836408" y="2926080"/>
            <a:ext cx="54864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85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08</a:t>
            </a:r>
            <a:endParaRPr lang="ko-KR" altLang="en-US" sz="850" b="1">
              <a:solidFill>
                <a:srgbClr val="D97706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53BE06A4-F88A-C8E6-EEA4-527D923327C9}"/>
              </a:ext>
            </a:extLst>
          </p:cNvPr>
          <p:cNvCxnSpPr/>
          <p:nvPr/>
        </p:nvCxnSpPr>
        <p:spPr>
          <a:xfrm>
            <a:off x="9372600" y="3621024"/>
            <a:ext cx="237744" cy="0"/>
          </a:xfrm>
          <a:prstGeom prst="line">
            <a:avLst/>
          </a:prstGeom>
          <a:ln w="15240">
            <a:solidFill>
              <a:srgbClr val="D8DE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3F6738DD-9B0D-B3B8-E9CE-32F117A15BAA}"/>
              </a:ext>
            </a:extLst>
          </p:cNvPr>
          <p:cNvSpPr/>
          <p:nvPr/>
        </p:nvSpPr>
        <p:spPr>
          <a:xfrm>
            <a:off x="9756648" y="3218688"/>
            <a:ext cx="1664208" cy="804672"/>
          </a:xfrm>
          <a:prstGeom prst="rect">
            <a:avLst/>
          </a:prstGeom>
          <a:solidFill>
            <a:srgbClr val="FFF7E6"/>
          </a:solidFill>
          <a:ln w="10160">
            <a:solidFill>
              <a:srgbClr val="D9770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6301381-5354-6B11-927A-A90A4A16479A}"/>
              </a:ext>
            </a:extLst>
          </p:cNvPr>
          <p:cNvSpPr txBox="1"/>
          <p:nvPr/>
        </p:nvSpPr>
        <p:spPr>
          <a:xfrm>
            <a:off x="9921240" y="3456432"/>
            <a:ext cx="1335024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14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전망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9CBE8DC-7582-DA48-A647-B294C2F8E499}"/>
              </a:ext>
            </a:extLst>
          </p:cNvPr>
          <p:cNvSpPr txBox="1"/>
          <p:nvPr/>
        </p:nvSpPr>
        <p:spPr>
          <a:xfrm>
            <a:off x="9829800" y="2926080"/>
            <a:ext cx="54864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85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09</a:t>
            </a:r>
            <a:endParaRPr lang="ko-KR" altLang="en-US" sz="850" b="1">
              <a:solidFill>
                <a:srgbClr val="D97706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77C7CB64-2C00-4645-5844-816838F58485}"/>
              </a:ext>
            </a:extLst>
          </p:cNvPr>
          <p:cNvSpPr/>
          <p:nvPr/>
        </p:nvSpPr>
        <p:spPr>
          <a:xfrm>
            <a:off x="1078992" y="4681728"/>
            <a:ext cx="9829800" cy="877824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F0775AA3-7D4E-3C81-2699-5139C274C847}"/>
              </a:ext>
            </a:extLst>
          </p:cNvPr>
          <p:cNvSpPr/>
          <p:nvPr/>
        </p:nvSpPr>
        <p:spPr>
          <a:xfrm>
            <a:off x="1078992" y="4681728"/>
            <a:ext cx="73152" cy="877824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E530E48-FE23-B725-1D90-19412C5613AB}"/>
              </a:ext>
            </a:extLst>
          </p:cNvPr>
          <p:cNvSpPr txBox="1"/>
          <p:nvPr/>
        </p:nvSpPr>
        <p:spPr>
          <a:xfrm>
            <a:off x="1325880" y="4846320"/>
            <a:ext cx="20116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25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핵심 메시지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02696B8-DA23-7236-E68D-B82CDB269A2C}"/>
              </a:ext>
            </a:extLst>
          </p:cNvPr>
          <p:cNvSpPr txBox="1"/>
          <p:nvPr/>
        </p:nvSpPr>
        <p:spPr>
          <a:xfrm>
            <a:off x="1325880" y="5184648"/>
            <a:ext cx="886968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25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단순 기능 나열이 아니라 한 달을 열고</a:t>
            </a:r>
            <a:r>
              <a:rPr lang="en-US" altLang="ko-KR" sz="125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25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수집하고</a:t>
            </a:r>
            <a:r>
              <a:rPr lang="en-US" altLang="ko-KR" sz="125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25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확정하고</a:t>
            </a:r>
            <a:r>
              <a:rPr lang="en-US" altLang="ko-KR" sz="125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25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닫고</a:t>
            </a:r>
            <a:r>
              <a:rPr lang="en-US" altLang="ko-KR" sz="125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25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다음 달로 넘기는 업무 사이클입니다</a:t>
            </a:r>
            <a:r>
              <a:rPr lang="en-US" altLang="ko-KR" sz="125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25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4933DFE-9659-B867-D9C7-271911A62D9D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00A8C84-0EFD-D909-F1E0-3BC35C80DBD8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06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762901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38363F5C-BAED-FB67-1C6C-4F378A4C38E7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5801FF2-0385-6EB5-CD62-E431AAC56F1C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7E829A5A-3A5A-9E0A-2FDF-CC1CE46027DF}"/>
              </a:ext>
            </a:extLst>
          </p:cNvPr>
          <p:cNvSpPr/>
          <p:nvPr/>
        </p:nvSpPr>
        <p:spPr>
          <a:xfrm>
            <a:off x="548640" y="310896"/>
            <a:ext cx="1170432" cy="228600"/>
          </a:xfrm>
          <a:prstGeom prst="roundRect">
            <a:avLst/>
          </a:prstGeom>
          <a:solidFill>
            <a:srgbClr val="EAFB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0FD750-A2D9-761C-242F-31337E5F613A}"/>
              </a:ext>
            </a:extLst>
          </p:cNvPr>
          <p:cNvSpPr txBox="1"/>
          <p:nvPr/>
        </p:nvSpPr>
        <p:spPr>
          <a:xfrm>
            <a:off x="630936" y="338328"/>
            <a:ext cx="96012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7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DOMAIN</a:t>
            </a:r>
            <a:endParaRPr lang="ko-KR" altLang="en-US" sz="7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5227C91-3CC1-3C66-C1B0-3D804A4CBA48}"/>
              </a:ext>
            </a:extLst>
          </p:cNvPr>
          <p:cNvSpPr txBox="1"/>
          <p:nvPr/>
        </p:nvSpPr>
        <p:spPr>
          <a:xfrm>
            <a:off x="530352" y="603504"/>
            <a:ext cx="10698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핵심 도메인 설계</a:t>
            </a:r>
            <a:r>
              <a:rPr lang="en-US" altLang="ko-KR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: </a:t>
            </a:r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수집 거래와 전표 분리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B02EBB1B-15A2-1FAB-3A3D-CA9598BB9D33}"/>
              </a:ext>
            </a:extLst>
          </p:cNvPr>
          <p:cNvCxnSpPr/>
          <p:nvPr/>
        </p:nvCxnSpPr>
        <p:spPr>
          <a:xfrm>
            <a:off x="548640" y="1097280"/>
            <a:ext cx="11109960" cy="0"/>
          </a:xfrm>
          <a:prstGeom prst="line">
            <a:avLst/>
          </a:prstGeom>
          <a:ln w="15240">
            <a:solidFill>
              <a:srgbClr val="E8EDF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E7370A41-6C9B-D2C3-385A-059A340BA757}"/>
              </a:ext>
            </a:extLst>
          </p:cNvPr>
          <p:cNvSpPr/>
          <p:nvPr/>
        </p:nvSpPr>
        <p:spPr>
          <a:xfrm>
            <a:off x="987552" y="1444752"/>
            <a:ext cx="2103120" cy="877824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2B2A3E9-C4CF-1920-5CAA-76FC6EBA29A0}"/>
              </a:ext>
            </a:extLst>
          </p:cNvPr>
          <p:cNvSpPr/>
          <p:nvPr/>
        </p:nvSpPr>
        <p:spPr>
          <a:xfrm>
            <a:off x="987552" y="1444752"/>
            <a:ext cx="2103120" cy="73152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0E20D56-085B-0A2F-FF4C-3E679FD36B3A}"/>
              </a:ext>
            </a:extLst>
          </p:cNvPr>
          <p:cNvSpPr txBox="1"/>
          <p:nvPr/>
        </p:nvSpPr>
        <p:spPr>
          <a:xfrm>
            <a:off x="1152144" y="1664208"/>
            <a:ext cx="1773936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18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업로드 행 </a:t>
            </a:r>
            <a:r>
              <a:rPr lang="en-US" altLang="ko-KR" sz="118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 </a:t>
            </a:r>
            <a:r>
              <a:rPr lang="ko-KR" altLang="en-US" sz="118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수기 입력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5E67B7-9938-F908-C14E-05AD532C926B}"/>
              </a:ext>
            </a:extLst>
          </p:cNvPr>
          <p:cNvSpPr txBox="1"/>
          <p:nvPr/>
        </p:nvSpPr>
        <p:spPr>
          <a:xfrm>
            <a:off x="1152144" y="2011680"/>
            <a:ext cx="1773936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04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운영 입력 후보</a:t>
            </a: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5C4AE920-1658-1A5E-4D74-021143F5ECAB}"/>
              </a:ext>
            </a:extLst>
          </p:cNvPr>
          <p:cNvCxnSpPr/>
          <p:nvPr/>
        </p:nvCxnSpPr>
        <p:spPr>
          <a:xfrm>
            <a:off x="3163824" y="1883664"/>
            <a:ext cx="256032" cy="0"/>
          </a:xfrm>
          <a:prstGeom prst="line">
            <a:avLst/>
          </a:prstGeom>
          <a:ln w="15240">
            <a:solidFill>
              <a:srgbClr val="D8DE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0ABE3F49-C193-DF58-C9C1-0F7F20B4E78C}"/>
              </a:ext>
            </a:extLst>
          </p:cNvPr>
          <p:cNvSpPr/>
          <p:nvPr/>
        </p:nvSpPr>
        <p:spPr>
          <a:xfrm>
            <a:off x="3785616" y="1444752"/>
            <a:ext cx="2103120" cy="877824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46CFEE8-A491-4A7A-0964-FDA7AE01FE1D}"/>
              </a:ext>
            </a:extLst>
          </p:cNvPr>
          <p:cNvSpPr/>
          <p:nvPr/>
        </p:nvSpPr>
        <p:spPr>
          <a:xfrm>
            <a:off x="3785616" y="1444752"/>
            <a:ext cx="2103120" cy="73152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700354F-CB7A-315C-D4AE-FE9A5EA788B6}"/>
              </a:ext>
            </a:extLst>
          </p:cNvPr>
          <p:cNvSpPr txBox="1"/>
          <p:nvPr/>
        </p:nvSpPr>
        <p:spPr>
          <a:xfrm>
            <a:off x="3950208" y="1664208"/>
            <a:ext cx="1773936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18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수집 거래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43A5C63-B8E7-D50A-D9DB-3F50E054FAF3}"/>
              </a:ext>
            </a:extLst>
          </p:cNvPr>
          <p:cNvSpPr txBox="1"/>
          <p:nvPr/>
        </p:nvSpPr>
        <p:spPr>
          <a:xfrm>
            <a:off x="3950208" y="2011680"/>
            <a:ext cx="1773936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04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검토 가능한 거래</a:t>
            </a:r>
          </a:p>
        </p:txBody>
      </p: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0D38D19C-4255-2930-25C4-007198E90D7C}"/>
              </a:ext>
            </a:extLst>
          </p:cNvPr>
          <p:cNvCxnSpPr/>
          <p:nvPr/>
        </p:nvCxnSpPr>
        <p:spPr>
          <a:xfrm>
            <a:off x="5961888" y="1883664"/>
            <a:ext cx="256032" cy="0"/>
          </a:xfrm>
          <a:prstGeom prst="line">
            <a:avLst/>
          </a:prstGeom>
          <a:ln w="15240">
            <a:solidFill>
              <a:srgbClr val="D8DE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ACE2CFDE-033F-5E83-624A-C9D39C6877F7}"/>
              </a:ext>
            </a:extLst>
          </p:cNvPr>
          <p:cNvSpPr/>
          <p:nvPr/>
        </p:nvSpPr>
        <p:spPr>
          <a:xfrm>
            <a:off x="6583680" y="1444752"/>
            <a:ext cx="2103120" cy="877824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A4B133D0-1753-F997-473E-1E79DD7AEC01}"/>
              </a:ext>
            </a:extLst>
          </p:cNvPr>
          <p:cNvSpPr/>
          <p:nvPr/>
        </p:nvSpPr>
        <p:spPr>
          <a:xfrm>
            <a:off x="6583680" y="1444752"/>
            <a:ext cx="2103120" cy="73152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756AD25-52D4-32B8-8241-8E1B1B0AD58F}"/>
              </a:ext>
            </a:extLst>
          </p:cNvPr>
          <p:cNvSpPr txBox="1"/>
          <p:nvPr/>
        </p:nvSpPr>
        <p:spPr>
          <a:xfrm>
            <a:off x="6748272" y="1664208"/>
            <a:ext cx="1773936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18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전표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6994DDD-FF01-3CA3-B7CD-B0DDF892FBDE}"/>
              </a:ext>
            </a:extLst>
          </p:cNvPr>
          <p:cNvSpPr txBox="1"/>
          <p:nvPr/>
        </p:nvSpPr>
        <p:spPr>
          <a:xfrm>
            <a:off x="6748272" y="2011680"/>
            <a:ext cx="1773936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04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공식 회계 기록</a:t>
            </a:r>
          </a:p>
        </p:txBody>
      </p: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1C788D30-0F90-D96C-D70C-E3B97A0C8C2E}"/>
              </a:ext>
            </a:extLst>
          </p:cNvPr>
          <p:cNvCxnSpPr/>
          <p:nvPr/>
        </p:nvCxnSpPr>
        <p:spPr>
          <a:xfrm>
            <a:off x="7635240" y="2395728"/>
            <a:ext cx="0" cy="365760"/>
          </a:xfrm>
          <a:prstGeom prst="line">
            <a:avLst/>
          </a:prstGeom>
          <a:ln w="15240">
            <a:solidFill>
              <a:srgbClr val="D8DEE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7B7F82A5-B70D-ABBB-2B4C-C8ED4E287EBE}"/>
              </a:ext>
            </a:extLst>
          </p:cNvPr>
          <p:cNvCxnSpPr/>
          <p:nvPr/>
        </p:nvCxnSpPr>
        <p:spPr>
          <a:xfrm flipH="1">
            <a:off x="7443216" y="2761488"/>
            <a:ext cx="192024" cy="0"/>
          </a:xfrm>
          <a:prstGeom prst="line">
            <a:avLst/>
          </a:prstGeom>
          <a:ln w="15240">
            <a:solidFill>
              <a:srgbClr val="D8DEE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75256949-50B9-38A1-D922-63E6DC2846A0}"/>
              </a:ext>
            </a:extLst>
          </p:cNvPr>
          <p:cNvCxnSpPr/>
          <p:nvPr/>
        </p:nvCxnSpPr>
        <p:spPr>
          <a:xfrm>
            <a:off x="7443216" y="2761488"/>
            <a:ext cx="0" cy="329184"/>
          </a:xfrm>
          <a:prstGeom prst="line">
            <a:avLst/>
          </a:prstGeom>
          <a:ln w="15240">
            <a:solidFill>
              <a:srgbClr val="D8DE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DB1A0366-5752-82F1-AB1E-3EB1F70AE31D}"/>
              </a:ext>
            </a:extLst>
          </p:cNvPr>
          <p:cNvSpPr/>
          <p:nvPr/>
        </p:nvSpPr>
        <p:spPr>
          <a:xfrm>
            <a:off x="6391656" y="3163824"/>
            <a:ext cx="2176272" cy="877824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87989132-DA27-F959-7A31-44A8684D237C}"/>
              </a:ext>
            </a:extLst>
          </p:cNvPr>
          <p:cNvSpPr/>
          <p:nvPr/>
        </p:nvSpPr>
        <p:spPr>
          <a:xfrm>
            <a:off x="6391656" y="3163824"/>
            <a:ext cx="2176272" cy="73152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B6E3737-5435-9B83-7A18-B34D33BCC79D}"/>
              </a:ext>
            </a:extLst>
          </p:cNvPr>
          <p:cNvSpPr txBox="1"/>
          <p:nvPr/>
        </p:nvSpPr>
        <p:spPr>
          <a:xfrm>
            <a:off x="6556248" y="3383280"/>
            <a:ext cx="184708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18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마감 스냅샷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4C759E1-604A-8930-3230-356A97E68A95}"/>
              </a:ext>
            </a:extLst>
          </p:cNvPr>
          <p:cNvSpPr txBox="1"/>
          <p:nvPr/>
        </p:nvSpPr>
        <p:spPr>
          <a:xfrm>
            <a:off x="6556248" y="3730752"/>
            <a:ext cx="184708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04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월 기준 잠금</a:t>
            </a:r>
          </a:p>
        </p:txBody>
      </p: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3B7FFD11-9F79-C057-DA0D-74809FCB657C}"/>
              </a:ext>
            </a:extLst>
          </p:cNvPr>
          <p:cNvCxnSpPr/>
          <p:nvPr/>
        </p:nvCxnSpPr>
        <p:spPr>
          <a:xfrm>
            <a:off x="8641080" y="3602736"/>
            <a:ext cx="256032" cy="0"/>
          </a:xfrm>
          <a:prstGeom prst="line">
            <a:avLst/>
          </a:prstGeom>
          <a:ln w="15240">
            <a:solidFill>
              <a:srgbClr val="D8DE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4B202A96-1115-D0BF-9CD9-103F6C149B2E}"/>
              </a:ext>
            </a:extLst>
          </p:cNvPr>
          <p:cNvSpPr/>
          <p:nvPr/>
        </p:nvSpPr>
        <p:spPr>
          <a:xfrm>
            <a:off x="9189720" y="3163824"/>
            <a:ext cx="2176272" cy="877824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78D2008C-E6B6-30DA-43D7-91E6CBF9AFC5}"/>
              </a:ext>
            </a:extLst>
          </p:cNvPr>
          <p:cNvSpPr/>
          <p:nvPr/>
        </p:nvSpPr>
        <p:spPr>
          <a:xfrm>
            <a:off x="9189720" y="3163824"/>
            <a:ext cx="2176272" cy="73152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D1D9F37-5867-8811-960B-19659D142FE8}"/>
              </a:ext>
            </a:extLst>
          </p:cNvPr>
          <p:cNvSpPr txBox="1"/>
          <p:nvPr/>
        </p:nvSpPr>
        <p:spPr>
          <a:xfrm>
            <a:off x="9354312" y="3383280"/>
            <a:ext cx="184708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18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재무제표 </a:t>
            </a:r>
            <a:r>
              <a:rPr lang="en-US" altLang="ko-KR" sz="118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 </a:t>
            </a:r>
            <a:r>
              <a:rPr lang="ko-KR" altLang="en-US" sz="118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이월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9D8E703-5073-C904-FB26-23A91E2CCE61}"/>
              </a:ext>
            </a:extLst>
          </p:cNvPr>
          <p:cNvSpPr txBox="1"/>
          <p:nvPr/>
        </p:nvSpPr>
        <p:spPr>
          <a:xfrm>
            <a:off x="9354312" y="3730752"/>
            <a:ext cx="1847088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04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보고와 다음 월 연결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C6B0614-5A37-A057-6EDA-57D462470159}"/>
              </a:ext>
            </a:extLst>
          </p:cNvPr>
          <p:cNvSpPr/>
          <p:nvPr/>
        </p:nvSpPr>
        <p:spPr>
          <a:xfrm>
            <a:off x="804672" y="4681728"/>
            <a:ext cx="4800600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D01F61F1-64E6-F447-C304-64904A95F044}"/>
              </a:ext>
            </a:extLst>
          </p:cNvPr>
          <p:cNvSpPr/>
          <p:nvPr/>
        </p:nvSpPr>
        <p:spPr>
          <a:xfrm>
            <a:off x="804672" y="4681728"/>
            <a:ext cx="64008" cy="859536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B9BC389-CD5B-1F92-182C-19E59A943F8C}"/>
              </a:ext>
            </a:extLst>
          </p:cNvPr>
          <p:cNvSpPr txBox="1"/>
          <p:nvPr/>
        </p:nvSpPr>
        <p:spPr>
          <a:xfrm>
            <a:off x="969264" y="4782312"/>
            <a:ext cx="450799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설계 의도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99E6FAC-223F-D519-55F1-A72F263DDB90}"/>
              </a:ext>
            </a:extLst>
          </p:cNvPr>
          <p:cNvSpPr txBox="1"/>
          <p:nvPr/>
        </p:nvSpPr>
        <p:spPr>
          <a:xfrm>
            <a:off x="969264" y="5029200"/>
            <a:ext cx="4507992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수집 거래는 운영 입력이고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전표는 공식 기록입니다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확정 이후 수정은 반전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정정 흐름으로 추적성을 유지합니다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2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B7D23407-2CCE-E0DF-5A30-B3CC704ACEBA}"/>
              </a:ext>
            </a:extLst>
          </p:cNvPr>
          <p:cNvSpPr/>
          <p:nvPr/>
        </p:nvSpPr>
        <p:spPr>
          <a:xfrm>
            <a:off x="6263640" y="4681728"/>
            <a:ext cx="4617721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0FB24E31-2574-C9DD-3878-FF73D0D81730}"/>
              </a:ext>
            </a:extLst>
          </p:cNvPr>
          <p:cNvSpPr/>
          <p:nvPr/>
        </p:nvSpPr>
        <p:spPr>
          <a:xfrm>
            <a:off x="6263640" y="4681728"/>
            <a:ext cx="64008" cy="859536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2E1B838-E254-52D5-FECD-1CB8148B67EC}"/>
              </a:ext>
            </a:extLst>
          </p:cNvPr>
          <p:cNvSpPr txBox="1"/>
          <p:nvPr/>
        </p:nvSpPr>
        <p:spPr>
          <a:xfrm>
            <a:off x="6428232" y="4782312"/>
            <a:ext cx="43251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포트폴리오 메시지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19A0519-BEE5-FF89-6A6A-1F21CCBD8099}"/>
              </a:ext>
            </a:extLst>
          </p:cNvPr>
          <p:cNvSpPr txBox="1"/>
          <p:nvPr/>
        </p:nvSpPr>
        <p:spPr>
          <a:xfrm>
            <a:off x="6428232" y="5029200"/>
            <a:ext cx="432511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 프로젝트의 설계 수준은 회계 흐름의 경계를 어떻게 나눴는지에서 드러납니다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2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12D5917-E49E-E3E4-86C0-38977CDEC54A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42711AE-0834-AB6C-29B0-82DE85DDC360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07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383656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DD5CD5FC-D7D2-A92E-D57C-4DF4763DCE41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CA1DE007-4085-842F-A98F-ED2867565819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D18821E8-1F39-38B8-F734-0147E10A587D}"/>
              </a:ext>
            </a:extLst>
          </p:cNvPr>
          <p:cNvSpPr/>
          <p:nvPr/>
        </p:nvSpPr>
        <p:spPr>
          <a:xfrm>
            <a:off x="548640" y="310896"/>
            <a:ext cx="1170432" cy="228600"/>
          </a:xfrm>
          <a:prstGeom prst="roundRect">
            <a:avLst/>
          </a:prstGeom>
          <a:solidFill>
            <a:srgbClr val="EAFB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8E15AE-AB8F-C3D8-0884-64F9EEBC434E}"/>
              </a:ext>
            </a:extLst>
          </p:cNvPr>
          <p:cNvSpPr txBox="1"/>
          <p:nvPr/>
        </p:nvSpPr>
        <p:spPr>
          <a:xfrm>
            <a:off x="630936" y="338328"/>
            <a:ext cx="96012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7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CONSISTENCY</a:t>
            </a:r>
            <a:endParaRPr lang="ko-KR" altLang="en-US" sz="7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F8AA11E-CCB6-D38B-66B5-E23486F04623}"/>
              </a:ext>
            </a:extLst>
          </p:cNvPr>
          <p:cNvSpPr txBox="1"/>
          <p:nvPr/>
        </p:nvSpPr>
        <p:spPr>
          <a:xfrm>
            <a:off x="530352" y="603504"/>
            <a:ext cx="10698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정합성과 트랜잭션 처리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51C5899B-79F7-96BA-39FE-42FB92DBE913}"/>
              </a:ext>
            </a:extLst>
          </p:cNvPr>
          <p:cNvCxnSpPr/>
          <p:nvPr/>
        </p:nvCxnSpPr>
        <p:spPr>
          <a:xfrm>
            <a:off x="548640" y="1097280"/>
            <a:ext cx="11109960" cy="0"/>
          </a:xfrm>
          <a:prstGeom prst="line">
            <a:avLst/>
          </a:prstGeom>
          <a:ln w="15240">
            <a:solidFill>
              <a:srgbClr val="E8EDF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EA7E72F8-593E-E4D6-F628-0AC10AAB6224}"/>
              </a:ext>
            </a:extLst>
          </p:cNvPr>
          <p:cNvSpPr/>
          <p:nvPr/>
        </p:nvSpPr>
        <p:spPr>
          <a:xfrm>
            <a:off x="777240" y="1417320"/>
            <a:ext cx="2148840" cy="932688"/>
          </a:xfrm>
          <a:prstGeom prst="rect">
            <a:avLst/>
          </a:prstGeom>
          <a:solidFill>
            <a:srgbClr val="EEF4FF"/>
          </a:solidFill>
          <a:ln w="10160">
            <a:solidFill>
              <a:srgbClr val="2454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9064FD-88E9-7FA4-9F0A-C75DA58548DD}"/>
              </a:ext>
            </a:extLst>
          </p:cNvPr>
          <p:cNvSpPr txBox="1"/>
          <p:nvPr/>
        </p:nvSpPr>
        <p:spPr>
          <a:xfrm>
            <a:off x="941832" y="1627632"/>
            <a:ext cx="18105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30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수집 거래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79F6395-89F1-B5AD-A6E0-C315BB5A7512}"/>
              </a:ext>
            </a:extLst>
          </p:cNvPr>
          <p:cNvSpPr txBox="1"/>
          <p:nvPr/>
        </p:nvSpPr>
        <p:spPr>
          <a:xfrm>
            <a:off x="941832" y="1984248"/>
            <a:ext cx="18105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05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검토 입력</a:t>
            </a:r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EE2EB970-A51C-29B6-FC28-FD6C207C1F12}"/>
              </a:ext>
            </a:extLst>
          </p:cNvPr>
          <p:cNvCxnSpPr/>
          <p:nvPr/>
        </p:nvCxnSpPr>
        <p:spPr>
          <a:xfrm>
            <a:off x="3017520" y="1883664"/>
            <a:ext cx="246888" cy="0"/>
          </a:xfrm>
          <a:prstGeom prst="line">
            <a:avLst/>
          </a:prstGeom>
          <a:ln w="15240">
            <a:solidFill>
              <a:srgbClr val="D8DE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E3E6A1D5-46EA-2DF4-5AC7-9E98983042EF}"/>
              </a:ext>
            </a:extLst>
          </p:cNvPr>
          <p:cNvSpPr/>
          <p:nvPr/>
        </p:nvSpPr>
        <p:spPr>
          <a:xfrm>
            <a:off x="3337560" y="1417320"/>
            <a:ext cx="2148840" cy="932688"/>
          </a:xfrm>
          <a:prstGeom prst="rect">
            <a:avLst/>
          </a:prstGeom>
          <a:solidFill>
            <a:srgbClr val="EAFBF8"/>
          </a:solidFill>
          <a:ln w="10160">
            <a:solidFill>
              <a:srgbClr val="008A8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22DAE40-9500-7B18-BEC7-1B403CF07148}"/>
              </a:ext>
            </a:extLst>
          </p:cNvPr>
          <p:cNvSpPr txBox="1"/>
          <p:nvPr/>
        </p:nvSpPr>
        <p:spPr>
          <a:xfrm>
            <a:off x="3502152" y="1627632"/>
            <a:ext cx="18105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30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트랜잭션 경계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6BBD0F8-BCD0-7363-799D-77D1590AA5BC}"/>
              </a:ext>
            </a:extLst>
          </p:cNvPr>
          <p:cNvSpPr txBox="1"/>
          <p:nvPr/>
        </p:nvSpPr>
        <p:spPr>
          <a:xfrm>
            <a:off x="3502152" y="1984248"/>
            <a:ext cx="181051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05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기간</a:t>
            </a:r>
            <a:r>
              <a:rPr lang="en-US" altLang="ko-KR" sz="105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·</a:t>
            </a:r>
            <a:r>
              <a:rPr lang="ko-KR" altLang="en-US" sz="105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상태</a:t>
            </a:r>
            <a:r>
              <a:rPr lang="en-US" altLang="ko-KR" sz="105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·</a:t>
            </a:r>
            <a:r>
              <a:rPr lang="ko-KR" altLang="en-US" sz="105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참조 재검증</a:t>
            </a:r>
          </a:p>
        </p:txBody>
      </p: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438F4173-48F2-C755-4577-16E7224B4E7F}"/>
              </a:ext>
            </a:extLst>
          </p:cNvPr>
          <p:cNvCxnSpPr/>
          <p:nvPr/>
        </p:nvCxnSpPr>
        <p:spPr>
          <a:xfrm>
            <a:off x="5577840" y="1883664"/>
            <a:ext cx="246888" cy="0"/>
          </a:xfrm>
          <a:prstGeom prst="line">
            <a:avLst/>
          </a:prstGeom>
          <a:ln w="15240">
            <a:solidFill>
              <a:srgbClr val="D8DE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F6C59678-5231-2CC7-0BAD-AF1B7760B7BB}"/>
              </a:ext>
            </a:extLst>
          </p:cNvPr>
          <p:cNvSpPr/>
          <p:nvPr/>
        </p:nvSpPr>
        <p:spPr>
          <a:xfrm>
            <a:off x="5897880" y="1417320"/>
            <a:ext cx="2148840" cy="932688"/>
          </a:xfrm>
          <a:prstGeom prst="rect">
            <a:avLst/>
          </a:prstGeom>
          <a:solidFill>
            <a:srgbClr val="FFF7E6"/>
          </a:solidFill>
          <a:ln w="10160">
            <a:solidFill>
              <a:srgbClr val="D9770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499DBBA-A43E-8C5F-7E1F-8981A4B52EFC}"/>
              </a:ext>
            </a:extLst>
          </p:cNvPr>
          <p:cNvSpPr txBox="1"/>
          <p:nvPr/>
        </p:nvSpPr>
        <p:spPr>
          <a:xfrm>
            <a:off x="6062472" y="1627632"/>
            <a:ext cx="18105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30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전표 확정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FDBC62F-1D06-7066-AA12-31F661C8EE29}"/>
              </a:ext>
            </a:extLst>
          </p:cNvPr>
          <p:cNvSpPr txBox="1"/>
          <p:nvPr/>
        </p:nvSpPr>
        <p:spPr>
          <a:xfrm>
            <a:off x="6062472" y="1984248"/>
            <a:ext cx="181051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05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월별 전표번호와 라인 생성</a:t>
            </a:r>
          </a:p>
        </p:txBody>
      </p: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8296A268-1149-6532-F0F1-0CB1563E816B}"/>
              </a:ext>
            </a:extLst>
          </p:cNvPr>
          <p:cNvCxnSpPr/>
          <p:nvPr/>
        </p:nvCxnSpPr>
        <p:spPr>
          <a:xfrm>
            <a:off x="8138160" y="1883664"/>
            <a:ext cx="246888" cy="0"/>
          </a:xfrm>
          <a:prstGeom prst="line">
            <a:avLst/>
          </a:prstGeom>
          <a:ln w="15240">
            <a:solidFill>
              <a:srgbClr val="D8DE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FC5AE58C-6D57-2175-7313-2055C11D4D2E}"/>
              </a:ext>
            </a:extLst>
          </p:cNvPr>
          <p:cNvSpPr/>
          <p:nvPr/>
        </p:nvSpPr>
        <p:spPr>
          <a:xfrm>
            <a:off x="8458200" y="1417320"/>
            <a:ext cx="2148840" cy="932688"/>
          </a:xfrm>
          <a:prstGeom prst="rect">
            <a:avLst/>
          </a:prstGeom>
          <a:solidFill>
            <a:srgbClr val="FFF1F3"/>
          </a:solidFill>
          <a:ln w="10160">
            <a:solidFill>
              <a:srgbClr val="E11D4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2E91F30-3524-643D-6C44-2DB4CEA7F217}"/>
              </a:ext>
            </a:extLst>
          </p:cNvPr>
          <p:cNvSpPr txBox="1"/>
          <p:nvPr/>
        </p:nvSpPr>
        <p:spPr>
          <a:xfrm>
            <a:off x="8622792" y="1627632"/>
            <a:ext cx="18105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30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잠금</a:t>
            </a:r>
            <a:r>
              <a:rPr lang="en-US" altLang="ko-KR" sz="130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r>
              <a:rPr lang="ko-KR" altLang="en-US" sz="130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스냅샷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251D86D-9986-1B5C-6873-459D7899652B}"/>
              </a:ext>
            </a:extLst>
          </p:cNvPr>
          <p:cNvSpPr txBox="1"/>
          <p:nvPr/>
        </p:nvSpPr>
        <p:spPr>
          <a:xfrm>
            <a:off x="8622792" y="1984248"/>
            <a:ext cx="181051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05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마감</a:t>
            </a:r>
            <a:r>
              <a:rPr lang="en-US" altLang="ko-KR" sz="105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·</a:t>
            </a:r>
            <a:r>
              <a:rPr lang="ko-KR" altLang="en-US" sz="105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보고</a:t>
            </a:r>
            <a:r>
              <a:rPr lang="en-US" altLang="ko-KR" sz="105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·</a:t>
            </a:r>
            <a:r>
              <a:rPr lang="ko-KR" altLang="en-US" sz="105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이월 기준 고정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BFB4248-5562-6CAD-1176-CFD9BEA71701}"/>
              </a:ext>
            </a:extLst>
          </p:cNvPr>
          <p:cNvSpPr txBox="1"/>
          <p:nvPr/>
        </p:nvSpPr>
        <p:spPr>
          <a:xfrm>
            <a:off x="777240" y="2761488"/>
            <a:ext cx="3108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50" b="1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엔지니어링 강점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9F28F939-4EB0-E22E-B2A7-F89768C1D20A}"/>
              </a:ext>
            </a:extLst>
          </p:cNvPr>
          <p:cNvSpPr/>
          <p:nvPr/>
        </p:nvSpPr>
        <p:spPr>
          <a:xfrm>
            <a:off x="777240" y="3127248"/>
            <a:ext cx="2578608" cy="786384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695AB950-6E40-D157-DE51-D17A8FB934D4}"/>
              </a:ext>
            </a:extLst>
          </p:cNvPr>
          <p:cNvSpPr/>
          <p:nvPr/>
        </p:nvSpPr>
        <p:spPr>
          <a:xfrm>
            <a:off x="777240" y="3127248"/>
            <a:ext cx="64008" cy="786384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1B2FF51-C15D-50CE-5FBB-D2B7EBF1237F}"/>
              </a:ext>
            </a:extLst>
          </p:cNvPr>
          <p:cNvSpPr txBox="1"/>
          <p:nvPr/>
        </p:nvSpPr>
        <p:spPr>
          <a:xfrm>
            <a:off x="941832" y="3218688"/>
            <a:ext cx="22860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5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전표 확정 경계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E53EE9F-A4FF-2D81-C725-A10DB32564D2}"/>
              </a:ext>
            </a:extLst>
          </p:cNvPr>
          <p:cNvSpPr txBox="1"/>
          <p:nvPr/>
        </p:nvSpPr>
        <p:spPr>
          <a:xfrm>
            <a:off x="941832" y="3456432"/>
            <a:ext cx="2286000" cy="120032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확정 시 하나의 트랜잭션 안에서 기간</a:t>
            </a:r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·</a:t>
            </a:r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상태</a:t>
            </a:r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·</a:t>
            </a:r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참조를 다시 검증합니다</a:t>
            </a:r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98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4F1FE964-ACC6-E2A4-1D91-7BBF14249840}"/>
              </a:ext>
            </a:extLst>
          </p:cNvPr>
          <p:cNvSpPr/>
          <p:nvPr/>
        </p:nvSpPr>
        <p:spPr>
          <a:xfrm>
            <a:off x="3611880" y="3127248"/>
            <a:ext cx="2578608" cy="786384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7D4D27F5-554C-2B7B-CD19-BDC2294BEAB3}"/>
              </a:ext>
            </a:extLst>
          </p:cNvPr>
          <p:cNvSpPr/>
          <p:nvPr/>
        </p:nvSpPr>
        <p:spPr>
          <a:xfrm>
            <a:off x="3611880" y="3127248"/>
            <a:ext cx="64008" cy="786384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3433948-4C40-8A23-9775-97785EB1BCF3}"/>
              </a:ext>
            </a:extLst>
          </p:cNvPr>
          <p:cNvSpPr txBox="1"/>
          <p:nvPr/>
        </p:nvSpPr>
        <p:spPr>
          <a:xfrm>
            <a:off x="3776472" y="3218688"/>
            <a:ext cx="22860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전표 번호 정합성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E1C4A8A-C40F-9209-A62F-820F8B6884AC}"/>
              </a:ext>
            </a:extLst>
          </p:cNvPr>
          <p:cNvSpPr txBox="1"/>
          <p:nvPr/>
        </p:nvSpPr>
        <p:spPr>
          <a:xfrm>
            <a:off x="3776472" y="3456432"/>
            <a:ext cx="2286000" cy="120032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운영월별 전표 순번을 별도로 관리해 월 안의 번호 중복을 막습니다</a:t>
            </a:r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98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3728F424-BF95-F04E-D862-3A4503D8BE64}"/>
              </a:ext>
            </a:extLst>
          </p:cNvPr>
          <p:cNvSpPr/>
          <p:nvPr/>
        </p:nvSpPr>
        <p:spPr>
          <a:xfrm>
            <a:off x="777240" y="4187952"/>
            <a:ext cx="2578608" cy="786384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8BDEEB03-B4FE-7699-0D0F-F76934524EDF}"/>
              </a:ext>
            </a:extLst>
          </p:cNvPr>
          <p:cNvSpPr/>
          <p:nvPr/>
        </p:nvSpPr>
        <p:spPr>
          <a:xfrm>
            <a:off x="777240" y="4187952"/>
            <a:ext cx="64008" cy="786384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A31E41C-157F-66B2-FC47-991BC5F4009F}"/>
              </a:ext>
            </a:extLst>
          </p:cNvPr>
          <p:cNvSpPr txBox="1"/>
          <p:nvPr/>
        </p:nvSpPr>
        <p:spPr>
          <a:xfrm>
            <a:off x="941832" y="4279392"/>
            <a:ext cx="22860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5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동시성 방어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67712B5-B9C1-D834-52FB-A72172EE0FBC}"/>
              </a:ext>
            </a:extLst>
          </p:cNvPr>
          <p:cNvSpPr txBox="1"/>
          <p:nvPr/>
        </p:nvSpPr>
        <p:spPr>
          <a:xfrm>
            <a:off x="941832" y="4517136"/>
            <a:ext cx="2286000" cy="120032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기대 상태 조건 갱신</a:t>
            </a:r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DB </a:t>
            </a:r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중복 제약</a:t>
            </a:r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일괄 등록 잠금으로 중복 확정을 차단합니다</a:t>
            </a:r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98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CB251BC5-3E48-965F-F74B-4BCF0C35042D}"/>
              </a:ext>
            </a:extLst>
          </p:cNvPr>
          <p:cNvSpPr/>
          <p:nvPr/>
        </p:nvSpPr>
        <p:spPr>
          <a:xfrm>
            <a:off x="3611880" y="4187952"/>
            <a:ext cx="2578608" cy="786384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1E4CBDD0-E2A9-3E56-00B2-2B8329C099C5}"/>
              </a:ext>
            </a:extLst>
          </p:cNvPr>
          <p:cNvSpPr/>
          <p:nvPr/>
        </p:nvSpPr>
        <p:spPr>
          <a:xfrm>
            <a:off x="3611880" y="4187952"/>
            <a:ext cx="64008" cy="786384"/>
          </a:xfrm>
          <a:prstGeom prst="rect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17596BF-14E0-3A0D-93D5-D67A9AA0F68C}"/>
              </a:ext>
            </a:extLst>
          </p:cNvPr>
          <p:cNvSpPr txBox="1"/>
          <p:nvPr/>
        </p:nvSpPr>
        <p:spPr>
          <a:xfrm>
            <a:off x="3776472" y="4279392"/>
            <a:ext cx="22860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50" b="1">
                <a:solidFill>
                  <a:srgbClr val="E11D4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실패 격리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0BDFCB5-F1B1-8367-0877-065D4B458B4E}"/>
              </a:ext>
            </a:extLst>
          </p:cNvPr>
          <p:cNvSpPr txBox="1"/>
          <p:nvPr/>
        </p:nvSpPr>
        <p:spPr>
          <a:xfrm>
            <a:off x="3776472" y="4517136"/>
            <a:ext cx="2286000" cy="120032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감사 기록 저장 실패는 핵심 회계 트랜잭션과 분리해 처리합니다</a:t>
            </a:r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98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0082D25F-2648-89F8-BA77-0D6980F60205}"/>
              </a:ext>
            </a:extLst>
          </p:cNvPr>
          <p:cNvSpPr/>
          <p:nvPr/>
        </p:nvSpPr>
        <p:spPr>
          <a:xfrm>
            <a:off x="6629400" y="2788920"/>
            <a:ext cx="4800600" cy="2395728"/>
          </a:xfrm>
          <a:prstGeom prst="rect">
            <a:avLst/>
          </a:prstGeom>
          <a:solidFill>
            <a:srgbClr val="18181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46D9E08-5080-F663-090F-B8F0E2B2FD99}"/>
              </a:ext>
            </a:extLst>
          </p:cNvPr>
          <p:cNvSpPr txBox="1"/>
          <p:nvPr/>
        </p:nvSpPr>
        <p:spPr>
          <a:xfrm>
            <a:off x="6903720" y="3035808"/>
            <a:ext cx="41605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320" b="1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검증으로 확인한 시나리오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CABBA0B-B56F-1A9C-7026-D2A5DC89E20F}"/>
              </a:ext>
            </a:extLst>
          </p:cNvPr>
          <p:cNvSpPr txBox="1"/>
          <p:nvPr/>
        </p:nvSpPr>
        <p:spPr>
          <a:xfrm>
            <a:off x="6967728" y="3493008"/>
            <a:ext cx="4023360" cy="1754326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09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• </a:t>
            </a:r>
            <a:r>
              <a:rPr lang="ko-KR" altLang="en-US" sz="109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운영 시작 → 업로드 → 수집 → 전표 확정 → 월 마감</a:t>
            </a:r>
          </a:p>
          <a:p>
            <a:r>
              <a:rPr lang="en-US" altLang="ko-KR" sz="109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• </a:t>
            </a:r>
            <a:r>
              <a:rPr lang="ko-KR" altLang="en-US" sz="109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마감 → 재무제표 → 재오픈 → 반전</a:t>
            </a:r>
            <a:r>
              <a:rPr lang="en-US" altLang="ko-KR" sz="109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r>
              <a:rPr lang="ko-KR" altLang="en-US" sz="109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정정</a:t>
            </a:r>
          </a:p>
          <a:p>
            <a:r>
              <a:rPr lang="en-US" altLang="ko-KR" sz="109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• </a:t>
            </a:r>
            <a:r>
              <a:rPr lang="ko-KR" altLang="en-US" sz="109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차기 이월 생성 후 원천 월 재오픈 차단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8842ADDA-5CAB-4D93-D3C6-7A507474DD9E}"/>
              </a:ext>
            </a:extLst>
          </p:cNvPr>
          <p:cNvSpPr/>
          <p:nvPr/>
        </p:nvSpPr>
        <p:spPr>
          <a:xfrm>
            <a:off x="6903720" y="4645152"/>
            <a:ext cx="4096512" cy="54864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430333B-05FA-C055-8DBD-8DEC1A8B5212}"/>
              </a:ext>
            </a:extLst>
          </p:cNvPr>
          <p:cNvSpPr txBox="1"/>
          <p:nvPr/>
        </p:nvSpPr>
        <p:spPr>
          <a:xfrm>
            <a:off x="6903720" y="4791456"/>
            <a:ext cx="4096512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100">
                <a:solidFill>
                  <a:srgbClr val="D4D4D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실무에서 겪은 중복 처리 위험을 바탕으로</a:t>
            </a:r>
            <a:r>
              <a:rPr lang="en-US" altLang="ko-KR" sz="1100">
                <a:solidFill>
                  <a:srgbClr val="D4D4D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100">
                <a:solidFill>
                  <a:srgbClr val="D4D4D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처리 전 선점과 기대 상태 갱신을 핵심 쓰기 경로에 적용했습니다</a:t>
            </a:r>
            <a:r>
              <a:rPr lang="en-US" altLang="ko-KR" sz="1100">
                <a:solidFill>
                  <a:srgbClr val="D4D4D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100">
              <a:solidFill>
                <a:srgbClr val="D4D4D8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52B27DD-F39E-0A29-9B8C-40576F850AE5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723C84E-A479-0A79-9D59-D0AB413387A1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08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518620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0D0BEE5-4427-926B-D33A-DFC802E3FD48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EC672457-E0CA-D9E0-196E-745BA7A11912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CFC9C199-3A0B-0355-2F31-28C5B0CF9E08}"/>
              </a:ext>
            </a:extLst>
          </p:cNvPr>
          <p:cNvSpPr/>
          <p:nvPr/>
        </p:nvSpPr>
        <p:spPr>
          <a:xfrm>
            <a:off x="548640" y="310896"/>
            <a:ext cx="1170432" cy="228600"/>
          </a:xfrm>
          <a:prstGeom prst="roundRect">
            <a:avLst/>
          </a:prstGeom>
          <a:solidFill>
            <a:srgbClr val="EAFB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A3022B3-BDC3-18A1-9463-199CA8F52D35}"/>
              </a:ext>
            </a:extLst>
          </p:cNvPr>
          <p:cNvSpPr txBox="1"/>
          <p:nvPr/>
        </p:nvSpPr>
        <p:spPr>
          <a:xfrm>
            <a:off x="630936" y="338328"/>
            <a:ext cx="96012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7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FIELD CASE</a:t>
            </a:r>
            <a:endParaRPr lang="ko-KR" altLang="en-US" sz="7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D7ED9FF-11B7-62F2-CBDA-A62957ECD04B}"/>
              </a:ext>
            </a:extLst>
          </p:cNvPr>
          <p:cNvSpPr txBox="1"/>
          <p:nvPr/>
        </p:nvSpPr>
        <p:spPr>
          <a:xfrm>
            <a:off x="530352" y="603504"/>
            <a:ext cx="10698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실무 경험</a:t>
            </a:r>
            <a:r>
              <a:rPr lang="en-US" altLang="ko-KR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: </a:t>
            </a:r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자동</a:t>
            </a:r>
            <a:r>
              <a:rPr lang="en-US" altLang="ko-KR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수동 인터페이스 중복 처리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6D648E24-4DDF-9746-3FD3-7787278A9B9C}"/>
              </a:ext>
            </a:extLst>
          </p:cNvPr>
          <p:cNvCxnSpPr/>
          <p:nvPr/>
        </p:nvCxnSpPr>
        <p:spPr>
          <a:xfrm>
            <a:off x="548640" y="1097280"/>
            <a:ext cx="11109960" cy="0"/>
          </a:xfrm>
          <a:prstGeom prst="line">
            <a:avLst/>
          </a:prstGeom>
          <a:ln w="15240">
            <a:solidFill>
              <a:srgbClr val="E8EDF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67564C44-581A-4477-F8E6-D968A478A6B3}"/>
              </a:ext>
            </a:extLst>
          </p:cNvPr>
          <p:cNvSpPr/>
          <p:nvPr/>
        </p:nvSpPr>
        <p:spPr>
          <a:xfrm>
            <a:off x="640080" y="1325880"/>
            <a:ext cx="3246120" cy="1078992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B85E8E6-9E68-D6BE-A3FD-236C795A09BE}"/>
              </a:ext>
            </a:extLst>
          </p:cNvPr>
          <p:cNvSpPr/>
          <p:nvPr/>
        </p:nvSpPr>
        <p:spPr>
          <a:xfrm>
            <a:off x="640080" y="1325880"/>
            <a:ext cx="64008" cy="1078992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9262DA-2416-C30B-8980-E3D7108F41EF}"/>
              </a:ext>
            </a:extLst>
          </p:cNvPr>
          <p:cNvSpPr txBox="1"/>
          <p:nvPr/>
        </p:nvSpPr>
        <p:spPr>
          <a:xfrm>
            <a:off x="804672" y="1435608"/>
            <a:ext cx="29535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10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상황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541A5AC-9453-BDEC-497B-80E118A501D6}"/>
              </a:ext>
            </a:extLst>
          </p:cNvPr>
          <p:cNvSpPr txBox="1"/>
          <p:nvPr/>
        </p:nvSpPr>
        <p:spPr>
          <a:xfrm>
            <a:off x="804672" y="1691640"/>
            <a:ext cx="2953512" cy="120032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스케줄러와 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ERP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사용자 수동 실행이 같은 인터페이스 작업 데이터를 동시에 집을 수 있었습니다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6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73345A6-E75F-14A2-2AD0-8BDE7C55F56E}"/>
              </a:ext>
            </a:extLst>
          </p:cNvPr>
          <p:cNvSpPr/>
          <p:nvPr/>
        </p:nvSpPr>
        <p:spPr>
          <a:xfrm>
            <a:off x="4343400" y="1325880"/>
            <a:ext cx="3246120" cy="1078992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20C8CDA-D91D-B002-E15B-9E9F667086D4}"/>
              </a:ext>
            </a:extLst>
          </p:cNvPr>
          <p:cNvSpPr/>
          <p:nvPr/>
        </p:nvSpPr>
        <p:spPr>
          <a:xfrm>
            <a:off x="4343400" y="1325880"/>
            <a:ext cx="64008" cy="1078992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240DCBD-16B5-22EB-8372-B3B8EA90FEF0}"/>
              </a:ext>
            </a:extLst>
          </p:cNvPr>
          <p:cNvSpPr txBox="1"/>
          <p:nvPr/>
        </p:nvSpPr>
        <p:spPr>
          <a:xfrm>
            <a:off x="4507992" y="1435608"/>
            <a:ext cx="29535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10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위험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134371D-860E-4FE8-11F8-C451AAB7EB79}"/>
              </a:ext>
            </a:extLst>
          </p:cNvPr>
          <p:cNvSpPr txBox="1"/>
          <p:nvPr/>
        </p:nvSpPr>
        <p:spPr>
          <a:xfrm>
            <a:off x="4507992" y="1691640"/>
            <a:ext cx="2953512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중복 처리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상태 덮어쓰기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처리 이력 불일치가 발생할 수 있는 구조였습니다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6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0B817ED-FE24-106D-F57D-F311A2C365DB}"/>
              </a:ext>
            </a:extLst>
          </p:cNvPr>
          <p:cNvSpPr/>
          <p:nvPr/>
        </p:nvSpPr>
        <p:spPr>
          <a:xfrm>
            <a:off x="8046720" y="1325880"/>
            <a:ext cx="3246119" cy="1078992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8940C6F9-109D-4072-3CCD-DEACD84754D8}"/>
              </a:ext>
            </a:extLst>
          </p:cNvPr>
          <p:cNvSpPr/>
          <p:nvPr/>
        </p:nvSpPr>
        <p:spPr>
          <a:xfrm>
            <a:off x="8046720" y="1325880"/>
            <a:ext cx="64007" cy="1078992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1D536F1-8FE6-61F1-9028-66E03D0BBA4A}"/>
              </a:ext>
            </a:extLst>
          </p:cNvPr>
          <p:cNvSpPr txBox="1"/>
          <p:nvPr/>
        </p:nvSpPr>
        <p:spPr>
          <a:xfrm>
            <a:off x="8211312" y="1435608"/>
            <a:ext cx="29535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10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판단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A660C6E-87EA-58B0-830B-919D0557F394}"/>
              </a:ext>
            </a:extLst>
          </p:cNvPr>
          <p:cNvSpPr txBox="1"/>
          <p:nvPr/>
        </p:nvSpPr>
        <p:spPr>
          <a:xfrm>
            <a:off x="8211312" y="1691640"/>
            <a:ext cx="2953512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실제 처리 전에 먼저 선점 상태를 확정해 같은 데이터의 재진입을 막았습니다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6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C652572-98A7-8D65-1FEF-F00D3B26184A}"/>
              </a:ext>
            </a:extLst>
          </p:cNvPr>
          <p:cNvSpPr/>
          <p:nvPr/>
        </p:nvSpPr>
        <p:spPr>
          <a:xfrm>
            <a:off x="640080" y="2816352"/>
            <a:ext cx="2313432" cy="84124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B2688B79-7698-8816-AE34-6A4C53365205}"/>
              </a:ext>
            </a:extLst>
          </p:cNvPr>
          <p:cNvSpPr/>
          <p:nvPr/>
        </p:nvSpPr>
        <p:spPr>
          <a:xfrm>
            <a:off x="640080" y="2816352"/>
            <a:ext cx="64008" cy="841248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906A04D-327B-34DA-E97B-E6EEB93CD970}"/>
              </a:ext>
            </a:extLst>
          </p:cNvPr>
          <p:cNvSpPr txBox="1"/>
          <p:nvPr/>
        </p:nvSpPr>
        <p:spPr>
          <a:xfrm>
            <a:off x="804672" y="2916936"/>
            <a:ext cx="2020824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자동 경로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817192F-4599-7145-8E6A-6B67B00A7674}"/>
              </a:ext>
            </a:extLst>
          </p:cNvPr>
          <p:cNvSpPr txBox="1"/>
          <p:nvPr/>
        </p:nvSpPr>
        <p:spPr>
          <a:xfrm>
            <a:off x="804672" y="3163824"/>
            <a:ext cx="2020824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조건에 맞는 미처리 작업을 주기적으로 탐색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53455611-2F7E-2C1B-3180-6043102EA861}"/>
              </a:ext>
            </a:extLst>
          </p:cNvPr>
          <p:cNvSpPr/>
          <p:nvPr/>
        </p:nvSpPr>
        <p:spPr>
          <a:xfrm>
            <a:off x="3410712" y="2816352"/>
            <a:ext cx="2313432" cy="84124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D4B7D6F6-C690-A52E-2934-43C2C3F6EA1B}"/>
              </a:ext>
            </a:extLst>
          </p:cNvPr>
          <p:cNvSpPr/>
          <p:nvPr/>
        </p:nvSpPr>
        <p:spPr>
          <a:xfrm>
            <a:off x="3410712" y="2816352"/>
            <a:ext cx="64008" cy="841248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BFEEEE9-283D-BB1C-F65B-71630FCCF727}"/>
              </a:ext>
            </a:extLst>
          </p:cNvPr>
          <p:cNvSpPr txBox="1"/>
          <p:nvPr/>
        </p:nvSpPr>
        <p:spPr>
          <a:xfrm>
            <a:off x="3575304" y="2916936"/>
            <a:ext cx="2020824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수동 경로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5348182-4F47-4916-1E45-69E0D7B0C321}"/>
              </a:ext>
            </a:extLst>
          </p:cNvPr>
          <p:cNvSpPr txBox="1"/>
          <p:nvPr/>
        </p:nvSpPr>
        <p:spPr>
          <a:xfrm>
            <a:off x="3575304" y="3163824"/>
            <a:ext cx="2020824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담당자가 화면에서 선택한 작업만 실행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356525FD-5546-B289-27C0-6097867CB4FB}"/>
              </a:ext>
            </a:extLst>
          </p:cNvPr>
          <p:cNvSpPr/>
          <p:nvPr/>
        </p:nvSpPr>
        <p:spPr>
          <a:xfrm>
            <a:off x="6181344" y="2816352"/>
            <a:ext cx="2313432" cy="84124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9CDAF1F4-68A9-043D-2BB4-ED373F1EE2C9}"/>
              </a:ext>
            </a:extLst>
          </p:cNvPr>
          <p:cNvSpPr/>
          <p:nvPr/>
        </p:nvSpPr>
        <p:spPr>
          <a:xfrm>
            <a:off x="6181344" y="2816352"/>
            <a:ext cx="64008" cy="841248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FA73CFC-B97C-A203-EC23-DF3FE893AF77}"/>
              </a:ext>
            </a:extLst>
          </p:cNvPr>
          <p:cNvSpPr txBox="1"/>
          <p:nvPr/>
        </p:nvSpPr>
        <p:spPr>
          <a:xfrm>
            <a:off x="6345936" y="2916936"/>
            <a:ext cx="2020824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공통 정책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7992099-7DEE-0085-7476-5FF8537AA6C0}"/>
              </a:ext>
            </a:extLst>
          </p:cNvPr>
          <p:cNvSpPr txBox="1"/>
          <p:nvPr/>
        </p:nvSpPr>
        <p:spPr>
          <a:xfrm>
            <a:off x="6345936" y="3163824"/>
            <a:ext cx="2020824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대상 선정 방식은 달라도 선점 규칙은 동일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B866A64D-C633-0AC1-F72B-2344800CE598}"/>
              </a:ext>
            </a:extLst>
          </p:cNvPr>
          <p:cNvSpPr/>
          <p:nvPr/>
        </p:nvSpPr>
        <p:spPr>
          <a:xfrm>
            <a:off x="8951976" y="2816352"/>
            <a:ext cx="2313432" cy="84124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3ED019C8-8DCB-918F-FFC7-F5B25DA92DA4}"/>
              </a:ext>
            </a:extLst>
          </p:cNvPr>
          <p:cNvSpPr/>
          <p:nvPr/>
        </p:nvSpPr>
        <p:spPr>
          <a:xfrm>
            <a:off x="8951976" y="2816352"/>
            <a:ext cx="64008" cy="841248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2085983-B2B5-4B58-D356-40D0BF13D8E2}"/>
              </a:ext>
            </a:extLst>
          </p:cNvPr>
          <p:cNvSpPr txBox="1"/>
          <p:nvPr/>
        </p:nvSpPr>
        <p:spPr>
          <a:xfrm>
            <a:off x="9116568" y="2916936"/>
            <a:ext cx="2020824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운영 결과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E3345E5-AD86-044D-C63F-A275F0A9B510}"/>
              </a:ext>
            </a:extLst>
          </p:cNvPr>
          <p:cNvSpPr txBox="1"/>
          <p:nvPr/>
        </p:nvSpPr>
        <p:spPr>
          <a:xfrm>
            <a:off x="9116568" y="3163824"/>
            <a:ext cx="2020824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중복 실행을 줄이고 실패 후 재시도 가능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8C1D5A78-14C8-1B21-A1B9-116DD1775C1E}"/>
              </a:ext>
            </a:extLst>
          </p:cNvPr>
          <p:cNvSpPr/>
          <p:nvPr/>
        </p:nvSpPr>
        <p:spPr>
          <a:xfrm>
            <a:off x="640080" y="4663440"/>
            <a:ext cx="10652760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9079870E-961E-0830-1503-921BED08F905}"/>
              </a:ext>
            </a:extLst>
          </p:cNvPr>
          <p:cNvSpPr/>
          <p:nvPr/>
        </p:nvSpPr>
        <p:spPr>
          <a:xfrm>
            <a:off x="640080" y="4663440"/>
            <a:ext cx="64008" cy="932688"/>
          </a:xfrm>
          <a:prstGeom prst="rect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E8023AE-507C-C5FC-93A3-34A34E91371C}"/>
              </a:ext>
            </a:extLst>
          </p:cNvPr>
          <p:cNvSpPr txBox="1"/>
          <p:nvPr/>
        </p:nvSpPr>
        <p:spPr>
          <a:xfrm>
            <a:off x="804672" y="4764024"/>
            <a:ext cx="1036015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E11D4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포트폴리오 메시지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2634AD2-D759-5569-CDEE-6BBB11631544}"/>
              </a:ext>
            </a:extLst>
          </p:cNvPr>
          <p:cNvSpPr txBox="1"/>
          <p:nvPr/>
        </p:nvSpPr>
        <p:spPr>
          <a:xfrm>
            <a:off x="804672" y="5010912"/>
            <a:ext cx="1036015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서로 다른 실행 경로가 같은 자원을 공유할 때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실행 진입점보다 데이터 선점 정책을 먼저 통일해야 한다는 실무 판단을 경험했습니다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2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77F59E0-715D-4E5F-2A9A-00DA6097662B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789F240-D338-D663-78F4-E28A0B245B49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09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011380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694B9FF9-CCE0-6518-A64C-631E220CD0A8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7A33988C-D3F1-402B-1A86-949B02DF1643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3FB400B2-1B2B-427D-1987-B697C403F204}"/>
              </a:ext>
            </a:extLst>
          </p:cNvPr>
          <p:cNvSpPr/>
          <p:nvPr/>
        </p:nvSpPr>
        <p:spPr>
          <a:xfrm>
            <a:off x="548640" y="310896"/>
            <a:ext cx="1170432" cy="228600"/>
          </a:xfrm>
          <a:prstGeom prst="roundRect">
            <a:avLst/>
          </a:prstGeom>
          <a:solidFill>
            <a:srgbClr val="EAFB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E305846-8841-4DAE-0AA4-9579F0CA689B}"/>
              </a:ext>
            </a:extLst>
          </p:cNvPr>
          <p:cNvSpPr txBox="1"/>
          <p:nvPr/>
        </p:nvSpPr>
        <p:spPr>
          <a:xfrm>
            <a:off x="630936" y="338328"/>
            <a:ext cx="96012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7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CLAIM FIRST</a:t>
            </a:r>
            <a:endParaRPr lang="ko-KR" altLang="en-US" sz="7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FE740F-C12A-31E0-D808-084A791F891D}"/>
              </a:ext>
            </a:extLst>
          </p:cNvPr>
          <p:cNvSpPr txBox="1"/>
          <p:nvPr/>
        </p:nvSpPr>
        <p:spPr>
          <a:xfrm>
            <a:off x="530352" y="603504"/>
            <a:ext cx="10698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선점 기반 트랜잭션 설계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B97DDE04-9EB7-7D5C-742D-1735A97DE836}"/>
              </a:ext>
            </a:extLst>
          </p:cNvPr>
          <p:cNvCxnSpPr/>
          <p:nvPr/>
        </p:nvCxnSpPr>
        <p:spPr>
          <a:xfrm>
            <a:off x="548640" y="1097280"/>
            <a:ext cx="11109960" cy="0"/>
          </a:xfrm>
          <a:prstGeom prst="line">
            <a:avLst/>
          </a:prstGeom>
          <a:ln w="15240">
            <a:solidFill>
              <a:srgbClr val="E8EDF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4663F288-4ABA-7AD4-214C-7295E107E2C1}"/>
              </a:ext>
            </a:extLst>
          </p:cNvPr>
          <p:cNvSpPr/>
          <p:nvPr/>
        </p:nvSpPr>
        <p:spPr>
          <a:xfrm>
            <a:off x="640080" y="1298448"/>
            <a:ext cx="2313432" cy="84124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FF77C95-53C1-47C3-7341-FE0C869F3A57}"/>
              </a:ext>
            </a:extLst>
          </p:cNvPr>
          <p:cNvSpPr/>
          <p:nvPr/>
        </p:nvSpPr>
        <p:spPr>
          <a:xfrm>
            <a:off x="640080" y="1298448"/>
            <a:ext cx="64008" cy="841248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C7E822E-63DD-EDD7-39C0-99D342CE93FD}"/>
              </a:ext>
            </a:extLst>
          </p:cNvPr>
          <p:cNvSpPr txBox="1"/>
          <p:nvPr/>
        </p:nvSpPr>
        <p:spPr>
          <a:xfrm>
            <a:off x="804672" y="1399032"/>
            <a:ext cx="2020824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1. </a:t>
            </a:r>
            <a:r>
              <a:rPr lang="ko-KR" altLang="en-US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처리 가능 대상 조회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42AFE67-3F30-F729-FBE5-A07F38F1819B}"/>
              </a:ext>
            </a:extLst>
          </p:cNvPr>
          <p:cNvSpPr txBox="1"/>
          <p:nvPr/>
        </p:nvSpPr>
        <p:spPr>
          <a:xfrm>
            <a:off x="804672" y="1645920"/>
            <a:ext cx="2020824" cy="120032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상태뿐 아니라 업무 조건과 선후행 관계까지 반영해 선별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E5F8708-53A6-7F58-F83D-5E087B8F7BF9}"/>
              </a:ext>
            </a:extLst>
          </p:cNvPr>
          <p:cNvSpPr/>
          <p:nvPr/>
        </p:nvSpPr>
        <p:spPr>
          <a:xfrm>
            <a:off x="3410712" y="1298448"/>
            <a:ext cx="2313432" cy="84124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62C31B5A-622C-F036-E6A0-D84C6995DCC0}"/>
              </a:ext>
            </a:extLst>
          </p:cNvPr>
          <p:cNvSpPr/>
          <p:nvPr/>
        </p:nvSpPr>
        <p:spPr>
          <a:xfrm>
            <a:off x="3410712" y="1298448"/>
            <a:ext cx="64008" cy="841248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EA24602-231F-F8B2-8DDB-488518468A7B}"/>
              </a:ext>
            </a:extLst>
          </p:cNvPr>
          <p:cNvSpPr txBox="1"/>
          <p:nvPr/>
        </p:nvSpPr>
        <p:spPr>
          <a:xfrm>
            <a:off x="3575304" y="1399032"/>
            <a:ext cx="2020824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08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2. </a:t>
            </a:r>
            <a:r>
              <a:rPr lang="ko-KR" altLang="en-US" sz="108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선점 상태 기록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EE68BBC-CB37-D03B-178E-52CC25980D0A}"/>
              </a:ext>
            </a:extLst>
          </p:cNvPr>
          <p:cNvSpPr txBox="1"/>
          <p:nvPr/>
        </p:nvSpPr>
        <p:spPr>
          <a:xfrm>
            <a:off x="3575304" y="1645920"/>
            <a:ext cx="2020824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미처리 대상을 즉시 처리 중 상태로 변경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EB7493AA-BEF4-544A-4AA0-7A133682E0F2}"/>
              </a:ext>
            </a:extLst>
          </p:cNvPr>
          <p:cNvSpPr/>
          <p:nvPr/>
        </p:nvSpPr>
        <p:spPr>
          <a:xfrm>
            <a:off x="6181344" y="1298448"/>
            <a:ext cx="2313432" cy="84124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6C9503C7-0073-AF3D-C7D5-28C161A603B5}"/>
              </a:ext>
            </a:extLst>
          </p:cNvPr>
          <p:cNvSpPr/>
          <p:nvPr/>
        </p:nvSpPr>
        <p:spPr>
          <a:xfrm>
            <a:off x="6181344" y="1298448"/>
            <a:ext cx="64008" cy="841248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9278886-F203-0345-85EF-44E3D293C9DC}"/>
              </a:ext>
            </a:extLst>
          </p:cNvPr>
          <p:cNvSpPr txBox="1"/>
          <p:nvPr/>
        </p:nvSpPr>
        <p:spPr>
          <a:xfrm>
            <a:off x="6345936" y="1399032"/>
            <a:ext cx="2020824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08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3. </a:t>
            </a:r>
            <a:r>
              <a:rPr lang="ko-KR" altLang="en-US" sz="108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동일 집합 전달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3BE78DC-94D2-4CF9-3862-6965E224A7F6}"/>
              </a:ext>
            </a:extLst>
          </p:cNvPr>
          <p:cNvSpPr txBox="1"/>
          <p:nvPr/>
        </p:nvSpPr>
        <p:spPr>
          <a:xfrm>
            <a:off x="6345936" y="1645920"/>
            <a:ext cx="2020824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선점한 집합을 후속 처리 대상으로 고정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819E06DC-E5DC-AFC7-E79B-5EAE0CBDBA12}"/>
              </a:ext>
            </a:extLst>
          </p:cNvPr>
          <p:cNvSpPr/>
          <p:nvPr/>
        </p:nvSpPr>
        <p:spPr>
          <a:xfrm>
            <a:off x="8951976" y="1298448"/>
            <a:ext cx="2313432" cy="84124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2C309C9B-CDF0-3D53-3DA5-DADDC3C89B9F}"/>
              </a:ext>
            </a:extLst>
          </p:cNvPr>
          <p:cNvSpPr/>
          <p:nvPr/>
        </p:nvSpPr>
        <p:spPr>
          <a:xfrm>
            <a:off x="8951976" y="1298448"/>
            <a:ext cx="64008" cy="841248"/>
          </a:xfrm>
          <a:prstGeom prst="rect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2FDA5A6-AA1F-A847-DE56-CE21140C658C}"/>
              </a:ext>
            </a:extLst>
          </p:cNvPr>
          <p:cNvSpPr txBox="1"/>
          <p:nvPr/>
        </p:nvSpPr>
        <p:spPr>
          <a:xfrm>
            <a:off x="9116568" y="1399032"/>
            <a:ext cx="2020824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080" b="1">
                <a:solidFill>
                  <a:srgbClr val="E11D4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4. </a:t>
            </a:r>
            <a:r>
              <a:rPr lang="ko-KR" altLang="en-US" sz="1080" b="1">
                <a:solidFill>
                  <a:srgbClr val="E11D4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성공</a:t>
            </a:r>
            <a:r>
              <a:rPr lang="en-US" altLang="ko-KR" sz="1080" b="1">
                <a:solidFill>
                  <a:srgbClr val="E11D4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r>
              <a:rPr lang="ko-KR" altLang="en-US" sz="1080" b="1">
                <a:solidFill>
                  <a:srgbClr val="E11D4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실패 정리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D290E38-A6DA-958B-AFD1-B822BF11F39A}"/>
              </a:ext>
            </a:extLst>
          </p:cNvPr>
          <p:cNvSpPr txBox="1"/>
          <p:nvPr/>
        </p:nvSpPr>
        <p:spPr>
          <a:xfrm>
            <a:off x="9116568" y="1645920"/>
            <a:ext cx="2020824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성공 시 완료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실패 시 미처리로 복구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EE3B50F7-8A91-1062-978D-BC107B7D8AEE}"/>
              </a:ext>
            </a:extLst>
          </p:cNvPr>
          <p:cNvSpPr/>
          <p:nvPr/>
        </p:nvSpPr>
        <p:spPr>
          <a:xfrm>
            <a:off x="640080" y="2880360"/>
            <a:ext cx="5102352" cy="1143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2BD25ACB-BD3D-EA25-195F-84BE916835D5}"/>
              </a:ext>
            </a:extLst>
          </p:cNvPr>
          <p:cNvSpPr/>
          <p:nvPr/>
        </p:nvSpPr>
        <p:spPr>
          <a:xfrm>
            <a:off x="640080" y="2880360"/>
            <a:ext cx="64008" cy="1143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94FF6E7-EABB-2FFA-717E-8DA1222B78E6}"/>
              </a:ext>
            </a:extLst>
          </p:cNvPr>
          <p:cNvSpPr txBox="1"/>
          <p:nvPr/>
        </p:nvSpPr>
        <p:spPr>
          <a:xfrm>
            <a:off x="804672" y="2990088"/>
            <a:ext cx="4809744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10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트랜잭션의 초점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8DE0D58-19D7-A2DE-4A01-62E19506EC69}"/>
              </a:ext>
            </a:extLst>
          </p:cNvPr>
          <p:cNvSpPr txBox="1"/>
          <p:nvPr/>
        </p:nvSpPr>
        <p:spPr>
          <a:xfrm>
            <a:off x="804672" y="3246120"/>
            <a:ext cx="4809744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후속 비즈니스 전체를 하나로 묶기보다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조회와 선점 상태 변경을 짧고 강하게 보장하는 구조에 집중했습니다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6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F16E08DF-69A5-6D32-394D-B02842D6DDB0}"/>
              </a:ext>
            </a:extLst>
          </p:cNvPr>
          <p:cNvSpPr/>
          <p:nvPr/>
        </p:nvSpPr>
        <p:spPr>
          <a:xfrm>
            <a:off x="6181344" y="2880360"/>
            <a:ext cx="5111496" cy="1143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C0FCF1EA-8952-662C-0E6C-EE65E151B4C4}"/>
              </a:ext>
            </a:extLst>
          </p:cNvPr>
          <p:cNvSpPr/>
          <p:nvPr/>
        </p:nvSpPr>
        <p:spPr>
          <a:xfrm>
            <a:off x="6181344" y="2880360"/>
            <a:ext cx="64008" cy="1143000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8CDEDA6-4064-83B6-5FE7-D5D704E338B2}"/>
              </a:ext>
            </a:extLst>
          </p:cNvPr>
          <p:cNvSpPr txBox="1"/>
          <p:nvPr/>
        </p:nvSpPr>
        <p:spPr>
          <a:xfrm>
            <a:off x="6345936" y="2990088"/>
            <a:ext cx="481888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10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운영 오류 해석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F74E916-51D9-54B6-0CA2-5674BB68E5A8}"/>
              </a:ext>
            </a:extLst>
          </p:cNvPr>
          <p:cNvSpPr txBox="1"/>
          <p:nvPr/>
        </p:nvSpPr>
        <p:spPr>
          <a:xfrm>
            <a:off x="6345936" y="3246120"/>
            <a:ext cx="4818888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잠금 대기 시간 초과와 일반 오류를 구분해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실패 원인을 운영자가 해석할 수 있게 했습니다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6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67C29EB1-4447-517C-921B-E13895FF0809}"/>
              </a:ext>
            </a:extLst>
          </p:cNvPr>
          <p:cNvSpPr/>
          <p:nvPr/>
        </p:nvSpPr>
        <p:spPr>
          <a:xfrm>
            <a:off x="640080" y="4663440"/>
            <a:ext cx="10652760" cy="877824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860EF51D-2F6D-0D4D-4CE7-5C64A27CD416}"/>
              </a:ext>
            </a:extLst>
          </p:cNvPr>
          <p:cNvSpPr/>
          <p:nvPr/>
        </p:nvSpPr>
        <p:spPr>
          <a:xfrm>
            <a:off x="640080" y="4663440"/>
            <a:ext cx="64008" cy="877824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99D4130-3B81-D7E5-E20D-C77F58457F1E}"/>
              </a:ext>
            </a:extLst>
          </p:cNvPr>
          <p:cNvSpPr txBox="1"/>
          <p:nvPr/>
        </p:nvSpPr>
        <p:spPr>
          <a:xfrm>
            <a:off x="804672" y="4764024"/>
            <a:ext cx="1036015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가장 중요한 규칙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1E3073F-6E22-9EA7-87C0-F7C7808DE290}"/>
              </a:ext>
            </a:extLst>
          </p:cNvPr>
          <p:cNvSpPr txBox="1"/>
          <p:nvPr/>
        </p:nvSpPr>
        <p:spPr>
          <a:xfrm>
            <a:off x="804672" y="5010912"/>
            <a:ext cx="1036015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선점된 작업은 완료 또는 미처리 상태로 종료되어야 하며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잔존 선점 상태는 운영 리스크로 관리해야 합니다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2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14C4794-5846-8ACA-BA76-14A0D99D98D6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4C9B179-3652-F60A-C9A5-D07CB0602EA1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10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70786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272ED80F-A7D8-AA8B-159D-FCAA16FF908C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E5CE4B3-8CFD-8F23-BBF9-9FCBD980BCD4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7F9D997-58FB-FD86-981B-0F09659371FC}"/>
              </a:ext>
            </a:extLst>
          </p:cNvPr>
          <p:cNvSpPr/>
          <p:nvPr/>
        </p:nvSpPr>
        <p:spPr>
          <a:xfrm>
            <a:off x="548640" y="310896"/>
            <a:ext cx="1170432" cy="228600"/>
          </a:xfrm>
          <a:prstGeom prst="roundRect">
            <a:avLst/>
          </a:prstGeom>
          <a:solidFill>
            <a:srgbClr val="EAFB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5A0D80-7C7A-BD23-9FE4-B67F92729274}"/>
              </a:ext>
            </a:extLst>
          </p:cNvPr>
          <p:cNvSpPr txBox="1"/>
          <p:nvPr/>
        </p:nvSpPr>
        <p:spPr>
          <a:xfrm>
            <a:off x="630936" y="338328"/>
            <a:ext cx="960120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7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APPLIED DESIGN</a:t>
            </a:r>
            <a:endParaRPr lang="ko-KR" altLang="en-US" sz="7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05EB5ED-7163-0FF2-74B7-A68429E63662}"/>
              </a:ext>
            </a:extLst>
          </p:cNvPr>
          <p:cNvSpPr txBox="1"/>
          <p:nvPr/>
        </p:nvSpPr>
        <p:spPr>
          <a:xfrm>
            <a:off x="530352" y="603504"/>
            <a:ext cx="10698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프로젝트에 반영된 정합성 사고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55F02DEB-E4D3-7BD1-5A1A-698E0245450E}"/>
              </a:ext>
            </a:extLst>
          </p:cNvPr>
          <p:cNvCxnSpPr/>
          <p:nvPr/>
        </p:nvCxnSpPr>
        <p:spPr>
          <a:xfrm>
            <a:off x="548640" y="1097280"/>
            <a:ext cx="11109960" cy="0"/>
          </a:xfrm>
          <a:prstGeom prst="line">
            <a:avLst/>
          </a:prstGeom>
          <a:ln w="15240">
            <a:solidFill>
              <a:srgbClr val="E8EDF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2A658016-DEAA-F54E-7860-30BCECA36CD7}"/>
              </a:ext>
            </a:extLst>
          </p:cNvPr>
          <p:cNvSpPr/>
          <p:nvPr/>
        </p:nvSpPr>
        <p:spPr>
          <a:xfrm>
            <a:off x="640080" y="1225296"/>
            <a:ext cx="3246120" cy="104241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593C5EE-8D95-58A0-CBCF-677DAC3C561F}"/>
              </a:ext>
            </a:extLst>
          </p:cNvPr>
          <p:cNvSpPr/>
          <p:nvPr/>
        </p:nvSpPr>
        <p:spPr>
          <a:xfrm>
            <a:off x="640080" y="1225296"/>
            <a:ext cx="64008" cy="1042416"/>
          </a:xfrm>
          <a:prstGeom prst="rect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26747F-7936-363D-1B1C-6618523031FE}"/>
              </a:ext>
            </a:extLst>
          </p:cNvPr>
          <p:cNvSpPr txBox="1"/>
          <p:nvPr/>
        </p:nvSpPr>
        <p:spPr>
          <a:xfrm>
            <a:off x="804672" y="1335024"/>
            <a:ext cx="29535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100" b="1">
                <a:solidFill>
                  <a:srgbClr val="E11D4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실무 원칙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124BB6A-ACA6-15DE-F353-FEE2392BA6A3}"/>
              </a:ext>
            </a:extLst>
          </p:cNvPr>
          <p:cNvSpPr txBox="1"/>
          <p:nvPr/>
        </p:nvSpPr>
        <p:spPr>
          <a:xfrm>
            <a:off x="804672" y="1591056"/>
            <a:ext cx="2953512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먼저 선점하고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기대 상태 조건으로 갱신해 동시 실행을 감지합니다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6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0254FE2-F4A7-8058-AACB-2E6D21139ABC}"/>
              </a:ext>
            </a:extLst>
          </p:cNvPr>
          <p:cNvSpPr/>
          <p:nvPr/>
        </p:nvSpPr>
        <p:spPr>
          <a:xfrm>
            <a:off x="4343400" y="1225296"/>
            <a:ext cx="3246120" cy="104241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B4A49F3A-40DD-93B0-834A-BF2F83DACEE0}"/>
              </a:ext>
            </a:extLst>
          </p:cNvPr>
          <p:cNvSpPr/>
          <p:nvPr/>
        </p:nvSpPr>
        <p:spPr>
          <a:xfrm>
            <a:off x="4343400" y="1225296"/>
            <a:ext cx="64008" cy="1042416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E0C551E-CAEA-23D3-2B74-A5BA9BAC44DE}"/>
              </a:ext>
            </a:extLst>
          </p:cNvPr>
          <p:cNvSpPr txBox="1"/>
          <p:nvPr/>
        </p:nvSpPr>
        <p:spPr>
          <a:xfrm>
            <a:off x="4507992" y="1335024"/>
            <a:ext cx="29535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10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전표 확정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8A7C1C1-F851-6494-D827-2FF318AEB180}"/>
              </a:ext>
            </a:extLst>
          </p:cNvPr>
          <p:cNvSpPr txBox="1"/>
          <p:nvPr/>
        </p:nvSpPr>
        <p:spPr>
          <a:xfrm>
            <a:off x="4507992" y="1591056"/>
            <a:ext cx="2953512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트랜잭션 안에서 최신 수집 거래를 재조회하고 전표번호 할당 후 선점합니다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6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3B935F64-8852-A33D-1E65-3726B9C6BEFF}"/>
              </a:ext>
            </a:extLst>
          </p:cNvPr>
          <p:cNvSpPr/>
          <p:nvPr/>
        </p:nvSpPr>
        <p:spPr>
          <a:xfrm>
            <a:off x="8046720" y="1225296"/>
            <a:ext cx="3246119" cy="104241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1A366850-F1B1-654D-74F9-2D5624AA1C6D}"/>
              </a:ext>
            </a:extLst>
          </p:cNvPr>
          <p:cNvSpPr/>
          <p:nvPr/>
        </p:nvSpPr>
        <p:spPr>
          <a:xfrm>
            <a:off x="8046720" y="1225296"/>
            <a:ext cx="64007" cy="1042416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5BA7337-C797-BDC7-B27D-4140D06F2EB5}"/>
              </a:ext>
            </a:extLst>
          </p:cNvPr>
          <p:cNvSpPr txBox="1"/>
          <p:nvPr/>
        </p:nvSpPr>
        <p:spPr>
          <a:xfrm>
            <a:off x="8211312" y="1335024"/>
            <a:ext cx="29535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10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업로드 일괄 등록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B27B139-7D02-1A4B-5E00-C32AC82F7B38}"/>
              </a:ext>
            </a:extLst>
          </p:cNvPr>
          <p:cNvSpPr txBox="1"/>
          <p:nvPr/>
        </p:nvSpPr>
        <p:spPr>
          <a:xfrm>
            <a:off x="8211312" y="1591056"/>
            <a:ext cx="2953512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작업공간 단위 잠금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진행 중 갱신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만료 잠금 정리로 등록 충돌을 막습니다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6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BEFB57F6-817B-26BD-0BF6-3ABB657381D5}"/>
              </a:ext>
            </a:extLst>
          </p:cNvPr>
          <p:cNvSpPr/>
          <p:nvPr/>
        </p:nvSpPr>
        <p:spPr>
          <a:xfrm>
            <a:off x="640080" y="2670048"/>
            <a:ext cx="3246120" cy="104241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9FC59AB5-6EF6-699C-DB35-74C6902E0546}"/>
              </a:ext>
            </a:extLst>
          </p:cNvPr>
          <p:cNvSpPr/>
          <p:nvPr/>
        </p:nvSpPr>
        <p:spPr>
          <a:xfrm>
            <a:off x="640080" y="2670048"/>
            <a:ext cx="64008" cy="1042416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736FC0A-ACD0-48D3-6678-913CF04AB007}"/>
              </a:ext>
            </a:extLst>
          </p:cNvPr>
          <p:cNvSpPr txBox="1"/>
          <p:nvPr/>
        </p:nvSpPr>
        <p:spPr>
          <a:xfrm>
            <a:off x="804672" y="2779776"/>
            <a:ext cx="29535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10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역분개</a:t>
            </a:r>
            <a:r>
              <a:rPr lang="en-US" altLang="ko-KR" sz="110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r>
              <a:rPr lang="ko-KR" altLang="en-US" sz="110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정정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41A2CDD-8EC9-0499-194A-199590331BC1}"/>
              </a:ext>
            </a:extLst>
          </p:cNvPr>
          <p:cNvSpPr txBox="1"/>
          <p:nvPr/>
        </p:nvSpPr>
        <p:spPr>
          <a:xfrm>
            <a:off x="804672" y="3035808"/>
            <a:ext cx="2953512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원전표와 원수집거래를 기대 상태 조건으로 갱신해 조정 충돌을 감지합니다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6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9B212421-7765-D89B-96C0-8207730C8FE9}"/>
              </a:ext>
            </a:extLst>
          </p:cNvPr>
          <p:cNvSpPr/>
          <p:nvPr/>
        </p:nvSpPr>
        <p:spPr>
          <a:xfrm>
            <a:off x="4343400" y="2670048"/>
            <a:ext cx="3246120" cy="104241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214CFEF6-DE3C-D50F-78D7-AAB8ED59F238}"/>
              </a:ext>
            </a:extLst>
          </p:cNvPr>
          <p:cNvSpPr/>
          <p:nvPr/>
        </p:nvSpPr>
        <p:spPr>
          <a:xfrm>
            <a:off x="4343400" y="2670048"/>
            <a:ext cx="64008" cy="1042416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9C9C881-3A2F-C909-43F3-EA7F9E0D1FDA}"/>
              </a:ext>
            </a:extLst>
          </p:cNvPr>
          <p:cNvSpPr txBox="1"/>
          <p:nvPr/>
        </p:nvSpPr>
        <p:spPr>
          <a:xfrm>
            <a:off x="4507992" y="2779776"/>
            <a:ext cx="29535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10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중복 제약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645CEB1-8721-0E7D-F275-86FE7954C7B4}"/>
              </a:ext>
            </a:extLst>
          </p:cNvPr>
          <p:cNvSpPr txBox="1"/>
          <p:nvPr/>
        </p:nvSpPr>
        <p:spPr>
          <a:xfrm>
            <a:off x="4507992" y="3035808"/>
            <a:ext cx="2953512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전표번호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업로드 행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계획 매칭은 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DB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중복 제약과 충돌 응답으로 방어합니다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6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D060B2E5-038C-F6BD-1AF3-20EFD0F16D49}"/>
              </a:ext>
            </a:extLst>
          </p:cNvPr>
          <p:cNvSpPr/>
          <p:nvPr/>
        </p:nvSpPr>
        <p:spPr>
          <a:xfrm>
            <a:off x="8046720" y="2670048"/>
            <a:ext cx="3246119" cy="104241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34C4B19A-AF27-564F-91DA-B0B5CF04AB94}"/>
              </a:ext>
            </a:extLst>
          </p:cNvPr>
          <p:cNvSpPr/>
          <p:nvPr/>
        </p:nvSpPr>
        <p:spPr>
          <a:xfrm>
            <a:off x="8046720" y="2670048"/>
            <a:ext cx="64007" cy="1042416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2CC7B9E-97B3-8AA9-8827-5E6E4979E97B}"/>
              </a:ext>
            </a:extLst>
          </p:cNvPr>
          <p:cNvSpPr txBox="1"/>
          <p:nvPr/>
        </p:nvSpPr>
        <p:spPr>
          <a:xfrm>
            <a:off x="8211312" y="2779776"/>
            <a:ext cx="29535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10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실패 격리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F660637-B220-5134-EA7E-263BA380E32F}"/>
              </a:ext>
            </a:extLst>
          </p:cNvPr>
          <p:cNvSpPr txBox="1"/>
          <p:nvPr/>
        </p:nvSpPr>
        <p:spPr>
          <a:xfrm>
            <a:off x="8211312" y="3035808"/>
            <a:ext cx="2953512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감사 이벤트 실패가 핵심 회계 트랜잭션을 깨지 않도록 분리했습니다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6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BE573FDD-4EB6-7C63-6308-6C10D018C966}"/>
              </a:ext>
            </a:extLst>
          </p:cNvPr>
          <p:cNvSpPr/>
          <p:nvPr/>
        </p:nvSpPr>
        <p:spPr>
          <a:xfrm>
            <a:off x="640080" y="4663440"/>
            <a:ext cx="1065276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657BB30A-5257-C8CD-E2FA-178B39B3B890}"/>
              </a:ext>
            </a:extLst>
          </p:cNvPr>
          <p:cNvSpPr/>
          <p:nvPr/>
        </p:nvSpPr>
        <p:spPr>
          <a:xfrm>
            <a:off x="640080" y="4663440"/>
            <a:ext cx="64008" cy="960120"/>
          </a:xfrm>
          <a:prstGeom prst="rect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10BCCA8-0F90-8693-308D-1C15792FEDFC}"/>
              </a:ext>
            </a:extLst>
          </p:cNvPr>
          <p:cNvSpPr txBox="1"/>
          <p:nvPr/>
        </p:nvSpPr>
        <p:spPr>
          <a:xfrm>
            <a:off x="804672" y="4764024"/>
            <a:ext cx="1036015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E11D4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발표 포인트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5DDA336-C2C0-660C-BFAE-9F29E9628C74}"/>
              </a:ext>
            </a:extLst>
          </p:cNvPr>
          <p:cNvSpPr txBox="1"/>
          <p:nvPr/>
        </p:nvSpPr>
        <p:spPr>
          <a:xfrm>
            <a:off x="804672" y="5010912"/>
            <a:ext cx="1036015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기능 구현을 넘어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실무에서 겪은 동시 처리 리스크를 회계 도메인의 핵심 쓰기 경로에 적용한 사례로 설명할 수 있습니다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2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FF4523E-6578-7945-055E-44434253ACF4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B5FC330-078B-C7E4-C503-27730B3A85CA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11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316687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E8A34D0C-D64E-1426-E731-95254DD077BE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E82D2266-2AC1-1EFD-C7AF-F3D00AFBA721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AAFDF549-CEAF-C136-91CD-33A056BB5107}"/>
              </a:ext>
            </a:extLst>
          </p:cNvPr>
          <p:cNvSpPr/>
          <p:nvPr/>
        </p:nvSpPr>
        <p:spPr>
          <a:xfrm>
            <a:off x="548640" y="310896"/>
            <a:ext cx="1170432" cy="228600"/>
          </a:xfrm>
          <a:prstGeom prst="roundRect">
            <a:avLst/>
          </a:prstGeom>
          <a:solidFill>
            <a:srgbClr val="EAFB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8A19F3F-492A-E89F-291F-DCB9BF2A6E82}"/>
              </a:ext>
            </a:extLst>
          </p:cNvPr>
          <p:cNvSpPr txBox="1"/>
          <p:nvPr/>
        </p:nvSpPr>
        <p:spPr>
          <a:xfrm>
            <a:off x="630936" y="338328"/>
            <a:ext cx="96012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7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ARCHITECTURE</a:t>
            </a:r>
            <a:endParaRPr lang="ko-KR" altLang="en-US" sz="7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C5B8B81-28D6-97BD-8C10-D3282F476EBE}"/>
              </a:ext>
            </a:extLst>
          </p:cNvPr>
          <p:cNvSpPr txBox="1"/>
          <p:nvPr/>
        </p:nvSpPr>
        <p:spPr>
          <a:xfrm>
            <a:off x="530352" y="603504"/>
            <a:ext cx="10698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구조가 이렇게 된 이유</a:t>
            </a:r>
            <a:r>
              <a:rPr lang="en-US" altLang="ko-KR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: </a:t>
            </a:r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월 운영 </a:t>
            </a:r>
            <a:r>
              <a:rPr lang="en-US" altLang="ko-KR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ERP</a:t>
            </a:r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의 압력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065E13E8-595E-957A-3500-D5AFEE3E35A7}"/>
              </a:ext>
            </a:extLst>
          </p:cNvPr>
          <p:cNvCxnSpPr/>
          <p:nvPr/>
        </p:nvCxnSpPr>
        <p:spPr>
          <a:xfrm>
            <a:off x="548640" y="1097280"/>
            <a:ext cx="11109960" cy="0"/>
          </a:xfrm>
          <a:prstGeom prst="line">
            <a:avLst/>
          </a:prstGeom>
          <a:ln w="15240">
            <a:solidFill>
              <a:srgbClr val="E8EDF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1B45A745-A467-EBEC-BA4F-3D95737127F9}"/>
              </a:ext>
            </a:extLst>
          </p:cNvPr>
          <p:cNvSpPr/>
          <p:nvPr/>
        </p:nvSpPr>
        <p:spPr>
          <a:xfrm>
            <a:off x="822960" y="1444752"/>
            <a:ext cx="205740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0F7589B-2A52-DEB8-7B0D-19F44AE33C9A}"/>
              </a:ext>
            </a:extLst>
          </p:cNvPr>
          <p:cNvSpPr/>
          <p:nvPr/>
        </p:nvSpPr>
        <p:spPr>
          <a:xfrm>
            <a:off x="822960" y="1444752"/>
            <a:ext cx="64008" cy="96012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12EF61C-12EB-A28B-E131-B216D3F7916F}"/>
              </a:ext>
            </a:extLst>
          </p:cNvPr>
          <p:cNvSpPr txBox="1"/>
          <p:nvPr/>
        </p:nvSpPr>
        <p:spPr>
          <a:xfrm>
            <a:off x="987552" y="1545336"/>
            <a:ext cx="176479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월은 상태를 가진다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339DA9A-9DCB-D0DB-006B-5577E77BACE5}"/>
              </a:ext>
            </a:extLst>
          </p:cNvPr>
          <p:cNvSpPr txBox="1"/>
          <p:nvPr/>
        </p:nvSpPr>
        <p:spPr>
          <a:xfrm>
            <a:off x="987552" y="1792224"/>
            <a:ext cx="1764792" cy="1754326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열림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검토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확정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마감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이월이 순서대로 이어져 단순 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CRUD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로 보기 어렵습니다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2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54CB65B8-DBE6-6833-0EC1-3FCF2D46A785}"/>
              </a:ext>
            </a:extLst>
          </p:cNvPr>
          <p:cNvCxnSpPr/>
          <p:nvPr/>
        </p:nvCxnSpPr>
        <p:spPr>
          <a:xfrm>
            <a:off x="2971800" y="1920240"/>
            <a:ext cx="246888" cy="0"/>
          </a:xfrm>
          <a:prstGeom prst="line">
            <a:avLst/>
          </a:prstGeom>
          <a:ln w="15240">
            <a:solidFill>
              <a:srgbClr val="D8DE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241B4269-8EC8-3B0D-15F6-55306A79525E}"/>
              </a:ext>
            </a:extLst>
          </p:cNvPr>
          <p:cNvSpPr/>
          <p:nvPr/>
        </p:nvSpPr>
        <p:spPr>
          <a:xfrm>
            <a:off x="3456432" y="1444752"/>
            <a:ext cx="205740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6D4D188-DA34-AC94-2A2C-D4C338E86557}"/>
              </a:ext>
            </a:extLst>
          </p:cNvPr>
          <p:cNvSpPr/>
          <p:nvPr/>
        </p:nvSpPr>
        <p:spPr>
          <a:xfrm>
            <a:off x="3456432" y="1444752"/>
            <a:ext cx="64008" cy="960120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308D13-7A6D-B924-F1FC-8CF335736265}"/>
              </a:ext>
            </a:extLst>
          </p:cNvPr>
          <p:cNvSpPr txBox="1"/>
          <p:nvPr/>
        </p:nvSpPr>
        <p:spPr>
          <a:xfrm>
            <a:off x="3621024" y="1545336"/>
            <a:ext cx="176479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숫자는 흔들리면 안 된다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9EB9875-3B04-4557-FDA6-BB9DDCDBD7CC}"/>
              </a:ext>
            </a:extLst>
          </p:cNvPr>
          <p:cNvSpPr txBox="1"/>
          <p:nvPr/>
        </p:nvSpPr>
        <p:spPr>
          <a:xfrm>
            <a:off x="3621024" y="1792224"/>
            <a:ext cx="1764792" cy="147732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전표와 마감 이후 숫자가 바뀌면 보고와 다음 달 기준이 모두 흔들립니다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2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9CA7DE13-EB32-700E-435B-A4A0BA0F86CB}"/>
              </a:ext>
            </a:extLst>
          </p:cNvPr>
          <p:cNvCxnSpPr/>
          <p:nvPr/>
        </p:nvCxnSpPr>
        <p:spPr>
          <a:xfrm>
            <a:off x="5605272" y="1920240"/>
            <a:ext cx="246888" cy="0"/>
          </a:xfrm>
          <a:prstGeom prst="line">
            <a:avLst/>
          </a:prstGeom>
          <a:ln w="15240">
            <a:solidFill>
              <a:srgbClr val="D8DE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D5D729C1-BA32-5E5E-A763-C9DD9B509634}"/>
              </a:ext>
            </a:extLst>
          </p:cNvPr>
          <p:cNvSpPr/>
          <p:nvPr/>
        </p:nvSpPr>
        <p:spPr>
          <a:xfrm>
            <a:off x="6089904" y="1444752"/>
            <a:ext cx="205740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CE2616FF-5E18-B4B6-48E2-F73111BB8CE7}"/>
              </a:ext>
            </a:extLst>
          </p:cNvPr>
          <p:cNvSpPr/>
          <p:nvPr/>
        </p:nvSpPr>
        <p:spPr>
          <a:xfrm>
            <a:off x="6089904" y="1444752"/>
            <a:ext cx="64008" cy="960120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A8C1040-1744-0607-308F-0441D66E68B4}"/>
              </a:ext>
            </a:extLst>
          </p:cNvPr>
          <p:cNvSpPr txBox="1"/>
          <p:nvPr/>
        </p:nvSpPr>
        <p:spPr>
          <a:xfrm>
            <a:off x="6254496" y="1545336"/>
            <a:ext cx="176479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입력 경로가 여러 개다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61CF7BC-03E1-CD16-4977-855ABC639940}"/>
              </a:ext>
            </a:extLst>
          </p:cNvPr>
          <p:cNvSpPr txBox="1"/>
          <p:nvPr/>
        </p:nvSpPr>
        <p:spPr>
          <a:xfrm>
            <a:off x="6254496" y="1792224"/>
            <a:ext cx="1764792" cy="147732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업로드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수기 입력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반복 계획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차량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부채 비용이 하나의 원장으로 모입니다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2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DC3DFCC5-03B1-5296-2EFA-CF7E08CC8D93}"/>
              </a:ext>
            </a:extLst>
          </p:cNvPr>
          <p:cNvCxnSpPr/>
          <p:nvPr/>
        </p:nvCxnSpPr>
        <p:spPr>
          <a:xfrm>
            <a:off x="8238744" y="1920240"/>
            <a:ext cx="246888" cy="0"/>
          </a:xfrm>
          <a:prstGeom prst="line">
            <a:avLst/>
          </a:prstGeom>
          <a:ln w="15240">
            <a:solidFill>
              <a:srgbClr val="D8DE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8CB6EB92-2418-4531-A9EE-35F916DD8888}"/>
              </a:ext>
            </a:extLst>
          </p:cNvPr>
          <p:cNvSpPr/>
          <p:nvPr/>
        </p:nvSpPr>
        <p:spPr>
          <a:xfrm>
            <a:off x="8723376" y="1444752"/>
            <a:ext cx="205740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5CB7385C-1697-42C1-356C-9120DA302D50}"/>
              </a:ext>
            </a:extLst>
          </p:cNvPr>
          <p:cNvSpPr/>
          <p:nvPr/>
        </p:nvSpPr>
        <p:spPr>
          <a:xfrm>
            <a:off x="8723376" y="1444752"/>
            <a:ext cx="64008" cy="96012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71307B8-BE95-D574-C159-4421B7C1AF91}"/>
              </a:ext>
            </a:extLst>
          </p:cNvPr>
          <p:cNvSpPr txBox="1"/>
          <p:nvPr/>
        </p:nvSpPr>
        <p:spPr>
          <a:xfrm>
            <a:off x="8887968" y="1545336"/>
            <a:ext cx="176479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그래서 원장을 보호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C0E3B9C-BA84-4D93-3813-BC643C1714C5}"/>
              </a:ext>
            </a:extLst>
          </p:cNvPr>
          <p:cNvSpPr txBox="1"/>
          <p:nvPr/>
        </p:nvSpPr>
        <p:spPr>
          <a:xfrm>
            <a:off x="8887968" y="1792224"/>
            <a:ext cx="1764792" cy="147732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수집 거래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전표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기간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재무제표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이월은 강한 쓰기 경계로 분리했습니다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2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0A5286B0-E0BC-1CE7-B017-30802431543B}"/>
              </a:ext>
            </a:extLst>
          </p:cNvPr>
          <p:cNvSpPr/>
          <p:nvPr/>
        </p:nvSpPr>
        <p:spPr>
          <a:xfrm>
            <a:off x="1234440" y="2971800"/>
            <a:ext cx="9646920" cy="141732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0E10787-9D62-52B1-087B-A1475E0973E1}"/>
              </a:ext>
            </a:extLst>
          </p:cNvPr>
          <p:cNvSpPr txBox="1"/>
          <p:nvPr/>
        </p:nvSpPr>
        <p:spPr>
          <a:xfrm>
            <a:off x="1554480" y="3218688"/>
            <a:ext cx="214884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18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그래서 읽기는 분리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44645BE-4E71-FCFF-C10D-76979F87225D}"/>
              </a:ext>
            </a:extLst>
          </p:cNvPr>
          <p:cNvSpPr txBox="1"/>
          <p:nvPr/>
        </p:nvSpPr>
        <p:spPr>
          <a:xfrm>
            <a:off x="1554480" y="3593592"/>
            <a:ext cx="2148840" cy="147732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대시보드와 전망은 규칙을 바꾸지 않고 여러 근거를 읽어 판단 화면을 만듭니다</a:t>
            </a:r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98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ADF4D41-8354-D3C3-E077-23F4ACC034A2}"/>
              </a:ext>
            </a:extLst>
          </p:cNvPr>
          <p:cNvSpPr txBox="1"/>
          <p:nvPr/>
        </p:nvSpPr>
        <p:spPr>
          <a:xfrm>
            <a:off x="4617720" y="3218688"/>
            <a:ext cx="214884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180" b="1">
                <a:solidFill>
                  <a:srgbClr val="E11D4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그래서 공통 기준을 고정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93F5F4A-F928-9FF9-19F2-0FF756D4C5F4}"/>
              </a:ext>
            </a:extLst>
          </p:cNvPr>
          <p:cNvSpPr txBox="1"/>
          <p:nvPr/>
        </p:nvSpPr>
        <p:spPr>
          <a:xfrm>
            <a:off x="4617720" y="3593592"/>
            <a:ext cx="2148840" cy="1754326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계약과 금액 처리는 </a:t>
            </a:r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packages/contracts</a:t>
            </a:r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와 </a:t>
            </a:r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packages/money</a:t>
            </a:r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로 흔들리지 않게 했습니다</a:t>
            </a:r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98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08704B0-EE4D-8D32-B724-593C735CFC94}"/>
              </a:ext>
            </a:extLst>
          </p:cNvPr>
          <p:cNvSpPr txBox="1"/>
          <p:nvPr/>
        </p:nvSpPr>
        <p:spPr>
          <a:xfrm>
            <a:off x="7680960" y="3218688"/>
            <a:ext cx="214884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1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한 문장 결론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FDADEE4-9C84-1C10-C14D-B49153929C39}"/>
              </a:ext>
            </a:extLst>
          </p:cNvPr>
          <p:cNvSpPr txBox="1"/>
          <p:nvPr/>
        </p:nvSpPr>
        <p:spPr>
          <a:xfrm>
            <a:off x="7680960" y="3593592"/>
            <a:ext cx="2148840" cy="2308324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 구조는 기술 패턴에서 출발한 것이 아니라</a:t>
            </a:r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월 운영에서 숫자를 확정하고 다음 달로 넘기는 업무 압력에서 나온 실무형 </a:t>
            </a:r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modular monolith</a:t>
            </a:r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입니다</a:t>
            </a:r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98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1DE3F446-0E7F-99B2-5F67-35695F9AF58E}"/>
              </a:ext>
            </a:extLst>
          </p:cNvPr>
          <p:cNvSpPr/>
          <p:nvPr/>
        </p:nvSpPr>
        <p:spPr>
          <a:xfrm>
            <a:off x="1188720" y="4800600"/>
            <a:ext cx="9738360" cy="65836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C4D18248-C230-FBBC-DEA6-E2F5AEA3C52B}"/>
              </a:ext>
            </a:extLst>
          </p:cNvPr>
          <p:cNvSpPr/>
          <p:nvPr/>
        </p:nvSpPr>
        <p:spPr>
          <a:xfrm>
            <a:off x="1188720" y="4800600"/>
            <a:ext cx="64008" cy="658368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F97FC56-121E-D268-1BAB-4ED65F32FAC8}"/>
              </a:ext>
            </a:extLst>
          </p:cNvPr>
          <p:cNvSpPr txBox="1"/>
          <p:nvPr/>
        </p:nvSpPr>
        <p:spPr>
          <a:xfrm>
            <a:off x="1353312" y="4946904"/>
            <a:ext cx="944575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endParaRPr lang="ko-KR" altLang="en-US" sz="1120" b="1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4155184-D90D-9F9C-4F6A-A9BAF6C0304A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CCA2886-733A-0CAB-8C4A-E8EDEEC09003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12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966714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5B8F5F09-CADA-5B06-D7E8-FD91F6BED71E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C991C877-5769-06C3-EC82-57749A03E389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24C7D672-051D-6FB5-AC5A-6C1971AB5CF2}"/>
              </a:ext>
            </a:extLst>
          </p:cNvPr>
          <p:cNvSpPr/>
          <p:nvPr/>
        </p:nvSpPr>
        <p:spPr>
          <a:xfrm>
            <a:off x="548640" y="310896"/>
            <a:ext cx="1170432" cy="228600"/>
          </a:xfrm>
          <a:prstGeom prst="roundRect">
            <a:avLst/>
          </a:prstGeom>
          <a:solidFill>
            <a:srgbClr val="EAFB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286AE7-3704-E00C-1A29-8DAE73376E1C}"/>
              </a:ext>
            </a:extLst>
          </p:cNvPr>
          <p:cNvSpPr txBox="1"/>
          <p:nvPr/>
        </p:nvSpPr>
        <p:spPr>
          <a:xfrm>
            <a:off x="630936" y="338328"/>
            <a:ext cx="960120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7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ARCHITECTURE WHY</a:t>
            </a:r>
            <a:endParaRPr lang="ko-KR" altLang="en-US" sz="7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B9ED6B1-7683-C13B-DD7F-8B17ED940077}"/>
              </a:ext>
            </a:extLst>
          </p:cNvPr>
          <p:cNvSpPr txBox="1"/>
          <p:nvPr/>
        </p:nvSpPr>
        <p:spPr>
          <a:xfrm>
            <a:off x="530352" y="603504"/>
            <a:ext cx="10698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제약 조건이 만든 선택</a:t>
            </a:r>
            <a:r>
              <a:rPr lang="en-US" altLang="ko-KR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: Modular Monolith</a:t>
            </a:r>
            <a:endParaRPr lang="ko-KR" altLang="en-US" sz="2350" b="1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42415941-1AEE-5919-55B9-B856BB3E2FF9}"/>
              </a:ext>
            </a:extLst>
          </p:cNvPr>
          <p:cNvCxnSpPr/>
          <p:nvPr/>
        </p:nvCxnSpPr>
        <p:spPr>
          <a:xfrm>
            <a:off x="548640" y="1097280"/>
            <a:ext cx="11109960" cy="0"/>
          </a:xfrm>
          <a:prstGeom prst="line">
            <a:avLst/>
          </a:prstGeom>
          <a:ln w="15240">
            <a:solidFill>
              <a:srgbClr val="E8EDF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3538E706-0DFA-48F8-BD60-F86FE6A9379D}"/>
              </a:ext>
            </a:extLst>
          </p:cNvPr>
          <p:cNvSpPr/>
          <p:nvPr/>
        </p:nvSpPr>
        <p:spPr>
          <a:xfrm>
            <a:off x="640080" y="1207008"/>
            <a:ext cx="3246120" cy="102412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B00530E1-86C8-9966-C327-087E64C96A78}"/>
              </a:ext>
            </a:extLst>
          </p:cNvPr>
          <p:cNvSpPr/>
          <p:nvPr/>
        </p:nvSpPr>
        <p:spPr>
          <a:xfrm>
            <a:off x="640080" y="1207008"/>
            <a:ext cx="64008" cy="1024128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10C8CAE-317B-38DC-0C90-63FACE26FC97}"/>
              </a:ext>
            </a:extLst>
          </p:cNvPr>
          <p:cNvSpPr txBox="1"/>
          <p:nvPr/>
        </p:nvSpPr>
        <p:spPr>
          <a:xfrm>
            <a:off x="804672" y="1316736"/>
            <a:ext cx="29535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10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제품 완성이 우선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538B690-3C41-2149-CBBE-A236B977BA8E}"/>
              </a:ext>
            </a:extLst>
          </p:cNvPr>
          <p:cNvSpPr txBox="1"/>
          <p:nvPr/>
        </p:nvSpPr>
        <p:spPr>
          <a:xfrm>
            <a:off x="804672" y="1572768"/>
            <a:ext cx="2953512" cy="120032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1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인 개발에서는 서비스 분산보다 기능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검증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배포를 끝까지 닫는 것이 먼저였습니다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6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11AD5EC-8125-A281-513E-1EEE0AB072C4}"/>
              </a:ext>
            </a:extLst>
          </p:cNvPr>
          <p:cNvSpPr/>
          <p:nvPr/>
        </p:nvSpPr>
        <p:spPr>
          <a:xfrm>
            <a:off x="4343400" y="1207008"/>
            <a:ext cx="3246120" cy="102412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7487B1F2-68AF-DA47-CB53-7DB3DAD94991}"/>
              </a:ext>
            </a:extLst>
          </p:cNvPr>
          <p:cNvSpPr/>
          <p:nvPr/>
        </p:nvSpPr>
        <p:spPr>
          <a:xfrm>
            <a:off x="4343400" y="1207008"/>
            <a:ext cx="64008" cy="1024128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9A45251-3B70-49B6-023B-AAA54B3F58AB}"/>
              </a:ext>
            </a:extLst>
          </p:cNvPr>
          <p:cNvSpPr txBox="1"/>
          <p:nvPr/>
        </p:nvSpPr>
        <p:spPr>
          <a:xfrm>
            <a:off x="4507992" y="1316736"/>
            <a:ext cx="29535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10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회계 흐름은 함께 잠긴다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6A9347B-68ED-9A3A-97E5-D7E6605BFE79}"/>
              </a:ext>
            </a:extLst>
          </p:cNvPr>
          <p:cNvSpPr txBox="1"/>
          <p:nvPr/>
        </p:nvSpPr>
        <p:spPr>
          <a:xfrm>
            <a:off x="4507992" y="1572768"/>
            <a:ext cx="2953512" cy="120032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기간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전표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스냅샷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이월은 같은 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DB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트랜잭션 사고 안에서 다루는 편이 안전합니다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6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90DCE3F3-B7D3-CCF5-9BAD-124E25B1B4BF}"/>
              </a:ext>
            </a:extLst>
          </p:cNvPr>
          <p:cNvSpPr/>
          <p:nvPr/>
        </p:nvSpPr>
        <p:spPr>
          <a:xfrm>
            <a:off x="8046720" y="1207008"/>
            <a:ext cx="3246119" cy="102412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AD073516-A586-7E91-9EE6-48A5C934537F}"/>
              </a:ext>
            </a:extLst>
          </p:cNvPr>
          <p:cNvSpPr/>
          <p:nvPr/>
        </p:nvSpPr>
        <p:spPr>
          <a:xfrm>
            <a:off x="8046720" y="1207008"/>
            <a:ext cx="64007" cy="1024128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0A11588-4B41-E4EE-08DF-84AF10571D56}"/>
              </a:ext>
            </a:extLst>
          </p:cNvPr>
          <p:cNvSpPr txBox="1"/>
          <p:nvPr/>
        </p:nvSpPr>
        <p:spPr>
          <a:xfrm>
            <a:off x="8211312" y="1316736"/>
            <a:ext cx="29535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10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운영 비용을 줄인다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7DC3485-B236-70FE-EE79-10F28C439F1E}"/>
              </a:ext>
            </a:extLst>
          </p:cNvPr>
          <p:cNvSpPr txBox="1"/>
          <p:nvPr/>
        </p:nvSpPr>
        <p:spPr>
          <a:xfrm>
            <a:off x="8211312" y="1572768"/>
            <a:ext cx="2953512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broker, service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별 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DB, outbox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는 지금 단계에서 장애 지점을 더 늘립니다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6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4F6EADA2-9F97-CDA0-D577-D7A32E5355C7}"/>
              </a:ext>
            </a:extLst>
          </p:cNvPr>
          <p:cNvSpPr/>
          <p:nvPr/>
        </p:nvSpPr>
        <p:spPr>
          <a:xfrm>
            <a:off x="640080" y="2743200"/>
            <a:ext cx="3246120" cy="102412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877653A8-84D1-A409-1F52-5DC34526C52B}"/>
              </a:ext>
            </a:extLst>
          </p:cNvPr>
          <p:cNvSpPr/>
          <p:nvPr/>
        </p:nvSpPr>
        <p:spPr>
          <a:xfrm>
            <a:off x="640080" y="2743200"/>
            <a:ext cx="64008" cy="1024128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CE68FD9-925E-85A1-6F5E-38534261FD79}"/>
              </a:ext>
            </a:extLst>
          </p:cNvPr>
          <p:cNvSpPr txBox="1"/>
          <p:nvPr/>
        </p:nvSpPr>
        <p:spPr>
          <a:xfrm>
            <a:off x="804672" y="2852928"/>
            <a:ext cx="29535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10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하지만 책임은 섞지 않는다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0BC9DED-5B51-B890-6FE6-9D363E25B6B3}"/>
              </a:ext>
            </a:extLst>
          </p:cNvPr>
          <p:cNvSpPr txBox="1"/>
          <p:nvPr/>
        </p:nvSpPr>
        <p:spPr>
          <a:xfrm>
            <a:off x="804672" y="3108960"/>
            <a:ext cx="2953512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분산하지 않아도 원장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반복 자동화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보고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전망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운영 지원 책임은 나눴습니다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6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177BCBE0-764A-367A-A329-52BDA9220BA1}"/>
              </a:ext>
            </a:extLst>
          </p:cNvPr>
          <p:cNvSpPr/>
          <p:nvPr/>
        </p:nvSpPr>
        <p:spPr>
          <a:xfrm>
            <a:off x="4343400" y="2743200"/>
            <a:ext cx="3246120" cy="102412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B7D8778A-644F-08E4-BFAA-DA8CFA31B2F0}"/>
              </a:ext>
            </a:extLst>
          </p:cNvPr>
          <p:cNvSpPr/>
          <p:nvPr/>
        </p:nvSpPr>
        <p:spPr>
          <a:xfrm>
            <a:off x="4343400" y="2743200"/>
            <a:ext cx="64008" cy="1024128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C4D392E-FA29-712E-5CF3-42855A8D731C}"/>
              </a:ext>
            </a:extLst>
          </p:cNvPr>
          <p:cNvSpPr txBox="1"/>
          <p:nvPr/>
        </p:nvSpPr>
        <p:spPr>
          <a:xfrm>
            <a:off x="4507992" y="2852928"/>
            <a:ext cx="29535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10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분리 후보는 보인다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01552C8-7633-6F5F-9E40-8A79E9DC5630}"/>
              </a:ext>
            </a:extLst>
          </p:cNvPr>
          <p:cNvSpPr txBox="1"/>
          <p:nvPr/>
        </p:nvSpPr>
        <p:spPr>
          <a:xfrm>
            <a:off x="4507992" y="3108960"/>
            <a:ext cx="2953512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나중에 나눈다면 원장이 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1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순위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보고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전망은 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read service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후보입니다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6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1E8B4C12-EC68-E4EE-DA31-719697AD753C}"/>
              </a:ext>
            </a:extLst>
          </p:cNvPr>
          <p:cNvSpPr/>
          <p:nvPr/>
        </p:nvSpPr>
        <p:spPr>
          <a:xfrm>
            <a:off x="8046720" y="2743200"/>
            <a:ext cx="3246119" cy="102412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573A0B70-7D27-EC7F-C266-E9C5ED34152B}"/>
              </a:ext>
            </a:extLst>
          </p:cNvPr>
          <p:cNvSpPr/>
          <p:nvPr/>
        </p:nvSpPr>
        <p:spPr>
          <a:xfrm>
            <a:off x="8046720" y="2743200"/>
            <a:ext cx="64007" cy="1024128"/>
          </a:xfrm>
          <a:prstGeom prst="rect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031732A-1235-A3A7-9A8E-56B8FDFC1BAC}"/>
              </a:ext>
            </a:extLst>
          </p:cNvPr>
          <p:cNvSpPr txBox="1"/>
          <p:nvPr/>
        </p:nvSpPr>
        <p:spPr>
          <a:xfrm>
            <a:off x="8211312" y="2852928"/>
            <a:ext cx="29535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100" b="1">
                <a:solidFill>
                  <a:srgbClr val="E11D4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면접에서의 답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BA3B4B6-ABE1-E27D-4ABB-AE23A3CE2219}"/>
              </a:ext>
            </a:extLst>
          </p:cNvPr>
          <p:cNvSpPr txBox="1"/>
          <p:nvPr/>
        </p:nvSpPr>
        <p:spPr>
          <a:xfrm>
            <a:off x="8211312" y="3108960"/>
            <a:ext cx="2953512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“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MSA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흉내”가 아니라 제품 규모에 맞는 배포 단위와 책임 지도를 선택했습니다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6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DA05F983-DC50-F983-FBB2-EEF1825A01DB}"/>
              </a:ext>
            </a:extLst>
          </p:cNvPr>
          <p:cNvSpPr/>
          <p:nvPr/>
        </p:nvSpPr>
        <p:spPr>
          <a:xfrm>
            <a:off x="640080" y="4663440"/>
            <a:ext cx="10652760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82FACE56-E0CD-5132-6ACE-F610F3A03F39}"/>
              </a:ext>
            </a:extLst>
          </p:cNvPr>
          <p:cNvSpPr/>
          <p:nvPr/>
        </p:nvSpPr>
        <p:spPr>
          <a:xfrm>
            <a:off x="640080" y="4663440"/>
            <a:ext cx="64008" cy="859536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470C6D1-693C-489A-D430-1F7476628BED}"/>
              </a:ext>
            </a:extLst>
          </p:cNvPr>
          <p:cNvSpPr txBox="1"/>
          <p:nvPr/>
        </p:nvSpPr>
        <p:spPr>
          <a:xfrm>
            <a:off x="804672" y="4764024"/>
            <a:ext cx="1036015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결론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4BBD016-76B7-8394-A24A-443CE97021CB}"/>
              </a:ext>
            </a:extLst>
          </p:cNvPr>
          <p:cNvSpPr txBox="1"/>
          <p:nvPr/>
        </p:nvSpPr>
        <p:spPr>
          <a:xfrm>
            <a:off x="804672" y="5010912"/>
            <a:ext cx="1036015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하나의 배포 단위 안에 두되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나중에 분리할 수 있는 경계가 코드와 문서에서 읽히게 만든 선택입니다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2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3515573-2D90-D024-ED7B-179E232B16C6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4E24055-1990-DB3F-742D-96121C226759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13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549497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D735DD9-1CE5-4E94-0F42-BB6FF9C4B066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D895CD6-5C30-A3DC-F230-89282765A045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7BA5A747-4E49-7A7B-653E-7610E45F2203}"/>
              </a:ext>
            </a:extLst>
          </p:cNvPr>
          <p:cNvSpPr/>
          <p:nvPr/>
        </p:nvSpPr>
        <p:spPr>
          <a:xfrm>
            <a:off x="548640" y="310896"/>
            <a:ext cx="1170432" cy="228600"/>
          </a:xfrm>
          <a:prstGeom prst="roundRect">
            <a:avLst/>
          </a:prstGeom>
          <a:solidFill>
            <a:srgbClr val="EAFB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84546D-C9D9-8387-ABEC-8C25F764ADA7}"/>
              </a:ext>
            </a:extLst>
          </p:cNvPr>
          <p:cNvSpPr txBox="1"/>
          <p:nvPr/>
        </p:nvSpPr>
        <p:spPr>
          <a:xfrm>
            <a:off x="630936" y="338328"/>
            <a:ext cx="96012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7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DESIGN RULE</a:t>
            </a:r>
            <a:endParaRPr lang="ko-KR" altLang="en-US" sz="7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B81D6B7-FC0E-0D3C-A8C6-151B21DF2325}"/>
              </a:ext>
            </a:extLst>
          </p:cNvPr>
          <p:cNvSpPr txBox="1"/>
          <p:nvPr/>
        </p:nvSpPr>
        <p:spPr>
          <a:xfrm>
            <a:off x="530352" y="603504"/>
            <a:ext cx="10698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복잡도 배치 원칙</a:t>
            </a:r>
            <a:r>
              <a:rPr lang="en-US" altLang="ko-KR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: </a:t>
            </a:r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실패 비용이 구조를 결정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21B58C26-2615-8855-E489-B07767C3FB03}"/>
              </a:ext>
            </a:extLst>
          </p:cNvPr>
          <p:cNvCxnSpPr/>
          <p:nvPr/>
        </p:nvCxnSpPr>
        <p:spPr>
          <a:xfrm>
            <a:off x="548640" y="1097280"/>
            <a:ext cx="11109960" cy="0"/>
          </a:xfrm>
          <a:prstGeom prst="line">
            <a:avLst/>
          </a:prstGeom>
          <a:ln w="15240">
            <a:solidFill>
              <a:srgbClr val="E8EDF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B5078ED5-0DC8-FB3A-9B6D-D494044322A2}"/>
              </a:ext>
            </a:extLst>
          </p:cNvPr>
          <p:cNvSpPr/>
          <p:nvPr/>
        </p:nvSpPr>
        <p:spPr>
          <a:xfrm>
            <a:off x="640080" y="1207008"/>
            <a:ext cx="2834640" cy="91440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5EA693F-1805-D538-380B-8ACA80A6BA0E}"/>
              </a:ext>
            </a:extLst>
          </p:cNvPr>
          <p:cNvSpPr/>
          <p:nvPr/>
        </p:nvSpPr>
        <p:spPr>
          <a:xfrm>
            <a:off x="640080" y="1207008"/>
            <a:ext cx="64008" cy="9144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DEF22BA-EF6B-0CF7-218C-74FCE02D5B04}"/>
              </a:ext>
            </a:extLst>
          </p:cNvPr>
          <p:cNvSpPr txBox="1"/>
          <p:nvPr/>
        </p:nvSpPr>
        <p:spPr>
          <a:xfrm>
            <a:off x="804672" y="1307592"/>
            <a:ext cx="254203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틀리면 장부 신뢰가 깨짐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6C1099-79C6-A337-49C6-95A2721C5E35}"/>
              </a:ext>
            </a:extLst>
          </p:cNvPr>
          <p:cNvSpPr txBox="1"/>
          <p:nvPr/>
        </p:nvSpPr>
        <p:spPr>
          <a:xfrm>
            <a:off x="804672" y="1554480"/>
            <a:ext cx="2542032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돈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전표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마감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이월은 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use case/port/adapter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로 격리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F416D8B-0B86-2268-2B13-73104906AB36}"/>
              </a:ext>
            </a:extLst>
          </p:cNvPr>
          <p:cNvSpPr/>
          <p:nvPr/>
        </p:nvSpPr>
        <p:spPr>
          <a:xfrm>
            <a:off x="3703320" y="1207008"/>
            <a:ext cx="2834640" cy="91440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2DCC6900-6947-A365-1424-F367B96B5A9D}"/>
              </a:ext>
            </a:extLst>
          </p:cNvPr>
          <p:cNvSpPr/>
          <p:nvPr/>
        </p:nvSpPr>
        <p:spPr>
          <a:xfrm>
            <a:off x="3703320" y="1207008"/>
            <a:ext cx="64008" cy="914400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F8E24D7-C936-2728-9DBB-2F760B0DEDB4}"/>
              </a:ext>
            </a:extLst>
          </p:cNvPr>
          <p:cNvSpPr txBox="1"/>
          <p:nvPr/>
        </p:nvSpPr>
        <p:spPr>
          <a:xfrm>
            <a:off x="3867912" y="1307592"/>
            <a:ext cx="254203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틀려도 수정 영향이 작음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A091008-476E-7F37-7690-51369BFEEB7F}"/>
              </a:ext>
            </a:extLst>
          </p:cNvPr>
          <p:cNvSpPr txBox="1"/>
          <p:nvPr/>
        </p:nvSpPr>
        <p:spPr>
          <a:xfrm>
            <a:off x="3867912" y="1554480"/>
            <a:ext cx="2542032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참조 데이터와 설정성 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CRUD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는 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service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중심으로 유지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6D660138-93D8-1470-6A2A-94223D989EDF}"/>
              </a:ext>
            </a:extLst>
          </p:cNvPr>
          <p:cNvSpPr/>
          <p:nvPr/>
        </p:nvSpPr>
        <p:spPr>
          <a:xfrm>
            <a:off x="6766560" y="1207008"/>
            <a:ext cx="2834640" cy="91440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FBA6D7F0-862F-D7B0-7575-2BE3DAEFEECF}"/>
              </a:ext>
            </a:extLst>
          </p:cNvPr>
          <p:cNvSpPr/>
          <p:nvPr/>
        </p:nvSpPr>
        <p:spPr>
          <a:xfrm>
            <a:off x="6766560" y="1207008"/>
            <a:ext cx="64008" cy="914400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76AB9FD-4D99-1410-E778-83981922BFCD}"/>
              </a:ext>
            </a:extLst>
          </p:cNvPr>
          <p:cNvSpPr txBox="1"/>
          <p:nvPr/>
        </p:nvSpPr>
        <p:spPr>
          <a:xfrm>
            <a:off x="6931152" y="1307592"/>
            <a:ext cx="25420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결정을 하지 않고 읽음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E0E0100-3641-721D-61EE-093AF7333D97}"/>
              </a:ext>
            </a:extLst>
          </p:cNvPr>
          <p:cNvSpPr txBox="1"/>
          <p:nvPr/>
        </p:nvSpPr>
        <p:spPr>
          <a:xfrm>
            <a:off x="6931152" y="1554480"/>
            <a:ext cx="2542032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대시보드와 전망은 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read model/projection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으로 분리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04EDB91C-43E4-8988-47DF-30C31E98FD65}"/>
              </a:ext>
            </a:extLst>
          </p:cNvPr>
          <p:cNvSpPr/>
          <p:nvPr/>
        </p:nvSpPr>
        <p:spPr>
          <a:xfrm>
            <a:off x="640080" y="2578608"/>
            <a:ext cx="2313432" cy="91440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C212F9BE-DED1-7CE6-EBA7-071113E0BEDC}"/>
              </a:ext>
            </a:extLst>
          </p:cNvPr>
          <p:cNvSpPr/>
          <p:nvPr/>
        </p:nvSpPr>
        <p:spPr>
          <a:xfrm>
            <a:off x="640080" y="2578608"/>
            <a:ext cx="64008" cy="9144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09A5543-AD7F-5624-CD63-32A379677CA9}"/>
              </a:ext>
            </a:extLst>
          </p:cNvPr>
          <p:cNvSpPr txBox="1"/>
          <p:nvPr/>
        </p:nvSpPr>
        <p:spPr>
          <a:xfrm>
            <a:off x="804672" y="2679192"/>
            <a:ext cx="2020824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상태 전이가 깊다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D385792-8AF2-C48D-688F-C3ECF072679D}"/>
              </a:ext>
            </a:extLst>
          </p:cNvPr>
          <p:cNvSpPr txBox="1"/>
          <p:nvPr/>
        </p:nvSpPr>
        <p:spPr>
          <a:xfrm>
            <a:off x="804672" y="2926080"/>
            <a:ext cx="2020824" cy="120032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open/close/reopen, confirm/reverse/correct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는 승격 대상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C034EE2C-BF91-8DF8-1A46-46553FB74D47}"/>
              </a:ext>
            </a:extLst>
          </p:cNvPr>
          <p:cNvSpPr/>
          <p:nvPr/>
        </p:nvSpPr>
        <p:spPr>
          <a:xfrm>
            <a:off x="3410712" y="2578608"/>
            <a:ext cx="2313432" cy="91440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2FAA946A-32FB-F0F7-6C2E-BA7742B6F5AA}"/>
              </a:ext>
            </a:extLst>
          </p:cNvPr>
          <p:cNvSpPr/>
          <p:nvPr/>
        </p:nvSpPr>
        <p:spPr>
          <a:xfrm>
            <a:off x="3410712" y="2578608"/>
            <a:ext cx="64008" cy="914400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42C07F7-B34F-8BED-5C68-24263E7FA9AD}"/>
              </a:ext>
            </a:extLst>
          </p:cNvPr>
          <p:cNvSpPr txBox="1"/>
          <p:nvPr/>
        </p:nvSpPr>
        <p:spPr>
          <a:xfrm>
            <a:off x="3575304" y="2679192"/>
            <a:ext cx="2020824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증빙이 남아야 한다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84BDD5C-D733-DA7D-7003-450E3C9C605A}"/>
              </a:ext>
            </a:extLst>
          </p:cNvPr>
          <p:cNvSpPr txBox="1"/>
          <p:nvPr/>
        </p:nvSpPr>
        <p:spPr>
          <a:xfrm>
            <a:off x="3575304" y="2926080"/>
            <a:ext cx="2020824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전표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감사 이벤트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마감 스냅샷은 원본 덮어쓰기 금지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6A509112-E33F-6AB3-5A89-3B7E00AB3B1D}"/>
              </a:ext>
            </a:extLst>
          </p:cNvPr>
          <p:cNvSpPr/>
          <p:nvPr/>
        </p:nvSpPr>
        <p:spPr>
          <a:xfrm>
            <a:off x="6181344" y="2578608"/>
            <a:ext cx="2313432" cy="91440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0274E3DD-8F26-1CD4-0A74-31C2E1213B97}"/>
              </a:ext>
            </a:extLst>
          </p:cNvPr>
          <p:cNvSpPr/>
          <p:nvPr/>
        </p:nvSpPr>
        <p:spPr>
          <a:xfrm>
            <a:off x="6181344" y="2578608"/>
            <a:ext cx="64008" cy="914400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3876A4D-B3F4-47C6-D1F4-CF6FB8D8B723}"/>
              </a:ext>
            </a:extLst>
          </p:cNvPr>
          <p:cNvSpPr txBox="1"/>
          <p:nvPr/>
        </p:nvSpPr>
        <p:spPr>
          <a:xfrm>
            <a:off x="6345936" y="2679192"/>
            <a:ext cx="2020824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경합이 생긴다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DF37B87-29C0-ECA9-E974-C3A825A95EC6}"/>
              </a:ext>
            </a:extLst>
          </p:cNvPr>
          <p:cNvSpPr txBox="1"/>
          <p:nvPr/>
        </p:nvSpPr>
        <p:spPr>
          <a:xfrm>
            <a:off x="6345936" y="2926080"/>
            <a:ext cx="2020824" cy="120032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업로드 일괄 등록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전표 번호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계획 생성은 중복 방어 필요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0FC860C2-B086-A8E2-04E5-C36C6B15C0CC}"/>
              </a:ext>
            </a:extLst>
          </p:cNvPr>
          <p:cNvSpPr/>
          <p:nvPr/>
        </p:nvSpPr>
        <p:spPr>
          <a:xfrm>
            <a:off x="8951976" y="2578608"/>
            <a:ext cx="2313432" cy="91440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8FF476BB-82CE-DBA3-1F66-A1171B1EA424}"/>
              </a:ext>
            </a:extLst>
          </p:cNvPr>
          <p:cNvSpPr/>
          <p:nvPr/>
        </p:nvSpPr>
        <p:spPr>
          <a:xfrm>
            <a:off x="8951976" y="2578608"/>
            <a:ext cx="64008" cy="914400"/>
          </a:xfrm>
          <a:prstGeom prst="rect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7528CC1-5C06-ECB9-DDA5-81386E406418}"/>
              </a:ext>
            </a:extLst>
          </p:cNvPr>
          <p:cNvSpPr txBox="1"/>
          <p:nvPr/>
        </p:nvSpPr>
        <p:spPr>
          <a:xfrm>
            <a:off x="9116568" y="2679192"/>
            <a:ext cx="2020824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E11D4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외부 기술과 만난다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8BE2F39-69B6-C21E-6A8C-D697F5F1B426}"/>
              </a:ext>
            </a:extLst>
          </p:cNvPr>
          <p:cNvSpPr txBox="1"/>
          <p:nvPr/>
        </p:nvSpPr>
        <p:spPr>
          <a:xfrm>
            <a:off x="9116568" y="2926080"/>
            <a:ext cx="2020824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파일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메일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시간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DB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는 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adapter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경계로 모음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9E7E732D-FD3F-8067-039C-71C40EC2A5C0}"/>
              </a:ext>
            </a:extLst>
          </p:cNvPr>
          <p:cNvSpPr/>
          <p:nvPr/>
        </p:nvSpPr>
        <p:spPr>
          <a:xfrm>
            <a:off x="640080" y="4663440"/>
            <a:ext cx="10652760" cy="86868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A50C2629-1350-83B9-739B-3D4ECF978D4B}"/>
              </a:ext>
            </a:extLst>
          </p:cNvPr>
          <p:cNvSpPr/>
          <p:nvPr/>
        </p:nvSpPr>
        <p:spPr>
          <a:xfrm>
            <a:off x="640080" y="4663440"/>
            <a:ext cx="64008" cy="86868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BBD4FB1-3806-09C2-20C8-9F34FD38EB7B}"/>
              </a:ext>
            </a:extLst>
          </p:cNvPr>
          <p:cNvSpPr txBox="1"/>
          <p:nvPr/>
        </p:nvSpPr>
        <p:spPr>
          <a:xfrm>
            <a:off x="804672" y="4764024"/>
            <a:ext cx="1036015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읽는 법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D7902C6-ADB1-76EB-B0CC-55A73223EEC2}"/>
              </a:ext>
            </a:extLst>
          </p:cNvPr>
          <p:cNvSpPr txBox="1"/>
          <p:nvPr/>
        </p:nvSpPr>
        <p:spPr>
          <a:xfrm>
            <a:off x="804672" y="5010912"/>
            <a:ext cx="1036015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구조의 강도는 개발 취향이 아니라 “실패했을 때 무엇이 깨지는가”를 기준으로 달라집니다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2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A0A8D96-2854-D2CD-F3E5-6DE128E89E90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6375F78-C8E0-1A3D-588D-237634DAF079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14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305080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6B40ADD7-43E2-EA7B-686D-A2499813F0BC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9375E388-0010-DF2B-08B4-3FBB2FF4B801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C64864C1-9CBE-715C-FAB5-71A596A8D363}"/>
              </a:ext>
            </a:extLst>
          </p:cNvPr>
          <p:cNvSpPr/>
          <p:nvPr/>
        </p:nvSpPr>
        <p:spPr>
          <a:xfrm>
            <a:off x="548640" y="310896"/>
            <a:ext cx="1170432" cy="228600"/>
          </a:xfrm>
          <a:prstGeom prst="roundRect">
            <a:avLst/>
          </a:prstGeom>
          <a:solidFill>
            <a:srgbClr val="EAFB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89AA52-3CA2-650B-1C36-8C1457108BBE}"/>
              </a:ext>
            </a:extLst>
          </p:cNvPr>
          <p:cNvSpPr txBox="1"/>
          <p:nvPr/>
        </p:nvSpPr>
        <p:spPr>
          <a:xfrm>
            <a:off x="630936" y="338328"/>
            <a:ext cx="96012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7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CONTEXT MAP</a:t>
            </a:r>
            <a:endParaRPr lang="ko-KR" altLang="en-US" sz="7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6976E73-31DE-5309-73D4-656328537DF7}"/>
              </a:ext>
            </a:extLst>
          </p:cNvPr>
          <p:cNvSpPr txBox="1"/>
          <p:nvPr/>
        </p:nvSpPr>
        <p:spPr>
          <a:xfrm>
            <a:off x="530352" y="603504"/>
            <a:ext cx="10698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책임 경계는 사용자 흐름에서 나왔다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F96D3FF3-380B-D8DF-6B1A-EA92D607C3BE}"/>
              </a:ext>
            </a:extLst>
          </p:cNvPr>
          <p:cNvCxnSpPr/>
          <p:nvPr/>
        </p:nvCxnSpPr>
        <p:spPr>
          <a:xfrm>
            <a:off x="548640" y="1097280"/>
            <a:ext cx="11109960" cy="0"/>
          </a:xfrm>
          <a:prstGeom prst="line">
            <a:avLst/>
          </a:prstGeom>
          <a:ln w="15240">
            <a:solidFill>
              <a:srgbClr val="E8EDF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B1D5494E-0E6C-867F-F5BB-C40A6D6C9908}"/>
              </a:ext>
            </a:extLst>
          </p:cNvPr>
          <p:cNvSpPr/>
          <p:nvPr/>
        </p:nvSpPr>
        <p:spPr>
          <a:xfrm>
            <a:off x="640080" y="1225296"/>
            <a:ext cx="2313432" cy="86868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7FBE5D9C-5A81-0F9B-D3DD-4B9EC8BA3221}"/>
              </a:ext>
            </a:extLst>
          </p:cNvPr>
          <p:cNvSpPr/>
          <p:nvPr/>
        </p:nvSpPr>
        <p:spPr>
          <a:xfrm>
            <a:off x="640080" y="1225296"/>
            <a:ext cx="64008" cy="86868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7B03ED1-3BD9-9F2B-54D5-E7AC528400C0}"/>
              </a:ext>
            </a:extLst>
          </p:cNvPr>
          <p:cNvSpPr txBox="1"/>
          <p:nvPr/>
        </p:nvSpPr>
        <p:spPr>
          <a:xfrm>
            <a:off x="804672" y="1325880"/>
            <a:ext cx="2020824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누가 작업하는가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FABB889-77E5-9685-1DD2-808C875ACEFB}"/>
              </a:ext>
            </a:extLst>
          </p:cNvPr>
          <p:cNvSpPr txBox="1"/>
          <p:nvPr/>
        </p:nvSpPr>
        <p:spPr>
          <a:xfrm>
            <a:off x="804672" y="1572768"/>
            <a:ext cx="2020824" cy="120032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auth, admin, workspace
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사용자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·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사업장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·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권한 기준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A3D6575-CDE6-35A9-E08D-44A7FB6DF2D2}"/>
              </a:ext>
            </a:extLst>
          </p:cNvPr>
          <p:cNvSpPr/>
          <p:nvPr/>
        </p:nvSpPr>
        <p:spPr>
          <a:xfrm>
            <a:off x="3410712" y="1225296"/>
            <a:ext cx="2313432" cy="86868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C2057A0-BAB1-24EC-9C10-4E2166B14C9D}"/>
              </a:ext>
            </a:extLst>
          </p:cNvPr>
          <p:cNvSpPr/>
          <p:nvPr/>
        </p:nvSpPr>
        <p:spPr>
          <a:xfrm>
            <a:off x="3410712" y="1225296"/>
            <a:ext cx="64008" cy="868680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1A065C9-6086-D834-A4D5-E8B4B8E43FE6}"/>
              </a:ext>
            </a:extLst>
          </p:cNvPr>
          <p:cNvSpPr txBox="1"/>
          <p:nvPr/>
        </p:nvSpPr>
        <p:spPr>
          <a:xfrm>
            <a:off x="3575304" y="1325880"/>
            <a:ext cx="2020824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무엇을 기준으로 삼는가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5D4EF2C-21F4-C033-B528-E9BD782104C8}"/>
              </a:ext>
            </a:extLst>
          </p:cNvPr>
          <p:cNvSpPr txBox="1"/>
          <p:nvPr/>
        </p:nvSpPr>
        <p:spPr>
          <a:xfrm>
            <a:off x="3575304" y="1572768"/>
            <a:ext cx="2020824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reference data
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계좌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·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카테고리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·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계정 기준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5443D22B-952E-586E-ACE0-72CC8D0B7520}"/>
              </a:ext>
            </a:extLst>
          </p:cNvPr>
          <p:cNvSpPr/>
          <p:nvPr/>
        </p:nvSpPr>
        <p:spPr>
          <a:xfrm>
            <a:off x="6181344" y="1225296"/>
            <a:ext cx="2313432" cy="86868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E68F635D-2C3B-82EA-2F60-2425787A12BA}"/>
              </a:ext>
            </a:extLst>
          </p:cNvPr>
          <p:cNvSpPr/>
          <p:nvPr/>
        </p:nvSpPr>
        <p:spPr>
          <a:xfrm>
            <a:off x="6181344" y="1225296"/>
            <a:ext cx="64008" cy="868680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3E991EF-9B96-C6DF-1CFC-521C62702E31}"/>
              </a:ext>
            </a:extLst>
          </p:cNvPr>
          <p:cNvSpPr txBox="1"/>
          <p:nvPr/>
        </p:nvSpPr>
        <p:spPr>
          <a:xfrm>
            <a:off x="6345936" y="1325880"/>
            <a:ext cx="2020824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무엇을 입력했는가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D64E100-F8FD-C6D9-3094-938682BB7A98}"/>
              </a:ext>
            </a:extLst>
          </p:cNvPr>
          <p:cNvSpPr txBox="1"/>
          <p:nvPr/>
        </p:nvSpPr>
        <p:spPr>
          <a:xfrm>
            <a:off x="6345936" y="1572768"/>
            <a:ext cx="2020824" cy="120032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collected, imports, plans
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검토 가능한 입력 후보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BE833F17-6528-609A-E1EE-063F537663D5}"/>
              </a:ext>
            </a:extLst>
          </p:cNvPr>
          <p:cNvSpPr/>
          <p:nvPr/>
        </p:nvSpPr>
        <p:spPr>
          <a:xfrm>
            <a:off x="8951976" y="1225296"/>
            <a:ext cx="2313432" cy="86868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F14D1A5A-9264-3582-C2B3-28087A5AC31A}"/>
              </a:ext>
            </a:extLst>
          </p:cNvPr>
          <p:cNvSpPr/>
          <p:nvPr/>
        </p:nvSpPr>
        <p:spPr>
          <a:xfrm>
            <a:off x="8951976" y="1225296"/>
            <a:ext cx="64008" cy="86868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B7E1650-56DC-9760-3F1B-BDD1E1BD0E12}"/>
              </a:ext>
            </a:extLst>
          </p:cNvPr>
          <p:cNvSpPr txBox="1"/>
          <p:nvPr/>
        </p:nvSpPr>
        <p:spPr>
          <a:xfrm>
            <a:off x="9116568" y="1325880"/>
            <a:ext cx="2020824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무엇이 공식인가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D23811B-2A31-E63D-C5B5-BD99979C5452}"/>
              </a:ext>
            </a:extLst>
          </p:cNvPr>
          <p:cNvSpPr txBox="1"/>
          <p:nvPr/>
        </p:nvSpPr>
        <p:spPr>
          <a:xfrm>
            <a:off x="9116568" y="1572768"/>
            <a:ext cx="2020824" cy="120032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journal, periods, statements
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전표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·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마감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·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보고 기준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D509A20F-8FA7-E6E6-0268-21C410FD5B63}"/>
              </a:ext>
            </a:extLst>
          </p:cNvPr>
          <p:cNvSpPr/>
          <p:nvPr/>
        </p:nvSpPr>
        <p:spPr>
          <a:xfrm>
            <a:off x="640080" y="2578608"/>
            <a:ext cx="2313432" cy="86868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E8459E59-B7D4-3AB2-81BD-38FDC76425E5}"/>
              </a:ext>
            </a:extLst>
          </p:cNvPr>
          <p:cNvSpPr/>
          <p:nvPr/>
        </p:nvSpPr>
        <p:spPr>
          <a:xfrm>
            <a:off x="640080" y="2578608"/>
            <a:ext cx="64008" cy="868680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62F997B-CE09-BBFA-8651-6BD0420F5C34}"/>
              </a:ext>
            </a:extLst>
          </p:cNvPr>
          <p:cNvSpPr txBox="1"/>
          <p:nvPr/>
        </p:nvSpPr>
        <p:spPr>
          <a:xfrm>
            <a:off x="804672" y="2679192"/>
            <a:ext cx="2020824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다음 달로 무엇을 넘기는가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D4CD779-49A1-E21F-A3B5-5BECB3384FB1}"/>
              </a:ext>
            </a:extLst>
          </p:cNvPr>
          <p:cNvSpPr txBox="1"/>
          <p:nvPr/>
        </p:nvSpPr>
        <p:spPr>
          <a:xfrm>
            <a:off x="804672" y="2926080"/>
            <a:ext cx="2020824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carry-forwards, forecast
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마감 결과와 전망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A2728E3C-3C6E-7802-3E51-7F59086BDA08}"/>
              </a:ext>
            </a:extLst>
          </p:cNvPr>
          <p:cNvSpPr/>
          <p:nvPr/>
        </p:nvSpPr>
        <p:spPr>
          <a:xfrm>
            <a:off x="3410712" y="2578608"/>
            <a:ext cx="2313432" cy="86868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FA54617B-C70A-FB3C-18B6-16C15F514BCD}"/>
              </a:ext>
            </a:extLst>
          </p:cNvPr>
          <p:cNvSpPr/>
          <p:nvPr/>
        </p:nvSpPr>
        <p:spPr>
          <a:xfrm>
            <a:off x="3410712" y="2578608"/>
            <a:ext cx="64008" cy="86868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3291C3F-C148-0542-B394-BDB68200CAC6}"/>
              </a:ext>
            </a:extLst>
          </p:cNvPr>
          <p:cNvSpPr txBox="1"/>
          <p:nvPr/>
        </p:nvSpPr>
        <p:spPr>
          <a:xfrm>
            <a:off x="3575304" y="2679192"/>
            <a:ext cx="2020824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운영자는 무엇을 봐야 하나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1680287-24ED-9B4E-A7E1-829FCF8D3069}"/>
              </a:ext>
            </a:extLst>
          </p:cNvPr>
          <p:cNvSpPr txBox="1"/>
          <p:nvPr/>
        </p:nvSpPr>
        <p:spPr>
          <a:xfrm>
            <a:off x="3575304" y="2926080"/>
            <a:ext cx="2020824" cy="120032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operations, dashboard
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예외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·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우선 작업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·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요약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CE89F50B-400A-6A25-9140-4298A9F9AE86}"/>
              </a:ext>
            </a:extLst>
          </p:cNvPr>
          <p:cNvSpPr/>
          <p:nvPr/>
        </p:nvSpPr>
        <p:spPr>
          <a:xfrm>
            <a:off x="6181344" y="2578608"/>
            <a:ext cx="2313432" cy="86868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B56293FB-2AF0-D60A-6876-3D45B192FFC7}"/>
              </a:ext>
            </a:extLst>
          </p:cNvPr>
          <p:cNvSpPr/>
          <p:nvPr/>
        </p:nvSpPr>
        <p:spPr>
          <a:xfrm>
            <a:off x="6181344" y="2578608"/>
            <a:ext cx="64008" cy="868680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F411FA3-D348-EC63-B2EB-9C2300C9B3C9}"/>
              </a:ext>
            </a:extLst>
          </p:cNvPr>
          <p:cNvSpPr txBox="1"/>
          <p:nvPr/>
        </p:nvSpPr>
        <p:spPr>
          <a:xfrm>
            <a:off x="6345936" y="2679192"/>
            <a:ext cx="2020824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어떤 입력원이 붙는가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1B03AAC-1C32-A5B6-5695-797145437C5D}"/>
              </a:ext>
            </a:extLst>
          </p:cNvPr>
          <p:cNvSpPr txBox="1"/>
          <p:nvPr/>
        </p:nvSpPr>
        <p:spPr>
          <a:xfrm>
            <a:off x="6345936" y="2926080"/>
            <a:ext cx="2020824" cy="147732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vehicles, insurances, liabilities
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운영 자산 비용 연결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BEFB3CF1-1BEF-9B83-0411-46F702711C56}"/>
              </a:ext>
            </a:extLst>
          </p:cNvPr>
          <p:cNvSpPr/>
          <p:nvPr/>
        </p:nvSpPr>
        <p:spPr>
          <a:xfrm>
            <a:off x="8951976" y="2578608"/>
            <a:ext cx="2313432" cy="86868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C5D78A7B-5951-CC17-C580-636152B5647E}"/>
              </a:ext>
            </a:extLst>
          </p:cNvPr>
          <p:cNvSpPr/>
          <p:nvPr/>
        </p:nvSpPr>
        <p:spPr>
          <a:xfrm>
            <a:off x="8951976" y="2578608"/>
            <a:ext cx="64008" cy="868680"/>
          </a:xfrm>
          <a:prstGeom prst="rect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5F50CFB-EDFE-5829-A281-97A617382B9B}"/>
              </a:ext>
            </a:extLst>
          </p:cNvPr>
          <p:cNvSpPr txBox="1"/>
          <p:nvPr/>
        </p:nvSpPr>
        <p:spPr>
          <a:xfrm>
            <a:off x="9116568" y="2679192"/>
            <a:ext cx="2020824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E11D4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무엇을 공통으로 고정하나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4759F33-6EB5-3E9D-73D9-83B475C9FB19}"/>
              </a:ext>
            </a:extLst>
          </p:cNvPr>
          <p:cNvSpPr txBox="1"/>
          <p:nvPr/>
        </p:nvSpPr>
        <p:spPr>
          <a:xfrm>
            <a:off x="9116568" y="2926080"/>
            <a:ext cx="2020824" cy="120032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contracts, money, env
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계약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·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금액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·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런타임 기준</a:t>
            </a: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FDFB7618-C6A2-066A-E99D-A55B33C6A50B}"/>
              </a:ext>
            </a:extLst>
          </p:cNvPr>
          <p:cNvSpPr/>
          <p:nvPr/>
        </p:nvSpPr>
        <p:spPr>
          <a:xfrm>
            <a:off x="640080" y="4663440"/>
            <a:ext cx="10652760" cy="896112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D48E0147-BF10-37E4-B5E4-679790BC4D8B}"/>
              </a:ext>
            </a:extLst>
          </p:cNvPr>
          <p:cNvSpPr/>
          <p:nvPr/>
        </p:nvSpPr>
        <p:spPr>
          <a:xfrm>
            <a:off x="640080" y="4663440"/>
            <a:ext cx="64008" cy="896112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A56031B-AA2E-7236-9F50-201CE9F0A850}"/>
              </a:ext>
            </a:extLst>
          </p:cNvPr>
          <p:cNvSpPr txBox="1"/>
          <p:nvPr/>
        </p:nvSpPr>
        <p:spPr>
          <a:xfrm>
            <a:off x="804672" y="4764024"/>
            <a:ext cx="1036015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읽는 법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1B7CEB0-E523-AAEC-8E0F-6A0E3A405825}"/>
              </a:ext>
            </a:extLst>
          </p:cNvPr>
          <p:cNvSpPr txBox="1"/>
          <p:nvPr/>
        </p:nvSpPr>
        <p:spPr>
          <a:xfrm>
            <a:off x="804672" y="5010912"/>
            <a:ext cx="1036015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모듈 경계는 폴더를 보기 좋게 나눈 결과가 아니라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월 운영 중 사용자가 던지는 질문을 따라 생긴 책임 경계입니다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2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88EEB97-6960-CB78-5BA9-B755D23F655B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5322DA5-00B3-46DB-659C-5EFEDAAC551B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15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801495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63A6E2C2-A0A3-AA2C-7E81-903A2144C1C8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C3E46BB8-D3AC-68D6-4EE4-E42E8DC63B3D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2A82BE96-ACB2-EBE5-3F4D-6E72DEF75092}"/>
              </a:ext>
            </a:extLst>
          </p:cNvPr>
          <p:cNvSpPr/>
          <p:nvPr/>
        </p:nvSpPr>
        <p:spPr>
          <a:xfrm>
            <a:off x="548640" y="310896"/>
            <a:ext cx="1170432" cy="228600"/>
          </a:xfrm>
          <a:prstGeom prst="roundRect">
            <a:avLst/>
          </a:prstGeom>
          <a:solidFill>
            <a:srgbClr val="EAFB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89B857-8854-1BAE-4445-37C6B28E0BCE}"/>
              </a:ext>
            </a:extLst>
          </p:cNvPr>
          <p:cNvSpPr txBox="1"/>
          <p:nvPr/>
        </p:nvSpPr>
        <p:spPr>
          <a:xfrm>
            <a:off x="630936" y="338328"/>
            <a:ext cx="96012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7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MODULE MAP</a:t>
            </a:r>
            <a:endParaRPr lang="ko-KR" altLang="en-US" sz="7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43A7DB-9264-F85D-2725-8ABDAA948030}"/>
              </a:ext>
            </a:extLst>
          </p:cNvPr>
          <p:cNvSpPr txBox="1"/>
          <p:nvPr/>
        </p:nvSpPr>
        <p:spPr>
          <a:xfrm>
            <a:off x="530352" y="603504"/>
            <a:ext cx="10698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강한 경계의 근거</a:t>
            </a:r>
            <a:r>
              <a:rPr lang="en-US" altLang="ko-KR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: </a:t>
            </a:r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어떤 실패를 막는가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E6D93B84-BB5A-D55E-D192-CB85C23E3E33}"/>
              </a:ext>
            </a:extLst>
          </p:cNvPr>
          <p:cNvCxnSpPr/>
          <p:nvPr/>
        </p:nvCxnSpPr>
        <p:spPr>
          <a:xfrm>
            <a:off x="548640" y="1097280"/>
            <a:ext cx="11109960" cy="0"/>
          </a:xfrm>
          <a:prstGeom prst="line">
            <a:avLst/>
          </a:prstGeom>
          <a:ln w="15240">
            <a:solidFill>
              <a:srgbClr val="E8EDF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AB4735F7-EBDF-79FD-5CAB-B2CDAEFC9163}"/>
              </a:ext>
            </a:extLst>
          </p:cNvPr>
          <p:cNvSpPr/>
          <p:nvPr/>
        </p:nvSpPr>
        <p:spPr>
          <a:xfrm>
            <a:off x="640080" y="1170432"/>
            <a:ext cx="2313432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95D4DD4-3851-3EE9-5582-686EA44BC311}"/>
              </a:ext>
            </a:extLst>
          </p:cNvPr>
          <p:cNvSpPr/>
          <p:nvPr/>
        </p:nvSpPr>
        <p:spPr>
          <a:xfrm>
            <a:off x="640080" y="1170432"/>
            <a:ext cx="64008" cy="82296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F5677BB-CBC6-0D54-5D29-1AE1DDA0A289}"/>
              </a:ext>
            </a:extLst>
          </p:cNvPr>
          <p:cNvSpPr txBox="1"/>
          <p:nvPr/>
        </p:nvSpPr>
        <p:spPr>
          <a:xfrm>
            <a:off x="804672" y="1261872"/>
            <a:ext cx="2020824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05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collected</a:t>
            </a:r>
            <a:endParaRPr lang="ko-KR" altLang="en-US" sz="1050" b="1">
              <a:solidFill>
                <a:srgbClr val="2454D9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A0A50EE-2F1E-1371-BF95-8D0D5A8D610F}"/>
              </a:ext>
            </a:extLst>
          </p:cNvPr>
          <p:cNvSpPr txBox="1"/>
          <p:nvPr/>
        </p:nvSpPr>
        <p:spPr>
          <a:xfrm>
            <a:off x="804672" y="1499616"/>
            <a:ext cx="2020824" cy="120032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잘못된 참조나 중복 확정이 전표로 승격되는 것을 막습니다</a:t>
            </a:r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98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11EB732-410A-E95E-684D-857689DF3A9D}"/>
              </a:ext>
            </a:extLst>
          </p:cNvPr>
          <p:cNvSpPr/>
          <p:nvPr/>
        </p:nvSpPr>
        <p:spPr>
          <a:xfrm>
            <a:off x="3410712" y="1170432"/>
            <a:ext cx="2313432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7A3904B-9B64-1A49-BD55-D57974C0112F}"/>
              </a:ext>
            </a:extLst>
          </p:cNvPr>
          <p:cNvSpPr/>
          <p:nvPr/>
        </p:nvSpPr>
        <p:spPr>
          <a:xfrm>
            <a:off x="3410712" y="1170432"/>
            <a:ext cx="64008" cy="822960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9701743-4E33-5FE5-05F6-2DA36071A53E}"/>
              </a:ext>
            </a:extLst>
          </p:cNvPr>
          <p:cNvSpPr txBox="1"/>
          <p:nvPr/>
        </p:nvSpPr>
        <p:spPr>
          <a:xfrm>
            <a:off x="3575304" y="1261872"/>
            <a:ext cx="2020824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0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periods</a:t>
            </a:r>
            <a:endParaRPr lang="ko-KR" altLang="en-US" sz="10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D790727-37A2-CEEA-1C2E-F184604FEA39}"/>
              </a:ext>
            </a:extLst>
          </p:cNvPr>
          <p:cNvSpPr txBox="1"/>
          <p:nvPr/>
        </p:nvSpPr>
        <p:spPr>
          <a:xfrm>
            <a:off x="3575304" y="1499616"/>
            <a:ext cx="2020824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닫힌 월에 쓰거나 전표번호가 겹치는 상황을 막습니다</a:t>
            </a:r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98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3509068A-6006-10E3-A7BE-F074B8862C68}"/>
              </a:ext>
            </a:extLst>
          </p:cNvPr>
          <p:cNvSpPr/>
          <p:nvPr/>
        </p:nvSpPr>
        <p:spPr>
          <a:xfrm>
            <a:off x="6181344" y="1170432"/>
            <a:ext cx="2313432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0216C0D1-D743-AC52-BB73-ED3835CC788E}"/>
              </a:ext>
            </a:extLst>
          </p:cNvPr>
          <p:cNvSpPr/>
          <p:nvPr/>
        </p:nvSpPr>
        <p:spPr>
          <a:xfrm>
            <a:off x="6181344" y="1170432"/>
            <a:ext cx="64008" cy="822960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EFDD69D-164B-9C50-7329-B2D2BA24D82D}"/>
              </a:ext>
            </a:extLst>
          </p:cNvPr>
          <p:cNvSpPr txBox="1"/>
          <p:nvPr/>
        </p:nvSpPr>
        <p:spPr>
          <a:xfrm>
            <a:off x="6345936" y="1261872"/>
            <a:ext cx="2020824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05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imports</a:t>
            </a:r>
            <a:endParaRPr lang="ko-KR" altLang="en-US" sz="1050" b="1">
              <a:solidFill>
                <a:srgbClr val="D97706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26D7DC5-7082-6BB8-B758-511A0E1143AD}"/>
              </a:ext>
            </a:extLst>
          </p:cNvPr>
          <p:cNvSpPr txBox="1"/>
          <p:nvPr/>
        </p:nvSpPr>
        <p:spPr>
          <a:xfrm>
            <a:off x="6345936" y="1499616"/>
            <a:ext cx="2020824" cy="120032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원본 행 유실</a:t>
            </a:r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중복 수집</a:t>
            </a:r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동시 일괄 등록 충돌을 막습니다</a:t>
            </a:r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98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67514B2C-A8F0-CB67-A150-0EC525E9C973}"/>
              </a:ext>
            </a:extLst>
          </p:cNvPr>
          <p:cNvSpPr/>
          <p:nvPr/>
        </p:nvSpPr>
        <p:spPr>
          <a:xfrm>
            <a:off x="8951976" y="1170432"/>
            <a:ext cx="2313432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A78CDA92-6D5B-3578-A44D-80415553D34B}"/>
              </a:ext>
            </a:extLst>
          </p:cNvPr>
          <p:cNvSpPr/>
          <p:nvPr/>
        </p:nvSpPr>
        <p:spPr>
          <a:xfrm>
            <a:off x="8951976" y="1170432"/>
            <a:ext cx="64008" cy="822960"/>
          </a:xfrm>
          <a:prstGeom prst="rect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561F5B8-2146-FD95-53F4-3C1B076D883A}"/>
              </a:ext>
            </a:extLst>
          </p:cNvPr>
          <p:cNvSpPr txBox="1"/>
          <p:nvPr/>
        </p:nvSpPr>
        <p:spPr>
          <a:xfrm>
            <a:off x="9116568" y="1261872"/>
            <a:ext cx="2020824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050" b="1">
                <a:solidFill>
                  <a:srgbClr val="E11D4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journal</a:t>
            </a:r>
            <a:endParaRPr lang="ko-KR" altLang="en-US" sz="1050" b="1">
              <a:solidFill>
                <a:srgbClr val="E11D48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3966C73-76C7-3602-30E6-C0FB28CA0808}"/>
              </a:ext>
            </a:extLst>
          </p:cNvPr>
          <p:cNvSpPr txBox="1"/>
          <p:nvPr/>
        </p:nvSpPr>
        <p:spPr>
          <a:xfrm>
            <a:off x="9116568" y="1499616"/>
            <a:ext cx="2020824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공식 기록을 덮어쓰지 않고 반전</a:t>
            </a:r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정정으로 추적합니다</a:t>
            </a:r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98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1BD93346-16C6-0894-CE5F-06790EEC2C99}"/>
              </a:ext>
            </a:extLst>
          </p:cNvPr>
          <p:cNvSpPr/>
          <p:nvPr/>
        </p:nvSpPr>
        <p:spPr>
          <a:xfrm>
            <a:off x="640080" y="2331720"/>
            <a:ext cx="2313432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BBCBEB78-31DE-5979-DCEE-29888FA3F2DE}"/>
              </a:ext>
            </a:extLst>
          </p:cNvPr>
          <p:cNvSpPr/>
          <p:nvPr/>
        </p:nvSpPr>
        <p:spPr>
          <a:xfrm>
            <a:off x="640080" y="2331720"/>
            <a:ext cx="64008" cy="82296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F3BBF97-0F3F-44D6-B4F3-2ACF7A81C6E5}"/>
              </a:ext>
            </a:extLst>
          </p:cNvPr>
          <p:cNvSpPr txBox="1"/>
          <p:nvPr/>
        </p:nvSpPr>
        <p:spPr>
          <a:xfrm>
            <a:off x="804672" y="2423160"/>
            <a:ext cx="2020824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05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auth</a:t>
            </a:r>
            <a:endParaRPr lang="ko-KR" altLang="en-US" sz="1050" b="1">
              <a:solidFill>
                <a:srgbClr val="2454D9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100BCDF-0B4B-8BB3-87C8-415B8C8E8467}"/>
              </a:ext>
            </a:extLst>
          </p:cNvPr>
          <p:cNvSpPr txBox="1"/>
          <p:nvPr/>
        </p:nvSpPr>
        <p:spPr>
          <a:xfrm>
            <a:off x="804672" y="2660904"/>
            <a:ext cx="2020824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세션</a:t>
            </a:r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토큰</a:t>
            </a:r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인증 전 접근 같은 보안 경계를 분리합니다</a:t>
            </a:r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98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44688CAF-0E2C-E813-6B0A-2EE9E303C2A5}"/>
              </a:ext>
            </a:extLst>
          </p:cNvPr>
          <p:cNvSpPr/>
          <p:nvPr/>
        </p:nvSpPr>
        <p:spPr>
          <a:xfrm>
            <a:off x="3410712" y="2331720"/>
            <a:ext cx="2313432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53B9B64C-584D-6EA3-9CB3-6B2B68133B9F}"/>
              </a:ext>
            </a:extLst>
          </p:cNvPr>
          <p:cNvSpPr/>
          <p:nvPr/>
        </p:nvSpPr>
        <p:spPr>
          <a:xfrm>
            <a:off x="3410712" y="2331720"/>
            <a:ext cx="64008" cy="822960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C7F18F4-92F0-EE2B-0A45-84C4EF0AB7B6}"/>
              </a:ext>
            </a:extLst>
          </p:cNvPr>
          <p:cNvSpPr txBox="1"/>
          <p:nvPr/>
        </p:nvSpPr>
        <p:spPr>
          <a:xfrm>
            <a:off x="3575304" y="2423160"/>
            <a:ext cx="2020824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0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admin</a:t>
            </a:r>
            <a:endParaRPr lang="ko-KR" altLang="en-US" sz="10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4B56489-8F6C-3892-4FD3-6880FFEF760D}"/>
              </a:ext>
            </a:extLst>
          </p:cNvPr>
          <p:cNvSpPr txBox="1"/>
          <p:nvPr/>
        </p:nvSpPr>
        <p:spPr>
          <a:xfrm>
            <a:off x="3575304" y="2660904"/>
            <a:ext cx="2020824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Owner </a:t>
            </a:r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보호</a:t>
            </a:r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초대</a:t>
            </a:r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역할 변경의 운영 리스크를 줄입니다</a:t>
            </a:r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98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D78E29EF-F325-AB9E-AC3E-97303EF9F5F3}"/>
              </a:ext>
            </a:extLst>
          </p:cNvPr>
          <p:cNvSpPr/>
          <p:nvPr/>
        </p:nvSpPr>
        <p:spPr>
          <a:xfrm>
            <a:off x="6181344" y="2331720"/>
            <a:ext cx="2313432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FA829A10-10B9-EA1C-7550-C419B8AC388C}"/>
              </a:ext>
            </a:extLst>
          </p:cNvPr>
          <p:cNvSpPr/>
          <p:nvPr/>
        </p:nvSpPr>
        <p:spPr>
          <a:xfrm>
            <a:off x="6181344" y="2331720"/>
            <a:ext cx="64008" cy="822960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D254848-6755-D2D6-5338-FB3521CE8CD9}"/>
              </a:ext>
            </a:extLst>
          </p:cNvPr>
          <p:cNvSpPr txBox="1"/>
          <p:nvPr/>
        </p:nvSpPr>
        <p:spPr>
          <a:xfrm>
            <a:off x="6345936" y="2423160"/>
            <a:ext cx="2020824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05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plan/statement</a:t>
            </a:r>
            <a:endParaRPr lang="ko-KR" altLang="en-US" sz="1050" b="1">
              <a:solidFill>
                <a:srgbClr val="D97706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7F3556E-C53B-8E58-338E-78BD0DD99458}"/>
              </a:ext>
            </a:extLst>
          </p:cNvPr>
          <p:cNvSpPr txBox="1"/>
          <p:nvPr/>
        </p:nvSpPr>
        <p:spPr>
          <a:xfrm>
            <a:off x="6345936" y="2660904"/>
            <a:ext cx="2020824" cy="120032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계획 중복과 보고 숫자 흔들림을 스냅샷 기준으로 막습니다</a:t>
            </a:r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98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9E451590-36A6-B0CC-1310-6DCE81E9E165}"/>
              </a:ext>
            </a:extLst>
          </p:cNvPr>
          <p:cNvSpPr/>
          <p:nvPr/>
        </p:nvSpPr>
        <p:spPr>
          <a:xfrm>
            <a:off x="8951976" y="2331720"/>
            <a:ext cx="2313432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260B8961-A966-15A4-090B-9CA5975DC735}"/>
              </a:ext>
            </a:extLst>
          </p:cNvPr>
          <p:cNvSpPr/>
          <p:nvPr/>
        </p:nvSpPr>
        <p:spPr>
          <a:xfrm>
            <a:off x="8951976" y="2331720"/>
            <a:ext cx="64008" cy="822960"/>
          </a:xfrm>
          <a:prstGeom prst="rect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CFB18AE-9419-8F6B-8136-AFF6447FE25C}"/>
              </a:ext>
            </a:extLst>
          </p:cNvPr>
          <p:cNvSpPr txBox="1"/>
          <p:nvPr/>
        </p:nvSpPr>
        <p:spPr>
          <a:xfrm>
            <a:off x="9116568" y="2423160"/>
            <a:ext cx="2020824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050" b="1">
                <a:solidFill>
                  <a:srgbClr val="E11D4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carry-forward</a:t>
            </a:r>
            <a:endParaRPr lang="ko-KR" altLang="en-US" sz="1050" b="1">
              <a:solidFill>
                <a:srgbClr val="E11D48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1543B3F-5214-EE50-DC38-093FFFC035E3}"/>
              </a:ext>
            </a:extLst>
          </p:cNvPr>
          <p:cNvSpPr txBox="1"/>
          <p:nvPr/>
        </p:nvSpPr>
        <p:spPr>
          <a:xfrm>
            <a:off x="9116568" y="2660904"/>
            <a:ext cx="2020824" cy="120032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이월 생성 후 원천 월 재오픈으로 기준이 깨지는 것을 막습니다</a:t>
            </a:r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98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5282A227-838A-2EFA-3121-C7D78DBB7FE5}"/>
              </a:ext>
            </a:extLst>
          </p:cNvPr>
          <p:cNvSpPr/>
          <p:nvPr/>
        </p:nvSpPr>
        <p:spPr>
          <a:xfrm>
            <a:off x="640080" y="4663440"/>
            <a:ext cx="1065276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3095CDDF-7F49-8B40-F496-83EC3E3E5BF8}"/>
              </a:ext>
            </a:extLst>
          </p:cNvPr>
          <p:cNvSpPr/>
          <p:nvPr/>
        </p:nvSpPr>
        <p:spPr>
          <a:xfrm>
            <a:off x="640080" y="4663440"/>
            <a:ext cx="64008" cy="96012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AD21D6F-370A-E34B-9D5F-9F20B1F5347B}"/>
              </a:ext>
            </a:extLst>
          </p:cNvPr>
          <p:cNvSpPr txBox="1"/>
          <p:nvPr/>
        </p:nvSpPr>
        <p:spPr>
          <a:xfrm>
            <a:off x="804672" y="4764024"/>
            <a:ext cx="1036015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구조로 이어진 결과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E9CEA2D-9459-7073-1205-B0CC21A33B15}"/>
              </a:ext>
            </a:extLst>
          </p:cNvPr>
          <p:cNvSpPr txBox="1"/>
          <p:nvPr/>
        </p:nvSpPr>
        <p:spPr>
          <a:xfrm>
            <a:off x="804672" y="5010912"/>
            <a:ext cx="1036015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 모듈들은 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controller -&gt; use case -&gt; port -&gt; adapter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흐름을 사용해 업무 결정과 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Prisma/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파일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메일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시간 같은 기술 결합을 분리했습니다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2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6AD32F2-876C-7674-EAEF-0BAE25223FAC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4C2DF39-B3B4-4FAC-4D73-E1135485196B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16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494333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D42393FF-9525-EE73-8F2A-F69DB84FBED2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839FCDEC-E8CF-CDB3-70E5-26025E55CEE3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DB853CDC-C525-7B48-6ECB-1246145D54B3}"/>
              </a:ext>
            </a:extLst>
          </p:cNvPr>
          <p:cNvSpPr/>
          <p:nvPr/>
        </p:nvSpPr>
        <p:spPr>
          <a:xfrm>
            <a:off x="548640" y="310896"/>
            <a:ext cx="1170432" cy="228600"/>
          </a:xfrm>
          <a:prstGeom prst="roundRect">
            <a:avLst/>
          </a:prstGeom>
          <a:solidFill>
            <a:srgbClr val="EAFB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56B222-487B-8B92-F946-235C820C7019}"/>
              </a:ext>
            </a:extLst>
          </p:cNvPr>
          <p:cNvSpPr txBox="1"/>
          <p:nvPr/>
        </p:nvSpPr>
        <p:spPr>
          <a:xfrm>
            <a:off x="630936" y="338328"/>
            <a:ext cx="96012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7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MODULE MAP</a:t>
            </a:r>
            <a:endParaRPr lang="ko-KR" altLang="en-US" sz="7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7B48D67-31B1-A5A6-E43F-DC2496DB7CE7}"/>
              </a:ext>
            </a:extLst>
          </p:cNvPr>
          <p:cNvSpPr txBox="1"/>
          <p:nvPr/>
        </p:nvSpPr>
        <p:spPr>
          <a:xfrm>
            <a:off x="530352" y="603504"/>
            <a:ext cx="10698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덜 나눈 곳도 이유가 있다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39C7735A-5E3C-6F2C-A88E-6D5ABC93F2A9}"/>
              </a:ext>
            </a:extLst>
          </p:cNvPr>
          <p:cNvCxnSpPr/>
          <p:nvPr/>
        </p:nvCxnSpPr>
        <p:spPr>
          <a:xfrm>
            <a:off x="548640" y="1097280"/>
            <a:ext cx="11109960" cy="0"/>
          </a:xfrm>
          <a:prstGeom prst="line">
            <a:avLst/>
          </a:prstGeom>
          <a:ln w="15240">
            <a:solidFill>
              <a:srgbClr val="E8EDF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7ECB7316-C036-AD31-4773-53341C8CA05E}"/>
              </a:ext>
            </a:extLst>
          </p:cNvPr>
          <p:cNvSpPr/>
          <p:nvPr/>
        </p:nvSpPr>
        <p:spPr>
          <a:xfrm>
            <a:off x="640080" y="1234440"/>
            <a:ext cx="3246120" cy="111556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FC5D7F8B-2EA5-91C1-9026-CF73E0AE1CF7}"/>
              </a:ext>
            </a:extLst>
          </p:cNvPr>
          <p:cNvSpPr/>
          <p:nvPr/>
        </p:nvSpPr>
        <p:spPr>
          <a:xfrm>
            <a:off x="640080" y="1234440"/>
            <a:ext cx="64008" cy="1115568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E1B9C04-ED8B-47F7-E064-4E0EE2785B81}"/>
              </a:ext>
            </a:extLst>
          </p:cNvPr>
          <p:cNvSpPr txBox="1"/>
          <p:nvPr/>
        </p:nvSpPr>
        <p:spPr>
          <a:xfrm>
            <a:off x="804672" y="1344168"/>
            <a:ext cx="29535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10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Standard </a:t>
            </a:r>
            <a:r>
              <a:rPr lang="ko-KR" altLang="en-US" sz="110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유지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BFE4D31-D0B1-E19F-8B49-EDA2356A87CE}"/>
              </a:ext>
            </a:extLst>
          </p:cNvPr>
          <p:cNvSpPr txBox="1"/>
          <p:nvPr/>
        </p:nvSpPr>
        <p:spPr>
          <a:xfrm>
            <a:off x="804672" y="1600200"/>
            <a:ext cx="2953512" cy="1754326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funding-accounts, categories, vehicles, workspace-settings
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규칙보다 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CRUD·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설정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·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참조 성격이 커서 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service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중심이 더 선명합니다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6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1C6BEB3-577F-F57A-02C9-02107F609F6F}"/>
              </a:ext>
            </a:extLst>
          </p:cNvPr>
          <p:cNvSpPr/>
          <p:nvPr/>
        </p:nvSpPr>
        <p:spPr>
          <a:xfrm>
            <a:off x="4343400" y="1234440"/>
            <a:ext cx="3246120" cy="111556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C0A3340B-B535-290D-41A4-04E884B6A6F6}"/>
              </a:ext>
            </a:extLst>
          </p:cNvPr>
          <p:cNvSpPr/>
          <p:nvPr/>
        </p:nvSpPr>
        <p:spPr>
          <a:xfrm>
            <a:off x="4343400" y="1234440"/>
            <a:ext cx="64008" cy="1115568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2475342-F016-2ACD-B893-6D095A5D22A4}"/>
              </a:ext>
            </a:extLst>
          </p:cNvPr>
          <p:cNvSpPr txBox="1"/>
          <p:nvPr/>
        </p:nvSpPr>
        <p:spPr>
          <a:xfrm>
            <a:off x="4507992" y="1344168"/>
            <a:ext cx="29535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10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Read Model</a:t>
            </a:r>
            <a:endParaRPr lang="ko-KR" altLang="en-US" sz="110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6A7F963-C37B-ED5D-D96E-E98F6078A509}"/>
              </a:ext>
            </a:extLst>
          </p:cNvPr>
          <p:cNvSpPr txBox="1"/>
          <p:nvPr/>
        </p:nvSpPr>
        <p:spPr>
          <a:xfrm>
            <a:off x="4507992" y="1600200"/>
            <a:ext cx="2953512" cy="147732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dashboard, funding-account-status, forecast, operations-console
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쓰기 결정을 하지 않고 여러 근거를 조합해 보여줍니다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6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831BD9FF-3C0C-7FE7-2A77-2A7F8DB541E3}"/>
              </a:ext>
            </a:extLst>
          </p:cNvPr>
          <p:cNvSpPr/>
          <p:nvPr/>
        </p:nvSpPr>
        <p:spPr>
          <a:xfrm>
            <a:off x="8046720" y="1234440"/>
            <a:ext cx="3246119" cy="111556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4C8D3A0E-3B1B-ACB4-C282-7D3AE579802F}"/>
              </a:ext>
            </a:extLst>
          </p:cNvPr>
          <p:cNvSpPr/>
          <p:nvPr/>
        </p:nvSpPr>
        <p:spPr>
          <a:xfrm>
            <a:off x="8046720" y="1234440"/>
            <a:ext cx="64007" cy="1115568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F90D15A-3A9E-E839-658A-E66C7E5B1B57}"/>
              </a:ext>
            </a:extLst>
          </p:cNvPr>
          <p:cNvSpPr txBox="1"/>
          <p:nvPr/>
        </p:nvSpPr>
        <p:spPr>
          <a:xfrm>
            <a:off x="8211312" y="1344168"/>
            <a:ext cx="29535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10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Shared Platform</a:t>
            </a:r>
            <a:endParaRPr lang="ko-KR" altLang="en-US" sz="1100" b="1">
              <a:solidFill>
                <a:srgbClr val="D97706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8E0952B-E4AB-6E14-D3AC-A11386E5B29C}"/>
              </a:ext>
            </a:extLst>
          </p:cNvPr>
          <p:cNvSpPr txBox="1"/>
          <p:nvPr/>
        </p:nvSpPr>
        <p:spPr>
          <a:xfrm>
            <a:off x="8211312" y="1600200"/>
            <a:ext cx="2953512" cy="147732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contracts, money, env, Prisma, health
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공통 기준을 제공하지만 도메인 규칙은 소유하지 않습니다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6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177B29CE-7AB2-20DB-F922-FC8EA500A69C}"/>
              </a:ext>
            </a:extLst>
          </p:cNvPr>
          <p:cNvSpPr/>
          <p:nvPr/>
        </p:nvSpPr>
        <p:spPr>
          <a:xfrm>
            <a:off x="640080" y="2971800"/>
            <a:ext cx="32461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120480BB-AE21-5EBB-00B4-2B078A415307}"/>
              </a:ext>
            </a:extLst>
          </p:cNvPr>
          <p:cNvSpPr/>
          <p:nvPr/>
        </p:nvSpPr>
        <p:spPr>
          <a:xfrm>
            <a:off x="640080" y="2971800"/>
            <a:ext cx="64008" cy="96012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9E2CFF7-B294-61A3-471E-196480F863AE}"/>
              </a:ext>
            </a:extLst>
          </p:cNvPr>
          <p:cNvSpPr txBox="1"/>
          <p:nvPr/>
        </p:nvSpPr>
        <p:spPr>
          <a:xfrm>
            <a:off x="804672" y="3072384"/>
            <a:ext cx="29535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Frontend</a:t>
            </a:r>
            <a:endParaRPr lang="ko-KR" altLang="en-US" sz="1080" b="1">
              <a:solidFill>
                <a:srgbClr val="2454D9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B0D655E-5168-16EB-5801-9432C72391DC}"/>
              </a:ext>
            </a:extLst>
          </p:cNvPr>
          <p:cNvSpPr txBox="1"/>
          <p:nvPr/>
        </p:nvSpPr>
        <p:spPr>
          <a:xfrm>
            <a:off x="804672" y="3319272"/>
            <a:ext cx="2953512" cy="120032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반복 화면이 많아 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app/features/shared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로 화면 응집도와 재사용성을 우선했습니다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2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41A20012-DAFC-4130-C0FD-A5C4CD8B40E7}"/>
              </a:ext>
            </a:extLst>
          </p:cNvPr>
          <p:cNvSpPr/>
          <p:nvPr/>
        </p:nvSpPr>
        <p:spPr>
          <a:xfrm>
            <a:off x="4343400" y="2971800"/>
            <a:ext cx="32461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DD3FCE05-333E-8CE2-26E7-8DF397542500}"/>
              </a:ext>
            </a:extLst>
          </p:cNvPr>
          <p:cNvSpPr/>
          <p:nvPr/>
        </p:nvSpPr>
        <p:spPr>
          <a:xfrm>
            <a:off x="4343400" y="2971800"/>
            <a:ext cx="64008" cy="960120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7039175-16A2-19A3-91ED-3A76709C960D}"/>
              </a:ext>
            </a:extLst>
          </p:cNvPr>
          <p:cNvSpPr txBox="1"/>
          <p:nvPr/>
        </p:nvSpPr>
        <p:spPr>
          <a:xfrm>
            <a:off x="4507992" y="3072384"/>
            <a:ext cx="29535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08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Backend</a:t>
            </a:r>
            <a:endParaRPr lang="ko-KR" altLang="en-US" sz="108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F547F09-BC01-2927-F988-62A144319408}"/>
              </a:ext>
            </a:extLst>
          </p:cNvPr>
          <p:cNvSpPr txBox="1"/>
          <p:nvPr/>
        </p:nvSpPr>
        <p:spPr>
          <a:xfrm>
            <a:off x="4507992" y="3319272"/>
            <a:ext cx="2953512" cy="120032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비승격 모듈은 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controller -&gt; service -&gt; repository -&gt; mapper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가 더 빨리 읽힙니다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2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C5924BF0-25D2-B03D-DAB0-F06990FE3D07}"/>
              </a:ext>
            </a:extLst>
          </p:cNvPr>
          <p:cNvSpPr/>
          <p:nvPr/>
        </p:nvSpPr>
        <p:spPr>
          <a:xfrm>
            <a:off x="8046720" y="2971800"/>
            <a:ext cx="3246119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5E107737-49AA-1AFB-7C94-198BD163F8F5}"/>
              </a:ext>
            </a:extLst>
          </p:cNvPr>
          <p:cNvSpPr/>
          <p:nvPr/>
        </p:nvSpPr>
        <p:spPr>
          <a:xfrm>
            <a:off x="8046720" y="2971800"/>
            <a:ext cx="64007" cy="960120"/>
          </a:xfrm>
          <a:prstGeom prst="rect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0261229-83E4-9A5C-680C-406CF35235DE}"/>
              </a:ext>
            </a:extLst>
          </p:cNvPr>
          <p:cNvSpPr txBox="1"/>
          <p:nvPr/>
        </p:nvSpPr>
        <p:spPr>
          <a:xfrm>
            <a:off x="8211312" y="3072384"/>
            <a:ext cx="29535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080" b="1">
                <a:solidFill>
                  <a:srgbClr val="E11D4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Public boundary</a:t>
            </a:r>
            <a:endParaRPr lang="ko-KR" altLang="en-US" sz="1080" b="1">
              <a:solidFill>
                <a:srgbClr val="E11D48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B718DA2-F532-2148-8C60-35EF57ADC882}"/>
              </a:ext>
            </a:extLst>
          </p:cNvPr>
          <p:cNvSpPr txBox="1"/>
          <p:nvPr/>
        </p:nvSpPr>
        <p:spPr>
          <a:xfrm>
            <a:off x="8211312" y="3319272"/>
            <a:ext cx="2953512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필요한 모듈만 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public.ts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를 두어 내부 구현 직접 참조를 줄입니다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2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BDD76D6A-C203-6954-8B59-20DB23971964}"/>
              </a:ext>
            </a:extLst>
          </p:cNvPr>
          <p:cNvSpPr/>
          <p:nvPr/>
        </p:nvSpPr>
        <p:spPr>
          <a:xfrm>
            <a:off x="640080" y="4663440"/>
            <a:ext cx="10652760" cy="777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B80D7DF0-007A-3A27-18BF-A56857F8B0B4}"/>
              </a:ext>
            </a:extLst>
          </p:cNvPr>
          <p:cNvSpPr/>
          <p:nvPr/>
        </p:nvSpPr>
        <p:spPr>
          <a:xfrm>
            <a:off x="640080" y="4663440"/>
            <a:ext cx="64008" cy="77724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F9EFA0A-906D-A166-0561-EF3C4FFE4974}"/>
              </a:ext>
            </a:extLst>
          </p:cNvPr>
          <p:cNvSpPr txBox="1"/>
          <p:nvPr/>
        </p:nvSpPr>
        <p:spPr>
          <a:xfrm>
            <a:off x="804672" y="4754880"/>
            <a:ext cx="1036015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5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면접 포인트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99DBE79-8212-BB36-61EB-2FB3E0ABE6AB}"/>
              </a:ext>
            </a:extLst>
          </p:cNvPr>
          <p:cNvSpPr txBox="1"/>
          <p:nvPr/>
        </p:nvSpPr>
        <p:spPr>
          <a:xfrm>
            <a:off x="804672" y="4992624"/>
            <a:ext cx="1036015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덜 나눈 곳은 미완성이 아니라</a:t>
            </a:r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실패 비용과 변경 위험이 낮아 단순함을 선택한 영역입니다</a:t>
            </a:r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98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89F13F0-B4C6-A1A4-FDB0-D416FFDD8082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3210DC8-B2FE-6D04-CEBD-A6FF53DF03C9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17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319550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D26BACCE-9620-6934-2EB6-410997534D39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C2E6C19B-4FF4-1D06-0C59-2BEC7CF41A8C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80E45056-D096-A18E-4121-00FA4208DFDE}"/>
              </a:ext>
            </a:extLst>
          </p:cNvPr>
          <p:cNvSpPr/>
          <p:nvPr/>
        </p:nvSpPr>
        <p:spPr>
          <a:xfrm>
            <a:off x="548640" y="310896"/>
            <a:ext cx="1170432" cy="228600"/>
          </a:xfrm>
          <a:prstGeom prst="roundRect">
            <a:avLst/>
          </a:prstGeom>
          <a:solidFill>
            <a:srgbClr val="EAFB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1A2EF1-E90B-693D-23E5-BD9E90BDC234}"/>
              </a:ext>
            </a:extLst>
          </p:cNvPr>
          <p:cNvSpPr txBox="1"/>
          <p:nvPr/>
        </p:nvSpPr>
        <p:spPr>
          <a:xfrm>
            <a:off x="630936" y="338328"/>
            <a:ext cx="96012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7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TRADE-OFF</a:t>
            </a:r>
            <a:endParaRPr lang="ko-KR" altLang="en-US" sz="7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E7353C-6E56-F365-58F3-7EFC25B6F4B0}"/>
              </a:ext>
            </a:extLst>
          </p:cNvPr>
          <p:cNvSpPr txBox="1"/>
          <p:nvPr/>
        </p:nvSpPr>
        <p:spPr>
          <a:xfrm>
            <a:off x="530352" y="603504"/>
            <a:ext cx="10698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의도적으로 하지 않은 것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3EEC9E40-C1D2-7D02-8CF5-B47B8D62CD4F}"/>
              </a:ext>
            </a:extLst>
          </p:cNvPr>
          <p:cNvCxnSpPr/>
          <p:nvPr/>
        </p:nvCxnSpPr>
        <p:spPr>
          <a:xfrm>
            <a:off x="548640" y="1097280"/>
            <a:ext cx="11109960" cy="0"/>
          </a:xfrm>
          <a:prstGeom prst="line">
            <a:avLst/>
          </a:prstGeom>
          <a:ln w="15240">
            <a:solidFill>
              <a:srgbClr val="E8EDF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B1B43FAA-6B74-F666-07E8-142BE51C069A}"/>
              </a:ext>
            </a:extLst>
          </p:cNvPr>
          <p:cNvSpPr/>
          <p:nvPr/>
        </p:nvSpPr>
        <p:spPr>
          <a:xfrm>
            <a:off x="640080" y="1234440"/>
            <a:ext cx="3246120" cy="1078992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C0080CE-1041-BCFB-3D26-6DFFEA6BD267}"/>
              </a:ext>
            </a:extLst>
          </p:cNvPr>
          <p:cNvSpPr/>
          <p:nvPr/>
        </p:nvSpPr>
        <p:spPr>
          <a:xfrm>
            <a:off x="640080" y="1234440"/>
            <a:ext cx="64008" cy="1078992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A203DB-7059-DE2D-6BBA-66342F4148D9}"/>
              </a:ext>
            </a:extLst>
          </p:cNvPr>
          <p:cNvSpPr txBox="1"/>
          <p:nvPr/>
        </p:nvSpPr>
        <p:spPr>
          <a:xfrm>
            <a:off x="804672" y="1344168"/>
            <a:ext cx="29535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10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전면 </a:t>
            </a:r>
            <a:r>
              <a:rPr lang="en-US" altLang="ko-KR" sz="110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Microservice</a:t>
            </a:r>
            <a:endParaRPr lang="ko-KR" altLang="en-US" sz="1100" b="1">
              <a:solidFill>
                <a:srgbClr val="D97706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24C0B85-CD57-611F-DA3D-E585CBAD32AB}"/>
              </a:ext>
            </a:extLst>
          </p:cNvPr>
          <p:cNvSpPr txBox="1"/>
          <p:nvPr/>
        </p:nvSpPr>
        <p:spPr>
          <a:xfrm>
            <a:off x="804672" y="1600200"/>
            <a:ext cx="2953512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service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별 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DB, broker, gateway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는 현재 제품 범위보다 운영 비용이 큽니다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6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B9E7258-CD79-4773-D490-2BEF1B293B3E}"/>
              </a:ext>
            </a:extLst>
          </p:cNvPr>
          <p:cNvSpPr/>
          <p:nvPr/>
        </p:nvSpPr>
        <p:spPr>
          <a:xfrm>
            <a:off x="4343400" y="1234440"/>
            <a:ext cx="3246120" cy="1078992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09426903-579B-D22B-83AD-8DA7EE596FD7}"/>
              </a:ext>
            </a:extLst>
          </p:cNvPr>
          <p:cNvSpPr/>
          <p:nvPr/>
        </p:nvSpPr>
        <p:spPr>
          <a:xfrm>
            <a:off x="4343400" y="1234440"/>
            <a:ext cx="64008" cy="1078992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51B3E06-7738-AC51-B480-3D2C5BF6B031}"/>
              </a:ext>
            </a:extLst>
          </p:cNvPr>
          <p:cNvSpPr txBox="1"/>
          <p:nvPr/>
        </p:nvSpPr>
        <p:spPr>
          <a:xfrm>
            <a:off x="4507992" y="1344168"/>
            <a:ext cx="29535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10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이벤트 버스</a:t>
            </a:r>
            <a:r>
              <a:rPr lang="en-US" altLang="ko-KR" sz="110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/Outbox</a:t>
            </a:r>
            <a:endParaRPr lang="ko-KR" altLang="en-US" sz="1100" b="1">
              <a:solidFill>
                <a:srgbClr val="D97706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2E46C94-6F68-A9AE-6A40-AF56831D8434}"/>
              </a:ext>
            </a:extLst>
          </p:cNvPr>
          <p:cNvSpPr txBox="1"/>
          <p:nvPr/>
        </p:nvSpPr>
        <p:spPr>
          <a:xfrm>
            <a:off x="4507992" y="1600200"/>
            <a:ext cx="2953512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장기 확장 후보지만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지금은 트랜잭션과 공개 경계가 더 직접적인 가치입니다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6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59AEBC8F-0FF2-B5DA-9129-FA13DB11B88B}"/>
              </a:ext>
            </a:extLst>
          </p:cNvPr>
          <p:cNvSpPr/>
          <p:nvPr/>
        </p:nvSpPr>
        <p:spPr>
          <a:xfrm>
            <a:off x="8046720" y="1234440"/>
            <a:ext cx="3246119" cy="1078992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7342655C-3FC9-FBE1-2153-FFEF0CE6BDD7}"/>
              </a:ext>
            </a:extLst>
          </p:cNvPr>
          <p:cNvSpPr/>
          <p:nvPr/>
        </p:nvSpPr>
        <p:spPr>
          <a:xfrm>
            <a:off x="8046720" y="1234440"/>
            <a:ext cx="64007" cy="1078992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9100F56-3D92-CABA-5AD7-6C85E4283C64}"/>
              </a:ext>
            </a:extLst>
          </p:cNvPr>
          <p:cNvSpPr txBox="1"/>
          <p:nvPr/>
        </p:nvSpPr>
        <p:spPr>
          <a:xfrm>
            <a:off x="8211312" y="1344168"/>
            <a:ext cx="29535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10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모든 </a:t>
            </a:r>
            <a:r>
              <a:rPr lang="en-US" altLang="ko-KR" sz="110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Service Interface</a:t>
            </a:r>
            <a:r>
              <a:rPr lang="ko-KR" altLang="en-US" sz="110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화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B88C735-60D1-7647-EE8C-663F2C6D10E4}"/>
              </a:ext>
            </a:extLst>
          </p:cNvPr>
          <p:cNvSpPr txBox="1"/>
          <p:nvPr/>
        </p:nvSpPr>
        <p:spPr>
          <a:xfrm>
            <a:off x="8211312" y="1600200"/>
            <a:ext cx="2953512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외부 기술 경계가 아닌 내부 호출까지 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port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로 만들면 읽기 비용이 커집니다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6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9FBC46A4-612E-D19C-C125-03F1F3808ACB}"/>
              </a:ext>
            </a:extLst>
          </p:cNvPr>
          <p:cNvSpPr/>
          <p:nvPr/>
        </p:nvSpPr>
        <p:spPr>
          <a:xfrm>
            <a:off x="640080" y="2852928"/>
            <a:ext cx="3246120" cy="1078992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6A22A765-0CF7-CFE9-4F63-DDD492A7D15A}"/>
              </a:ext>
            </a:extLst>
          </p:cNvPr>
          <p:cNvSpPr/>
          <p:nvPr/>
        </p:nvSpPr>
        <p:spPr>
          <a:xfrm>
            <a:off x="640080" y="2852928"/>
            <a:ext cx="64008" cy="1078992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D8AF384-D343-EEB3-20AD-2B213FA66926}"/>
              </a:ext>
            </a:extLst>
          </p:cNvPr>
          <p:cNvSpPr txBox="1"/>
          <p:nvPr/>
        </p:nvSpPr>
        <p:spPr>
          <a:xfrm>
            <a:off x="804672" y="2962656"/>
            <a:ext cx="29535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10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프런트 헥사고날화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6773C32-7599-F4C0-BD57-1D79EFB79304}"/>
              </a:ext>
            </a:extLst>
          </p:cNvPr>
          <p:cNvSpPr txBox="1"/>
          <p:nvPr/>
        </p:nvSpPr>
        <p:spPr>
          <a:xfrm>
            <a:off x="804672" y="3218688"/>
            <a:ext cx="2953512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화면은 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feature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응집도와 공통 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UI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재사용이 더 중요한 문제였습니다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6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01BE60C7-9F68-D81A-44D0-6A61D017F7F5}"/>
              </a:ext>
            </a:extLst>
          </p:cNvPr>
          <p:cNvSpPr/>
          <p:nvPr/>
        </p:nvSpPr>
        <p:spPr>
          <a:xfrm>
            <a:off x="4343400" y="2852928"/>
            <a:ext cx="3246120" cy="1078992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2BB39AB3-13C1-416C-8B91-F9C5E5D43416}"/>
              </a:ext>
            </a:extLst>
          </p:cNvPr>
          <p:cNvSpPr/>
          <p:nvPr/>
        </p:nvSpPr>
        <p:spPr>
          <a:xfrm>
            <a:off x="4343400" y="2852928"/>
            <a:ext cx="64008" cy="1078992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6DA018A-1BC3-14F1-7CDE-60D95EDEA78E}"/>
              </a:ext>
            </a:extLst>
          </p:cNvPr>
          <p:cNvSpPr txBox="1"/>
          <p:nvPr/>
        </p:nvSpPr>
        <p:spPr>
          <a:xfrm>
            <a:off x="4507992" y="2962656"/>
            <a:ext cx="29535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10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공통 비즈니스 폴더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9EB3AD7-8CE2-FC73-005E-979D261CBEA3}"/>
              </a:ext>
            </a:extLst>
          </p:cNvPr>
          <p:cNvSpPr txBox="1"/>
          <p:nvPr/>
        </p:nvSpPr>
        <p:spPr>
          <a:xfrm>
            <a:off x="4507992" y="3218688"/>
            <a:ext cx="2953512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서로 다른 도메인 규칙을 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shared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로 섞는 대신 각 모듈이 책임을 소유합니다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6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730E3837-D6B5-6EE4-9492-DA9D1A55AB88}"/>
              </a:ext>
            </a:extLst>
          </p:cNvPr>
          <p:cNvSpPr/>
          <p:nvPr/>
        </p:nvSpPr>
        <p:spPr>
          <a:xfrm>
            <a:off x="8046720" y="2852928"/>
            <a:ext cx="3246119" cy="1078992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8E2C6690-38A8-D243-DFC6-8ECF4273B9E1}"/>
              </a:ext>
            </a:extLst>
          </p:cNvPr>
          <p:cNvSpPr/>
          <p:nvPr/>
        </p:nvSpPr>
        <p:spPr>
          <a:xfrm>
            <a:off x="8046720" y="2852928"/>
            <a:ext cx="64007" cy="1078992"/>
          </a:xfrm>
          <a:prstGeom prst="rect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29B0AAD-B29B-F4FE-D704-9B5CE1DA1E53}"/>
              </a:ext>
            </a:extLst>
          </p:cNvPr>
          <p:cNvSpPr txBox="1"/>
          <p:nvPr/>
        </p:nvSpPr>
        <p:spPr>
          <a:xfrm>
            <a:off x="8211312" y="2962656"/>
            <a:ext cx="29535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100" b="1">
                <a:solidFill>
                  <a:srgbClr val="E11D4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장기 운영 자동화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2E7DF0E-4F7E-B60D-8E3D-064C60FB7711}"/>
              </a:ext>
            </a:extLst>
          </p:cNvPr>
          <p:cNvSpPr txBox="1"/>
          <p:nvPr/>
        </p:nvSpPr>
        <p:spPr>
          <a:xfrm>
            <a:off x="8211312" y="3218688"/>
            <a:ext cx="2953512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백업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모니터링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장애 복구는 공개 데모 이후 후속 운영 과제로 분리했습니다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6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2F884BE2-A8F8-05BE-94D5-1338F8297ED3}"/>
              </a:ext>
            </a:extLst>
          </p:cNvPr>
          <p:cNvSpPr/>
          <p:nvPr/>
        </p:nvSpPr>
        <p:spPr>
          <a:xfrm>
            <a:off x="640080" y="4663440"/>
            <a:ext cx="106527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A44EFE53-EC1E-F6EC-106B-69D774021FF2}"/>
              </a:ext>
            </a:extLst>
          </p:cNvPr>
          <p:cNvSpPr/>
          <p:nvPr/>
        </p:nvSpPr>
        <p:spPr>
          <a:xfrm>
            <a:off x="640080" y="4663440"/>
            <a:ext cx="64008" cy="82296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1E055E2-5BA7-FEEE-4400-CDE3214F1E95}"/>
              </a:ext>
            </a:extLst>
          </p:cNvPr>
          <p:cNvSpPr txBox="1"/>
          <p:nvPr/>
        </p:nvSpPr>
        <p:spPr>
          <a:xfrm>
            <a:off x="804672" y="4754880"/>
            <a:ext cx="1036015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5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포트폴리오 메시지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1791C61-43B3-7D34-1A48-C2732E437739}"/>
              </a:ext>
            </a:extLst>
          </p:cNvPr>
          <p:cNvSpPr txBox="1"/>
          <p:nvPr/>
        </p:nvSpPr>
        <p:spPr>
          <a:xfrm>
            <a:off x="804672" y="4992624"/>
            <a:ext cx="1036015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구조를 더 많이 나누는 것이 아니라</a:t>
            </a:r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제품 흐름을 설명하고 유지할 수 있을 만큼만 나눴습니다</a:t>
            </a:r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 </a:t>
            </a:r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이제 그 판단이 실제 화면에서 어떻게 드러나는지 봅니다</a:t>
            </a:r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98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88B0E2B-0E45-5D99-4653-C7D7D3E58070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D5C3DEC-A2E8-A5EA-EBF1-28ABB2387635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18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55812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6D20699F-9BC2-DA64-A31C-6BD990ED889C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EC759124-A419-3891-7E8D-C3135DA9F695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F197E5D0-3476-CCA5-8C92-2E76023D1FC1}"/>
              </a:ext>
            </a:extLst>
          </p:cNvPr>
          <p:cNvSpPr/>
          <p:nvPr/>
        </p:nvSpPr>
        <p:spPr>
          <a:xfrm>
            <a:off x="548640" y="310896"/>
            <a:ext cx="1170432" cy="228600"/>
          </a:xfrm>
          <a:prstGeom prst="roundRect">
            <a:avLst/>
          </a:prstGeom>
          <a:solidFill>
            <a:srgbClr val="EAFB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F4DB85-58B5-6928-360E-F4BDA165B5F3}"/>
              </a:ext>
            </a:extLst>
          </p:cNvPr>
          <p:cNvSpPr txBox="1"/>
          <p:nvPr/>
        </p:nvSpPr>
        <p:spPr>
          <a:xfrm>
            <a:off x="630936" y="338328"/>
            <a:ext cx="960120" cy="120032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7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PRODUCT SURFACE</a:t>
            </a:r>
            <a:endParaRPr lang="ko-KR" altLang="en-US" sz="7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3547CBC-B2A8-5A33-95FF-E38FF0132AE5}"/>
              </a:ext>
            </a:extLst>
          </p:cNvPr>
          <p:cNvSpPr txBox="1"/>
          <p:nvPr/>
        </p:nvSpPr>
        <p:spPr>
          <a:xfrm>
            <a:off x="530352" y="603504"/>
            <a:ext cx="10698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제품 표면 지도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FF563BE4-1F3E-7A76-62E8-2332A2444099}"/>
              </a:ext>
            </a:extLst>
          </p:cNvPr>
          <p:cNvCxnSpPr/>
          <p:nvPr/>
        </p:nvCxnSpPr>
        <p:spPr>
          <a:xfrm>
            <a:off x="548640" y="1097280"/>
            <a:ext cx="11109960" cy="0"/>
          </a:xfrm>
          <a:prstGeom prst="line">
            <a:avLst/>
          </a:prstGeom>
          <a:ln w="15240">
            <a:solidFill>
              <a:srgbClr val="E8EDF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EDBB777F-1E45-A7D0-4E37-3669B517D0F7}"/>
              </a:ext>
            </a:extLst>
          </p:cNvPr>
          <p:cNvSpPr/>
          <p:nvPr/>
        </p:nvSpPr>
        <p:spPr>
          <a:xfrm>
            <a:off x="694944" y="1353312"/>
            <a:ext cx="3063240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79C88AC4-5549-0121-E239-95032EDB54A8}"/>
              </a:ext>
            </a:extLst>
          </p:cNvPr>
          <p:cNvSpPr/>
          <p:nvPr/>
        </p:nvSpPr>
        <p:spPr>
          <a:xfrm>
            <a:off x="694944" y="1353312"/>
            <a:ext cx="64008" cy="932688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53424AD-8883-B088-29C8-F62E36BFDF6B}"/>
              </a:ext>
            </a:extLst>
          </p:cNvPr>
          <p:cNvSpPr txBox="1"/>
          <p:nvPr/>
        </p:nvSpPr>
        <p:spPr>
          <a:xfrm>
            <a:off x="859536" y="1453896"/>
            <a:ext cx="27706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인증</a:t>
            </a:r>
            <a:r>
              <a:rPr lang="en-US" altLang="ko-KR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r>
              <a:rPr lang="ko-KR" altLang="en-US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설정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01F96F7-FC7E-1C6A-5A08-69A7BF11DA0C}"/>
              </a:ext>
            </a:extLst>
          </p:cNvPr>
          <p:cNvSpPr txBox="1"/>
          <p:nvPr/>
        </p:nvSpPr>
        <p:spPr>
          <a:xfrm>
            <a:off x="859536" y="1700784"/>
            <a:ext cx="277063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공개 홈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회원가입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로그인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계정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워크스페이스 설정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EE89715-DCD7-4615-39CE-CB0A8362B556}"/>
              </a:ext>
            </a:extLst>
          </p:cNvPr>
          <p:cNvSpPr/>
          <p:nvPr/>
        </p:nvSpPr>
        <p:spPr>
          <a:xfrm>
            <a:off x="4315968" y="1353312"/>
            <a:ext cx="3063240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6F9AE16E-84FA-EF06-6C9C-DA6B4A3FF21A}"/>
              </a:ext>
            </a:extLst>
          </p:cNvPr>
          <p:cNvSpPr/>
          <p:nvPr/>
        </p:nvSpPr>
        <p:spPr>
          <a:xfrm>
            <a:off x="4315968" y="1353312"/>
            <a:ext cx="64008" cy="932688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38B0BA2-03DD-1031-B4CF-68176A884A3C}"/>
              </a:ext>
            </a:extLst>
          </p:cNvPr>
          <p:cNvSpPr txBox="1"/>
          <p:nvPr/>
        </p:nvSpPr>
        <p:spPr>
          <a:xfrm>
            <a:off x="4480560" y="1453896"/>
            <a:ext cx="27706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운영 지원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3F94C1A-F22B-16A1-3454-653D39909D6F}"/>
              </a:ext>
            </a:extLst>
          </p:cNvPr>
          <p:cNvSpPr txBox="1"/>
          <p:nvPr/>
        </p:nvSpPr>
        <p:spPr>
          <a:xfrm>
            <a:off x="4480560" y="1700784"/>
            <a:ext cx="2770632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운영 허브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체크리스트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예외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업로드 상태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반출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메모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777EA418-B514-0A6A-F6A0-59D50796E2E5}"/>
              </a:ext>
            </a:extLst>
          </p:cNvPr>
          <p:cNvSpPr/>
          <p:nvPr/>
        </p:nvSpPr>
        <p:spPr>
          <a:xfrm>
            <a:off x="7936992" y="1353312"/>
            <a:ext cx="3063240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BB18C7DC-68C6-428C-8279-432CA794C991}"/>
              </a:ext>
            </a:extLst>
          </p:cNvPr>
          <p:cNvSpPr/>
          <p:nvPr/>
        </p:nvSpPr>
        <p:spPr>
          <a:xfrm>
            <a:off x="7936992" y="1353312"/>
            <a:ext cx="64008" cy="932688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E477CC6-5E5A-5F5F-E315-0A43324567DB}"/>
              </a:ext>
            </a:extLst>
          </p:cNvPr>
          <p:cNvSpPr txBox="1"/>
          <p:nvPr/>
        </p:nvSpPr>
        <p:spPr>
          <a:xfrm>
            <a:off x="8101584" y="1453896"/>
            <a:ext cx="27706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기준</a:t>
            </a:r>
            <a:r>
              <a:rPr lang="en-US" altLang="ko-KR" sz="108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r>
              <a:rPr lang="ko-KR" altLang="en-US" sz="108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자산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8C3DA1C-56AE-1A63-8A9B-AB3D9E73EC1D}"/>
              </a:ext>
            </a:extLst>
          </p:cNvPr>
          <p:cNvSpPr txBox="1"/>
          <p:nvPr/>
        </p:nvSpPr>
        <p:spPr>
          <a:xfrm>
            <a:off x="8101584" y="1700784"/>
            <a:ext cx="277063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자금수단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카테고리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보험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부채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차량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6752A060-FEEC-128C-01AD-6CE009946EF4}"/>
              </a:ext>
            </a:extLst>
          </p:cNvPr>
          <p:cNvSpPr/>
          <p:nvPr/>
        </p:nvSpPr>
        <p:spPr>
          <a:xfrm>
            <a:off x="694944" y="2743200"/>
            <a:ext cx="3063240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20534E73-17D3-108D-335F-4112D97D55AF}"/>
              </a:ext>
            </a:extLst>
          </p:cNvPr>
          <p:cNvSpPr/>
          <p:nvPr/>
        </p:nvSpPr>
        <p:spPr>
          <a:xfrm>
            <a:off x="694944" y="2743200"/>
            <a:ext cx="64008" cy="932688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0807B4A-0104-7D6D-BE15-7D70A8B8CBE6}"/>
              </a:ext>
            </a:extLst>
          </p:cNvPr>
          <p:cNvSpPr txBox="1"/>
          <p:nvPr/>
        </p:nvSpPr>
        <p:spPr>
          <a:xfrm>
            <a:off x="859536" y="2843784"/>
            <a:ext cx="27706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월 실행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1C0583E-E4D0-3AE4-CA42-E53B66243182}"/>
              </a:ext>
            </a:extLst>
          </p:cNvPr>
          <p:cNvSpPr txBox="1"/>
          <p:nvPr/>
        </p:nvSpPr>
        <p:spPr>
          <a:xfrm>
            <a:off x="859536" y="3090672"/>
            <a:ext cx="277063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기간 열기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계획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수집 거래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업로드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전표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D384E851-9D57-EE8D-DB2F-B5785E970536}"/>
              </a:ext>
            </a:extLst>
          </p:cNvPr>
          <p:cNvSpPr/>
          <p:nvPr/>
        </p:nvSpPr>
        <p:spPr>
          <a:xfrm>
            <a:off x="4315968" y="2743200"/>
            <a:ext cx="3063240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D086B9E2-59DD-A4EE-4CD9-99161D558E30}"/>
              </a:ext>
            </a:extLst>
          </p:cNvPr>
          <p:cNvSpPr/>
          <p:nvPr/>
        </p:nvSpPr>
        <p:spPr>
          <a:xfrm>
            <a:off x="4315968" y="2743200"/>
            <a:ext cx="64008" cy="932688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EE82076-710D-B588-7778-C84846C8EFA0}"/>
              </a:ext>
            </a:extLst>
          </p:cNvPr>
          <p:cNvSpPr txBox="1"/>
          <p:nvPr/>
        </p:nvSpPr>
        <p:spPr>
          <a:xfrm>
            <a:off x="4480560" y="2843784"/>
            <a:ext cx="27706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보고</a:t>
            </a:r>
            <a:r>
              <a:rPr lang="en-US" altLang="ko-KR" sz="108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r>
              <a:rPr lang="ko-KR" altLang="en-US" sz="108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판단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C73DDD4-E381-4096-9EA1-D4EB464C2BB9}"/>
              </a:ext>
            </a:extLst>
          </p:cNvPr>
          <p:cNvSpPr txBox="1"/>
          <p:nvPr/>
        </p:nvSpPr>
        <p:spPr>
          <a:xfrm>
            <a:off x="4480560" y="3090672"/>
            <a:ext cx="277063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대시보드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재무제표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자금수단 현황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이월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전망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61E8B02C-2BA2-F30B-2D06-25F9FEA6B570}"/>
              </a:ext>
            </a:extLst>
          </p:cNvPr>
          <p:cNvSpPr/>
          <p:nvPr/>
        </p:nvSpPr>
        <p:spPr>
          <a:xfrm>
            <a:off x="7936992" y="2743200"/>
            <a:ext cx="3063240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48B23F69-00D1-8B52-D622-6148E16D81BD}"/>
              </a:ext>
            </a:extLst>
          </p:cNvPr>
          <p:cNvSpPr/>
          <p:nvPr/>
        </p:nvSpPr>
        <p:spPr>
          <a:xfrm>
            <a:off x="7936992" y="2743200"/>
            <a:ext cx="64008" cy="932688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537BA14-0962-32A5-26CA-AF120BE016C0}"/>
              </a:ext>
            </a:extLst>
          </p:cNvPr>
          <p:cNvSpPr txBox="1"/>
          <p:nvPr/>
        </p:nvSpPr>
        <p:spPr>
          <a:xfrm>
            <a:off x="8101584" y="2843784"/>
            <a:ext cx="27706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관리자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55F45E4-8B3D-C09C-F3D0-2E83CFA5DD58}"/>
              </a:ext>
            </a:extLst>
          </p:cNvPr>
          <p:cNvSpPr txBox="1"/>
          <p:nvPr/>
        </p:nvSpPr>
        <p:spPr>
          <a:xfrm>
            <a:off x="8101584" y="3090672"/>
            <a:ext cx="277063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멤버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권한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메뉴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감사 로그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보안 위협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9E08DAF0-77DB-58B1-4A05-8F67CB55BD4A}"/>
              </a:ext>
            </a:extLst>
          </p:cNvPr>
          <p:cNvSpPr/>
          <p:nvPr/>
        </p:nvSpPr>
        <p:spPr>
          <a:xfrm>
            <a:off x="960120" y="4709160"/>
            <a:ext cx="10195560" cy="786384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03623D95-A40B-7391-FCF5-70F900478A8D}"/>
              </a:ext>
            </a:extLst>
          </p:cNvPr>
          <p:cNvSpPr/>
          <p:nvPr/>
        </p:nvSpPr>
        <p:spPr>
          <a:xfrm>
            <a:off x="960120" y="4709160"/>
            <a:ext cx="64008" cy="786384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6C38FBA-9B4E-C012-FD1A-5CFA8AA513FF}"/>
              </a:ext>
            </a:extLst>
          </p:cNvPr>
          <p:cNvSpPr txBox="1"/>
          <p:nvPr/>
        </p:nvSpPr>
        <p:spPr>
          <a:xfrm>
            <a:off x="1124712" y="4800600"/>
            <a:ext cx="990295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5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읽는 법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B549095-CEA6-5DBE-EA74-E33E6A146A7A}"/>
              </a:ext>
            </a:extLst>
          </p:cNvPr>
          <p:cNvSpPr txBox="1"/>
          <p:nvPr/>
        </p:nvSpPr>
        <p:spPr>
          <a:xfrm>
            <a:off x="1124712" y="5038344"/>
            <a:ext cx="990295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화면이 많다는 인상보다</a:t>
            </a:r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각 화면이 월 운영 사이클에서 맡는 역할을 보여주는 지도입니다</a:t>
            </a:r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98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247DCED-0D0F-3DD8-16B0-944BC8C8C353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0B6BF7B-DD4C-0E6F-D660-28A7D279D2D8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19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19610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0A5E789-580C-8DA4-5B51-4915081E9A0A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30E0E4C1-6BE2-F3DC-27BF-23E99E11BB23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63B50AA0-D2E8-560F-A7BD-B9E2B871AFF7}"/>
              </a:ext>
            </a:extLst>
          </p:cNvPr>
          <p:cNvSpPr/>
          <p:nvPr/>
        </p:nvSpPr>
        <p:spPr>
          <a:xfrm>
            <a:off x="548640" y="310896"/>
            <a:ext cx="1170432" cy="228600"/>
          </a:xfrm>
          <a:prstGeom prst="roundRect">
            <a:avLst/>
          </a:prstGeom>
          <a:solidFill>
            <a:srgbClr val="EAFB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9D172E-185A-EACF-61E5-EF7569F2572D}"/>
              </a:ext>
            </a:extLst>
          </p:cNvPr>
          <p:cNvSpPr txBox="1"/>
          <p:nvPr/>
        </p:nvSpPr>
        <p:spPr>
          <a:xfrm>
            <a:off x="630936" y="338328"/>
            <a:ext cx="9601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7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SCREEN</a:t>
            </a:r>
            <a:endParaRPr lang="ko-KR" altLang="en-US" sz="7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149601E-6C5A-B54F-F933-93231E30B8BF}"/>
              </a:ext>
            </a:extLst>
          </p:cNvPr>
          <p:cNvSpPr txBox="1"/>
          <p:nvPr/>
        </p:nvSpPr>
        <p:spPr>
          <a:xfrm>
            <a:off x="530352" y="603504"/>
            <a:ext cx="10698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공개 홈과 데모 진입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06009AF3-E98E-4F82-85A4-C8B7CE923CC0}"/>
              </a:ext>
            </a:extLst>
          </p:cNvPr>
          <p:cNvCxnSpPr/>
          <p:nvPr/>
        </p:nvCxnSpPr>
        <p:spPr>
          <a:xfrm>
            <a:off x="548640" y="1097280"/>
            <a:ext cx="11109960" cy="0"/>
          </a:xfrm>
          <a:prstGeom prst="line">
            <a:avLst/>
          </a:prstGeom>
          <a:ln w="15240">
            <a:solidFill>
              <a:srgbClr val="E8EDF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A73C065A-773F-D6FA-772F-DB060476272E}"/>
              </a:ext>
            </a:extLst>
          </p:cNvPr>
          <p:cNvSpPr/>
          <p:nvPr/>
        </p:nvSpPr>
        <p:spPr>
          <a:xfrm>
            <a:off x="548640" y="1353312"/>
            <a:ext cx="6876288" cy="4599432"/>
          </a:xfrm>
          <a:prstGeom prst="rect">
            <a:avLst/>
          </a:prstGeom>
          <a:solidFill>
            <a:srgbClr val="FFFFFF"/>
          </a:solidFill>
          <a:ln w="10160">
            <a:solidFill>
              <a:srgbClr val="94A3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F7E62995-33DF-E317-206B-EEE1ED651413}"/>
              </a:ext>
            </a:extLst>
          </p:cNvPr>
          <p:cNvSpPr/>
          <p:nvPr/>
        </p:nvSpPr>
        <p:spPr>
          <a:xfrm>
            <a:off x="548640" y="1353312"/>
            <a:ext cx="6876288" cy="365760"/>
          </a:xfrm>
          <a:prstGeom prst="rect">
            <a:avLst/>
          </a:prstGeom>
          <a:solidFill>
            <a:srgbClr val="F1F5F9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856DDDCB-68E7-7B7E-E49D-C7EC52F322ED}"/>
              </a:ext>
            </a:extLst>
          </p:cNvPr>
          <p:cNvSpPr/>
          <p:nvPr/>
        </p:nvSpPr>
        <p:spPr>
          <a:xfrm>
            <a:off x="713232" y="1490472"/>
            <a:ext cx="82296" cy="82296"/>
          </a:xfrm>
          <a:prstGeom prst="ellipse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E27588D5-9186-0475-7146-CF96E87A5C8F}"/>
              </a:ext>
            </a:extLst>
          </p:cNvPr>
          <p:cNvSpPr/>
          <p:nvPr/>
        </p:nvSpPr>
        <p:spPr>
          <a:xfrm>
            <a:off x="859536" y="1490472"/>
            <a:ext cx="82296" cy="82296"/>
          </a:xfrm>
          <a:prstGeom prst="ellipse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279564D7-8CC5-FCB7-CF33-F11F45A76955}"/>
              </a:ext>
            </a:extLst>
          </p:cNvPr>
          <p:cNvSpPr/>
          <p:nvPr/>
        </p:nvSpPr>
        <p:spPr>
          <a:xfrm>
            <a:off x="1005840" y="1490472"/>
            <a:ext cx="82296" cy="82296"/>
          </a:xfrm>
          <a:prstGeom prst="ellipse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1BE12EE-3EC7-56B4-04A0-5A91AF80C9E7}"/>
              </a:ext>
            </a:extLst>
          </p:cNvPr>
          <p:cNvSpPr txBox="1"/>
          <p:nvPr/>
        </p:nvSpPr>
        <p:spPr>
          <a:xfrm>
            <a:off x="1188720" y="1463040"/>
            <a:ext cx="596188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6164F5A-3F3C-3DED-3261-F8A416F8C335}"/>
              </a:ext>
            </a:extLst>
          </p:cNvPr>
          <p:cNvSpPr txBox="1"/>
          <p:nvPr/>
        </p:nvSpPr>
        <p:spPr>
          <a:xfrm>
            <a:off x="777240" y="2084832"/>
            <a:ext cx="641908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02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캡처 삽입 영역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91433C4-7C8A-2081-5A85-9E9022586A94}"/>
              </a:ext>
            </a:extLst>
          </p:cNvPr>
          <p:cNvSpPr txBox="1"/>
          <p:nvPr/>
        </p:nvSpPr>
        <p:spPr>
          <a:xfrm>
            <a:off x="868680" y="3470148"/>
            <a:ext cx="623620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170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01-public-home.png</a:t>
            </a:r>
            <a:endParaRPr lang="ko-KR" altLang="en-US" sz="1700" b="1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70729BB-92FD-9112-26E0-80702CFCC4B7}"/>
              </a:ext>
            </a:extLst>
          </p:cNvPr>
          <p:cNvSpPr txBox="1"/>
          <p:nvPr/>
        </p:nvSpPr>
        <p:spPr>
          <a:xfrm>
            <a:off x="1051560" y="3909060"/>
            <a:ext cx="587044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94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 영역에 실제 화면 캡처를 배치하세요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6056CDCE-B624-1C25-1B7D-B2307AEC4209}"/>
              </a:ext>
            </a:extLst>
          </p:cNvPr>
          <p:cNvSpPr/>
          <p:nvPr/>
        </p:nvSpPr>
        <p:spPr>
          <a:xfrm>
            <a:off x="7754112" y="1353312"/>
            <a:ext cx="3493008" cy="329184"/>
          </a:xfrm>
          <a:prstGeom prst="roundRect">
            <a:avLst/>
          </a:prstGeom>
          <a:solidFill>
            <a:srgbClr val="EEF4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5E7A3A2-CE09-D019-DEFA-DD269C41C981}"/>
              </a:ext>
            </a:extLst>
          </p:cNvPr>
          <p:cNvSpPr txBox="1"/>
          <p:nvPr/>
        </p:nvSpPr>
        <p:spPr>
          <a:xfrm>
            <a:off x="7882128" y="1444752"/>
            <a:ext cx="31546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85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endParaRPr lang="ko-KR" altLang="en-US" sz="850" b="1">
              <a:solidFill>
                <a:srgbClr val="2454D9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621B752E-E794-D320-4300-00DAAC7FF186}"/>
              </a:ext>
            </a:extLst>
          </p:cNvPr>
          <p:cNvSpPr/>
          <p:nvPr/>
        </p:nvSpPr>
        <p:spPr>
          <a:xfrm>
            <a:off x="7754112" y="1847088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0F253FA9-5E64-277A-9C14-82C4679113C5}"/>
              </a:ext>
            </a:extLst>
          </p:cNvPr>
          <p:cNvSpPr/>
          <p:nvPr/>
        </p:nvSpPr>
        <p:spPr>
          <a:xfrm>
            <a:off x="7754112" y="1847088"/>
            <a:ext cx="64008" cy="859536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E95BB16-209A-FE83-0084-CD1D9404EBE0}"/>
              </a:ext>
            </a:extLst>
          </p:cNvPr>
          <p:cNvSpPr txBox="1"/>
          <p:nvPr/>
        </p:nvSpPr>
        <p:spPr>
          <a:xfrm>
            <a:off x="7918704" y="1947672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 화면의 역할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582D6DB-0B2A-EB7A-3117-21EA8480E840}"/>
              </a:ext>
            </a:extLst>
          </p:cNvPr>
          <p:cNvSpPr txBox="1"/>
          <p:nvPr/>
        </p:nvSpPr>
        <p:spPr>
          <a:xfrm>
            <a:off x="7918704" y="2194560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제품 목적과 데모 진입을 보여주는 공개 화면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DE53C2E7-D217-A391-9935-7A148DDD3416}"/>
              </a:ext>
            </a:extLst>
          </p:cNvPr>
          <p:cNvSpPr/>
          <p:nvPr/>
        </p:nvSpPr>
        <p:spPr>
          <a:xfrm>
            <a:off x="7754112" y="2834640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56682CD4-D98C-79D1-307B-A44B77B71451}"/>
              </a:ext>
            </a:extLst>
          </p:cNvPr>
          <p:cNvSpPr/>
          <p:nvPr/>
        </p:nvSpPr>
        <p:spPr>
          <a:xfrm>
            <a:off x="7754112" y="2834640"/>
            <a:ext cx="64008" cy="859536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415C2AA-8BB1-2E14-C9E6-D21CA2BBBDA4}"/>
              </a:ext>
            </a:extLst>
          </p:cNvPr>
          <p:cNvSpPr txBox="1"/>
          <p:nvPr/>
        </p:nvSpPr>
        <p:spPr>
          <a:xfrm>
            <a:off x="7918704" y="2935224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사용자가 하는 일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15AB03E-9ACB-06BF-F1E4-C8D721FDFBDB}"/>
              </a:ext>
            </a:extLst>
          </p:cNvPr>
          <p:cNvSpPr txBox="1"/>
          <p:nvPr/>
        </p:nvSpPr>
        <p:spPr>
          <a:xfrm>
            <a:off x="7918704" y="3182112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데모 체험 또는 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GitHub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로 이동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AC1EC2A5-1716-93A1-722C-A8547C48A4AD}"/>
              </a:ext>
            </a:extLst>
          </p:cNvPr>
          <p:cNvSpPr/>
          <p:nvPr/>
        </p:nvSpPr>
        <p:spPr>
          <a:xfrm>
            <a:off x="7754112" y="3822192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2D66C10F-BB7E-E231-2245-3892362A2360}"/>
              </a:ext>
            </a:extLst>
          </p:cNvPr>
          <p:cNvSpPr/>
          <p:nvPr/>
        </p:nvSpPr>
        <p:spPr>
          <a:xfrm>
            <a:off x="7754112" y="3822192"/>
            <a:ext cx="64008" cy="859536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39204AF-F6EA-8961-8439-ABA0E430A69B}"/>
              </a:ext>
            </a:extLst>
          </p:cNvPr>
          <p:cNvSpPr txBox="1"/>
          <p:nvPr/>
        </p:nvSpPr>
        <p:spPr>
          <a:xfrm>
            <a:off x="7918704" y="3922776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구현 포인트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704EABD-2829-E837-689A-11EFBFB8863B}"/>
              </a:ext>
            </a:extLst>
          </p:cNvPr>
          <p:cNvSpPr txBox="1"/>
          <p:nvPr/>
        </p:nvSpPr>
        <p:spPr>
          <a:xfrm>
            <a:off x="7918704" y="4169664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검색 메타데이터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FAQ,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공유 이미지 구성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75FE6764-A122-2ACE-9AD6-FEB3A2B8EE4C}"/>
              </a:ext>
            </a:extLst>
          </p:cNvPr>
          <p:cNvSpPr/>
          <p:nvPr/>
        </p:nvSpPr>
        <p:spPr>
          <a:xfrm>
            <a:off x="7754112" y="4809744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4CCFBCE0-2A93-7ABC-FE02-5A79DF89D271}"/>
              </a:ext>
            </a:extLst>
          </p:cNvPr>
          <p:cNvSpPr/>
          <p:nvPr/>
        </p:nvSpPr>
        <p:spPr>
          <a:xfrm>
            <a:off x="7754112" y="4809744"/>
            <a:ext cx="64008" cy="859536"/>
          </a:xfrm>
          <a:prstGeom prst="rect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E7788E4-A9A5-2228-87D1-E11000621190}"/>
              </a:ext>
            </a:extLst>
          </p:cNvPr>
          <p:cNvSpPr txBox="1"/>
          <p:nvPr/>
        </p:nvSpPr>
        <p:spPr>
          <a:xfrm>
            <a:off x="7918704" y="4910328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E11D4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포트폴리오 메시지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0719B4B-C615-DAB8-FA03-26064565B2CC}"/>
              </a:ext>
            </a:extLst>
          </p:cNvPr>
          <p:cNvSpPr txBox="1"/>
          <p:nvPr/>
        </p:nvSpPr>
        <p:spPr>
          <a:xfrm>
            <a:off x="7918704" y="5157216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보여주는 방식까지 설계한 프로젝트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63E0A97-D029-99EB-2970-E715907B2BB8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45B8211-E3E9-1C37-BDE0-DFD6FFDF925F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20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157363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0DB325EA-7115-F05B-5759-6D405500B0EF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17947D75-4DC6-6935-ABA0-81CF6B52661E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4285CEF7-09F4-100A-C119-CA6B95F4D9F0}"/>
              </a:ext>
            </a:extLst>
          </p:cNvPr>
          <p:cNvSpPr/>
          <p:nvPr/>
        </p:nvSpPr>
        <p:spPr>
          <a:xfrm>
            <a:off x="548640" y="310896"/>
            <a:ext cx="1170432" cy="228600"/>
          </a:xfrm>
          <a:prstGeom prst="roundRect">
            <a:avLst/>
          </a:prstGeom>
          <a:solidFill>
            <a:srgbClr val="EAFB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340B8D7-25BC-DE77-2EEA-B378C99A8375}"/>
              </a:ext>
            </a:extLst>
          </p:cNvPr>
          <p:cNvSpPr txBox="1"/>
          <p:nvPr/>
        </p:nvSpPr>
        <p:spPr>
          <a:xfrm>
            <a:off x="630936" y="338328"/>
            <a:ext cx="9601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7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SCREEN</a:t>
            </a:r>
            <a:endParaRPr lang="ko-KR" altLang="en-US" sz="7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26B084E-0743-8CB0-DA21-D460927FFFCF}"/>
              </a:ext>
            </a:extLst>
          </p:cNvPr>
          <p:cNvSpPr txBox="1"/>
          <p:nvPr/>
        </p:nvSpPr>
        <p:spPr>
          <a:xfrm>
            <a:off x="530352" y="603504"/>
            <a:ext cx="10698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월 운영 대시보드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64F8AA09-1983-5032-B4A8-F5B0DE14DBF5}"/>
              </a:ext>
            </a:extLst>
          </p:cNvPr>
          <p:cNvCxnSpPr/>
          <p:nvPr/>
        </p:nvCxnSpPr>
        <p:spPr>
          <a:xfrm>
            <a:off x="548640" y="1097280"/>
            <a:ext cx="11109960" cy="0"/>
          </a:xfrm>
          <a:prstGeom prst="line">
            <a:avLst/>
          </a:prstGeom>
          <a:ln w="15240">
            <a:solidFill>
              <a:srgbClr val="E8EDF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9C5D779B-1345-3585-1D7E-9738DD7FE0D8}"/>
              </a:ext>
            </a:extLst>
          </p:cNvPr>
          <p:cNvSpPr/>
          <p:nvPr/>
        </p:nvSpPr>
        <p:spPr>
          <a:xfrm>
            <a:off x="548640" y="1353312"/>
            <a:ext cx="6876288" cy="4599432"/>
          </a:xfrm>
          <a:prstGeom prst="rect">
            <a:avLst/>
          </a:prstGeom>
          <a:solidFill>
            <a:srgbClr val="FFFFFF"/>
          </a:solidFill>
          <a:ln w="10160">
            <a:solidFill>
              <a:srgbClr val="94A3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DD7F0D8-7520-D764-69C1-589387C25031}"/>
              </a:ext>
            </a:extLst>
          </p:cNvPr>
          <p:cNvSpPr/>
          <p:nvPr/>
        </p:nvSpPr>
        <p:spPr>
          <a:xfrm>
            <a:off x="548640" y="1353312"/>
            <a:ext cx="6876288" cy="365760"/>
          </a:xfrm>
          <a:prstGeom prst="rect">
            <a:avLst/>
          </a:prstGeom>
          <a:solidFill>
            <a:srgbClr val="F1F5F9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3877BA67-0802-8DE5-C60E-E35425862AA8}"/>
              </a:ext>
            </a:extLst>
          </p:cNvPr>
          <p:cNvSpPr/>
          <p:nvPr/>
        </p:nvSpPr>
        <p:spPr>
          <a:xfrm>
            <a:off x="713232" y="1490472"/>
            <a:ext cx="82296" cy="82296"/>
          </a:xfrm>
          <a:prstGeom prst="ellipse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57D35850-3917-7783-3E7B-DE6E22B8B6F9}"/>
              </a:ext>
            </a:extLst>
          </p:cNvPr>
          <p:cNvSpPr/>
          <p:nvPr/>
        </p:nvSpPr>
        <p:spPr>
          <a:xfrm>
            <a:off x="859536" y="1490472"/>
            <a:ext cx="82296" cy="82296"/>
          </a:xfrm>
          <a:prstGeom prst="ellipse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659EF204-0091-F166-7665-B12BF6101A23}"/>
              </a:ext>
            </a:extLst>
          </p:cNvPr>
          <p:cNvSpPr/>
          <p:nvPr/>
        </p:nvSpPr>
        <p:spPr>
          <a:xfrm>
            <a:off x="1005840" y="1490472"/>
            <a:ext cx="82296" cy="82296"/>
          </a:xfrm>
          <a:prstGeom prst="ellipse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C7FDFE9-B734-C162-3337-ED222F3A6AAD}"/>
              </a:ext>
            </a:extLst>
          </p:cNvPr>
          <p:cNvSpPr txBox="1"/>
          <p:nvPr/>
        </p:nvSpPr>
        <p:spPr>
          <a:xfrm>
            <a:off x="1188720" y="1463040"/>
            <a:ext cx="596188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/dashboard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DB7C550-294E-88C1-BA25-15F6EBCBBB77}"/>
              </a:ext>
            </a:extLst>
          </p:cNvPr>
          <p:cNvSpPr txBox="1"/>
          <p:nvPr/>
        </p:nvSpPr>
        <p:spPr>
          <a:xfrm>
            <a:off x="777240" y="2084832"/>
            <a:ext cx="641908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02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캡처 삽입 영역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C2393B3-083D-E675-B6DB-DF8401DC4001}"/>
              </a:ext>
            </a:extLst>
          </p:cNvPr>
          <p:cNvSpPr txBox="1"/>
          <p:nvPr/>
        </p:nvSpPr>
        <p:spPr>
          <a:xfrm>
            <a:off x="868680" y="3470148"/>
            <a:ext cx="623620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170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03-dashboard.png</a:t>
            </a:r>
            <a:endParaRPr lang="ko-KR" altLang="en-US" sz="1700" b="1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775B750-DB89-F183-5A1F-307328D8F73B}"/>
              </a:ext>
            </a:extLst>
          </p:cNvPr>
          <p:cNvSpPr txBox="1"/>
          <p:nvPr/>
        </p:nvSpPr>
        <p:spPr>
          <a:xfrm>
            <a:off x="1051560" y="3909060"/>
            <a:ext cx="587044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94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 영역에 실제 화면 캡처를 배치하세요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A4345922-C4B7-7C8F-9F2C-55A569EE491A}"/>
              </a:ext>
            </a:extLst>
          </p:cNvPr>
          <p:cNvSpPr/>
          <p:nvPr/>
        </p:nvSpPr>
        <p:spPr>
          <a:xfrm>
            <a:off x="7754112" y="1353312"/>
            <a:ext cx="3493008" cy="329184"/>
          </a:xfrm>
          <a:prstGeom prst="roundRect">
            <a:avLst/>
          </a:prstGeom>
          <a:solidFill>
            <a:srgbClr val="EEF4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047C48A-FBFE-5BA2-4380-5E50177796CA}"/>
              </a:ext>
            </a:extLst>
          </p:cNvPr>
          <p:cNvSpPr txBox="1"/>
          <p:nvPr/>
        </p:nvSpPr>
        <p:spPr>
          <a:xfrm>
            <a:off x="7882128" y="1444752"/>
            <a:ext cx="31546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85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/dashboard</a:t>
            </a:r>
            <a:endParaRPr lang="ko-KR" altLang="en-US" sz="850" b="1">
              <a:solidFill>
                <a:srgbClr val="2454D9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A58F7A0A-BE28-B198-5D4A-BD84D8342A46}"/>
              </a:ext>
            </a:extLst>
          </p:cNvPr>
          <p:cNvSpPr/>
          <p:nvPr/>
        </p:nvSpPr>
        <p:spPr>
          <a:xfrm>
            <a:off x="7754112" y="1847088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2DFC3154-15B9-D062-01DF-A1FD747D1085}"/>
              </a:ext>
            </a:extLst>
          </p:cNvPr>
          <p:cNvSpPr/>
          <p:nvPr/>
        </p:nvSpPr>
        <p:spPr>
          <a:xfrm>
            <a:off x="7754112" y="1847088"/>
            <a:ext cx="64008" cy="859536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443D715-190E-30C9-FD20-230A2FF25558}"/>
              </a:ext>
            </a:extLst>
          </p:cNvPr>
          <p:cNvSpPr txBox="1"/>
          <p:nvPr/>
        </p:nvSpPr>
        <p:spPr>
          <a:xfrm>
            <a:off x="7918704" y="1947672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 화면의 역할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6E9496B-F083-A672-5B58-85AFA8DFC2D8}"/>
              </a:ext>
            </a:extLst>
          </p:cNvPr>
          <p:cNvSpPr txBox="1"/>
          <p:nvPr/>
        </p:nvSpPr>
        <p:spPr>
          <a:xfrm>
            <a:off x="7918704" y="2194560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현재 월 운영 상태의 시작 화면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62C1099C-CEC7-7EB1-BF14-44C1D973CED2}"/>
              </a:ext>
            </a:extLst>
          </p:cNvPr>
          <p:cNvSpPr/>
          <p:nvPr/>
        </p:nvSpPr>
        <p:spPr>
          <a:xfrm>
            <a:off x="7754112" y="2834640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D6AB5CEA-99BF-667E-0CB8-51D255FFE8D8}"/>
              </a:ext>
            </a:extLst>
          </p:cNvPr>
          <p:cNvSpPr/>
          <p:nvPr/>
        </p:nvSpPr>
        <p:spPr>
          <a:xfrm>
            <a:off x="7754112" y="2834640"/>
            <a:ext cx="64008" cy="859536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7A9FC24-33F7-5E33-AC6D-87008D7962AB}"/>
              </a:ext>
            </a:extLst>
          </p:cNvPr>
          <p:cNvSpPr txBox="1"/>
          <p:nvPr/>
        </p:nvSpPr>
        <p:spPr>
          <a:xfrm>
            <a:off x="7918704" y="2935224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사용자가 하는 일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3F2971B-4AD7-BAB8-21E1-EF4139BA41D4}"/>
              </a:ext>
            </a:extLst>
          </p:cNvPr>
          <p:cNvSpPr txBox="1"/>
          <p:nvPr/>
        </p:nvSpPr>
        <p:spPr>
          <a:xfrm>
            <a:off x="7918704" y="3182112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요약 숫자와 다음 액션 확인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37F66C91-E267-6EA0-7D71-F74ABDC8E22A}"/>
              </a:ext>
            </a:extLst>
          </p:cNvPr>
          <p:cNvSpPr/>
          <p:nvPr/>
        </p:nvSpPr>
        <p:spPr>
          <a:xfrm>
            <a:off x="7754112" y="3822192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EACBB9F5-9B8D-D5B2-E6C2-97046AEC1ED3}"/>
              </a:ext>
            </a:extLst>
          </p:cNvPr>
          <p:cNvSpPr/>
          <p:nvPr/>
        </p:nvSpPr>
        <p:spPr>
          <a:xfrm>
            <a:off x="7754112" y="3822192"/>
            <a:ext cx="64008" cy="859536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6C78342-D82E-E90A-6990-480302632A6F}"/>
              </a:ext>
            </a:extLst>
          </p:cNvPr>
          <p:cNvSpPr txBox="1"/>
          <p:nvPr/>
        </p:nvSpPr>
        <p:spPr>
          <a:xfrm>
            <a:off x="7918704" y="3922776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구현 포인트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1F9C66A-BD1F-B0B4-1BB0-B8D24987AD43}"/>
              </a:ext>
            </a:extLst>
          </p:cNvPr>
          <p:cNvSpPr txBox="1"/>
          <p:nvPr/>
        </p:nvSpPr>
        <p:spPr>
          <a:xfrm>
            <a:off x="7918704" y="4169664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대시보드 조회 모델로 운영 데이터 요약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3DD1708C-23FB-E08F-9E0C-646CFBE33A01}"/>
              </a:ext>
            </a:extLst>
          </p:cNvPr>
          <p:cNvSpPr/>
          <p:nvPr/>
        </p:nvSpPr>
        <p:spPr>
          <a:xfrm>
            <a:off x="7754112" y="4809744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9012CF59-78E3-D2E2-8CCC-5535DD7F3AFE}"/>
              </a:ext>
            </a:extLst>
          </p:cNvPr>
          <p:cNvSpPr/>
          <p:nvPr/>
        </p:nvSpPr>
        <p:spPr>
          <a:xfrm>
            <a:off x="7754112" y="4809744"/>
            <a:ext cx="64008" cy="859536"/>
          </a:xfrm>
          <a:prstGeom prst="rect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0B9180E-666E-6F12-81FC-B77A4D16C713}"/>
              </a:ext>
            </a:extLst>
          </p:cNvPr>
          <p:cNvSpPr txBox="1"/>
          <p:nvPr/>
        </p:nvSpPr>
        <p:spPr>
          <a:xfrm>
            <a:off x="7918704" y="4910328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E11D4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포트폴리오 메시지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CA73CA3-5AFD-9311-38CD-3916CF986F84}"/>
              </a:ext>
            </a:extLst>
          </p:cNvPr>
          <p:cNvSpPr txBox="1"/>
          <p:nvPr/>
        </p:nvSpPr>
        <p:spPr>
          <a:xfrm>
            <a:off x="7918704" y="5157216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월 운영을 한 화면에서 시작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604F1AB-B8E8-7D18-B64E-E4FA60218C5E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1F468EB-8607-0592-E755-5E856252CD8D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21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4474477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0B7C5353-B302-B7C9-5B3C-15C94485C2C2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66435CF-38F1-45E0-EEA3-72F31A305E75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E40B41BE-349D-9A1F-7C88-D17FD817FC11}"/>
              </a:ext>
            </a:extLst>
          </p:cNvPr>
          <p:cNvSpPr/>
          <p:nvPr/>
        </p:nvSpPr>
        <p:spPr>
          <a:xfrm>
            <a:off x="548640" y="310896"/>
            <a:ext cx="1170432" cy="228600"/>
          </a:xfrm>
          <a:prstGeom prst="roundRect">
            <a:avLst/>
          </a:prstGeom>
          <a:solidFill>
            <a:srgbClr val="EAFB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9AE1D5-017B-435A-F693-9007C17286EC}"/>
              </a:ext>
            </a:extLst>
          </p:cNvPr>
          <p:cNvSpPr txBox="1"/>
          <p:nvPr/>
        </p:nvSpPr>
        <p:spPr>
          <a:xfrm>
            <a:off x="630936" y="338328"/>
            <a:ext cx="9601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7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SCREEN</a:t>
            </a:r>
            <a:endParaRPr lang="ko-KR" altLang="en-US" sz="7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A10D1F-4603-7479-AD1C-8515678A7B72}"/>
              </a:ext>
            </a:extLst>
          </p:cNvPr>
          <p:cNvSpPr txBox="1"/>
          <p:nvPr/>
        </p:nvSpPr>
        <p:spPr>
          <a:xfrm>
            <a:off x="530352" y="603504"/>
            <a:ext cx="10698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운영 허브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51E64182-ECE1-92E3-F201-181DD6F5D989}"/>
              </a:ext>
            </a:extLst>
          </p:cNvPr>
          <p:cNvCxnSpPr/>
          <p:nvPr/>
        </p:nvCxnSpPr>
        <p:spPr>
          <a:xfrm>
            <a:off x="548640" y="1097280"/>
            <a:ext cx="11109960" cy="0"/>
          </a:xfrm>
          <a:prstGeom prst="line">
            <a:avLst/>
          </a:prstGeom>
          <a:ln w="15240">
            <a:solidFill>
              <a:srgbClr val="E8EDF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BE7998C6-EF4D-AC74-D754-790A96B58878}"/>
              </a:ext>
            </a:extLst>
          </p:cNvPr>
          <p:cNvSpPr/>
          <p:nvPr/>
        </p:nvSpPr>
        <p:spPr>
          <a:xfrm>
            <a:off x="548640" y="1353312"/>
            <a:ext cx="6876288" cy="4599432"/>
          </a:xfrm>
          <a:prstGeom prst="rect">
            <a:avLst/>
          </a:prstGeom>
          <a:solidFill>
            <a:srgbClr val="FFFFFF"/>
          </a:solidFill>
          <a:ln w="10160">
            <a:solidFill>
              <a:srgbClr val="94A3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7B00600-1238-8269-35E8-BEE248CB38EF}"/>
              </a:ext>
            </a:extLst>
          </p:cNvPr>
          <p:cNvSpPr/>
          <p:nvPr/>
        </p:nvSpPr>
        <p:spPr>
          <a:xfrm>
            <a:off x="548640" y="1353312"/>
            <a:ext cx="6876288" cy="365760"/>
          </a:xfrm>
          <a:prstGeom prst="rect">
            <a:avLst/>
          </a:prstGeom>
          <a:solidFill>
            <a:srgbClr val="F1F5F9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B8A077AA-0A27-2A6F-4EEA-9CC67799C4F2}"/>
              </a:ext>
            </a:extLst>
          </p:cNvPr>
          <p:cNvSpPr/>
          <p:nvPr/>
        </p:nvSpPr>
        <p:spPr>
          <a:xfrm>
            <a:off x="713232" y="1490472"/>
            <a:ext cx="82296" cy="82296"/>
          </a:xfrm>
          <a:prstGeom prst="ellipse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D57E4F27-E65B-6D5C-0E2A-E2CD7C203CB4}"/>
              </a:ext>
            </a:extLst>
          </p:cNvPr>
          <p:cNvSpPr/>
          <p:nvPr/>
        </p:nvSpPr>
        <p:spPr>
          <a:xfrm>
            <a:off x="859536" y="1490472"/>
            <a:ext cx="82296" cy="82296"/>
          </a:xfrm>
          <a:prstGeom prst="ellipse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B2615C80-5D08-2D14-F8CB-462469B73BCB}"/>
              </a:ext>
            </a:extLst>
          </p:cNvPr>
          <p:cNvSpPr/>
          <p:nvPr/>
        </p:nvSpPr>
        <p:spPr>
          <a:xfrm>
            <a:off x="1005840" y="1490472"/>
            <a:ext cx="82296" cy="82296"/>
          </a:xfrm>
          <a:prstGeom prst="ellipse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B21FC9D-93BA-819D-46DF-0F2BAD5670CF}"/>
              </a:ext>
            </a:extLst>
          </p:cNvPr>
          <p:cNvSpPr txBox="1"/>
          <p:nvPr/>
        </p:nvSpPr>
        <p:spPr>
          <a:xfrm>
            <a:off x="1188720" y="1463040"/>
            <a:ext cx="596188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/operations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719FEB9-9547-7CDA-C49D-5A4F26982F6D}"/>
              </a:ext>
            </a:extLst>
          </p:cNvPr>
          <p:cNvSpPr txBox="1"/>
          <p:nvPr/>
        </p:nvSpPr>
        <p:spPr>
          <a:xfrm>
            <a:off x="777240" y="2084832"/>
            <a:ext cx="641908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02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캡처 삽입 영역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858DAA3-ACB9-1E86-DF74-63B24EEB3A78}"/>
              </a:ext>
            </a:extLst>
          </p:cNvPr>
          <p:cNvSpPr txBox="1"/>
          <p:nvPr/>
        </p:nvSpPr>
        <p:spPr>
          <a:xfrm>
            <a:off x="868680" y="3470148"/>
            <a:ext cx="623620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170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04-operations.png</a:t>
            </a:r>
            <a:endParaRPr lang="ko-KR" altLang="en-US" sz="1700" b="1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48F11B4-FB89-BE7E-FF44-44288D129B11}"/>
              </a:ext>
            </a:extLst>
          </p:cNvPr>
          <p:cNvSpPr txBox="1"/>
          <p:nvPr/>
        </p:nvSpPr>
        <p:spPr>
          <a:xfrm>
            <a:off x="1051560" y="3909060"/>
            <a:ext cx="587044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94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 영역에 실제 화면 캡처를 배치하세요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CA9E46C0-C06C-4C72-C7E6-766479E7E125}"/>
              </a:ext>
            </a:extLst>
          </p:cNvPr>
          <p:cNvSpPr/>
          <p:nvPr/>
        </p:nvSpPr>
        <p:spPr>
          <a:xfrm>
            <a:off x="7754112" y="1353312"/>
            <a:ext cx="3493008" cy="329184"/>
          </a:xfrm>
          <a:prstGeom prst="roundRect">
            <a:avLst/>
          </a:prstGeom>
          <a:solidFill>
            <a:srgbClr val="EEF4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FB5A69F-0E65-70AD-026E-403CDF8795AA}"/>
              </a:ext>
            </a:extLst>
          </p:cNvPr>
          <p:cNvSpPr txBox="1"/>
          <p:nvPr/>
        </p:nvSpPr>
        <p:spPr>
          <a:xfrm>
            <a:off x="7882128" y="1444752"/>
            <a:ext cx="31546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85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/operations</a:t>
            </a:r>
            <a:endParaRPr lang="ko-KR" altLang="en-US" sz="850" b="1">
              <a:solidFill>
                <a:srgbClr val="2454D9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D0C98E6-CB7F-E6D6-4F2D-DBB06BC034FD}"/>
              </a:ext>
            </a:extLst>
          </p:cNvPr>
          <p:cNvSpPr/>
          <p:nvPr/>
        </p:nvSpPr>
        <p:spPr>
          <a:xfrm>
            <a:off x="7754112" y="1847088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25A1FED0-840B-FA3D-4BDD-B0DADB620C93}"/>
              </a:ext>
            </a:extLst>
          </p:cNvPr>
          <p:cNvSpPr/>
          <p:nvPr/>
        </p:nvSpPr>
        <p:spPr>
          <a:xfrm>
            <a:off x="7754112" y="1847088"/>
            <a:ext cx="64008" cy="859536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5CDD184-3531-9FBA-CC8D-2BC56FEBA5AE}"/>
              </a:ext>
            </a:extLst>
          </p:cNvPr>
          <p:cNvSpPr txBox="1"/>
          <p:nvPr/>
        </p:nvSpPr>
        <p:spPr>
          <a:xfrm>
            <a:off x="7918704" y="1947672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 화면의 역할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E927B9F-4D18-D617-34F0-04F1286DD181}"/>
              </a:ext>
            </a:extLst>
          </p:cNvPr>
          <p:cNvSpPr txBox="1"/>
          <p:nvPr/>
        </p:nvSpPr>
        <p:spPr>
          <a:xfrm>
            <a:off x="7918704" y="2194560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마감 전 운영 신호를 모으는 관제 화면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D778B420-831A-D8B5-27C1-13923CFB9FFB}"/>
              </a:ext>
            </a:extLst>
          </p:cNvPr>
          <p:cNvSpPr/>
          <p:nvPr/>
        </p:nvSpPr>
        <p:spPr>
          <a:xfrm>
            <a:off x="7754112" y="2834640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0204B60A-09AF-18C8-2589-CE28131ACDE6}"/>
              </a:ext>
            </a:extLst>
          </p:cNvPr>
          <p:cNvSpPr/>
          <p:nvPr/>
        </p:nvSpPr>
        <p:spPr>
          <a:xfrm>
            <a:off x="7754112" y="2834640"/>
            <a:ext cx="64008" cy="859536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88405F9-63D6-4A8F-F34E-88EC0DC3C308}"/>
              </a:ext>
            </a:extLst>
          </p:cNvPr>
          <p:cNvSpPr txBox="1"/>
          <p:nvPr/>
        </p:nvSpPr>
        <p:spPr>
          <a:xfrm>
            <a:off x="7918704" y="2935224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사용자가 하는 일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1D4FACE-C439-0A47-FA4E-E7735036DCFA}"/>
              </a:ext>
            </a:extLst>
          </p:cNvPr>
          <p:cNvSpPr txBox="1"/>
          <p:nvPr/>
        </p:nvSpPr>
        <p:spPr>
          <a:xfrm>
            <a:off x="7918704" y="3182112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우선 확인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마감 차단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알림 확인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719E9517-ABB8-02EE-92A3-212B864E22B0}"/>
              </a:ext>
            </a:extLst>
          </p:cNvPr>
          <p:cNvSpPr/>
          <p:nvPr/>
        </p:nvSpPr>
        <p:spPr>
          <a:xfrm>
            <a:off x="7754112" y="3822192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80E4DEC6-1EC6-B409-4B77-8D5EE733DB10}"/>
              </a:ext>
            </a:extLst>
          </p:cNvPr>
          <p:cNvSpPr/>
          <p:nvPr/>
        </p:nvSpPr>
        <p:spPr>
          <a:xfrm>
            <a:off x="7754112" y="3822192"/>
            <a:ext cx="64008" cy="859536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A2EDE25-29EC-4424-BB57-AFA7E45E547D}"/>
              </a:ext>
            </a:extLst>
          </p:cNvPr>
          <p:cNvSpPr txBox="1"/>
          <p:nvPr/>
        </p:nvSpPr>
        <p:spPr>
          <a:xfrm>
            <a:off x="7918704" y="3922776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구현 포인트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4995FE4-3B2B-E212-01A6-03D0CD29266A}"/>
              </a:ext>
            </a:extLst>
          </p:cNvPr>
          <p:cNvSpPr txBox="1"/>
          <p:nvPr/>
        </p:nvSpPr>
        <p:spPr>
          <a:xfrm>
            <a:off x="7918704" y="4169664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운영 허브 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API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와 운영 상태 연결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6E6D37B2-1965-6E1D-98F8-FB6470697C94}"/>
              </a:ext>
            </a:extLst>
          </p:cNvPr>
          <p:cNvSpPr/>
          <p:nvPr/>
        </p:nvSpPr>
        <p:spPr>
          <a:xfrm>
            <a:off x="7754112" y="4809744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9A05EEDC-2CD9-64A3-FE86-7E515B9A038C}"/>
              </a:ext>
            </a:extLst>
          </p:cNvPr>
          <p:cNvSpPr/>
          <p:nvPr/>
        </p:nvSpPr>
        <p:spPr>
          <a:xfrm>
            <a:off x="7754112" y="4809744"/>
            <a:ext cx="64008" cy="859536"/>
          </a:xfrm>
          <a:prstGeom prst="rect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F3BF739-F326-16C6-3B83-CC3501275B38}"/>
              </a:ext>
            </a:extLst>
          </p:cNvPr>
          <p:cNvSpPr txBox="1"/>
          <p:nvPr/>
        </p:nvSpPr>
        <p:spPr>
          <a:xfrm>
            <a:off x="7918704" y="4910328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E11D4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포트폴리오 메시지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3286742-F751-E9F6-A89B-E4ED9C09BEDF}"/>
              </a:ext>
            </a:extLst>
          </p:cNvPr>
          <p:cNvSpPr txBox="1"/>
          <p:nvPr/>
        </p:nvSpPr>
        <p:spPr>
          <a:xfrm>
            <a:off x="7918704" y="5157216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실제 운영자가 볼 화면까지 구성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CE8F84F-0224-EB82-9A24-0293278574AC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79C6DBF-2ABF-BBDC-022C-44FF0787B131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22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605435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652E108B-15D5-DED3-B578-F54370063099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1769F18-5ED5-40F0-ECC0-7FE780055C04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472FACD2-205F-D9DF-6AD8-BF63DDBB32AB}"/>
              </a:ext>
            </a:extLst>
          </p:cNvPr>
          <p:cNvSpPr/>
          <p:nvPr/>
        </p:nvSpPr>
        <p:spPr>
          <a:xfrm>
            <a:off x="548640" y="310896"/>
            <a:ext cx="1170432" cy="228600"/>
          </a:xfrm>
          <a:prstGeom prst="roundRect">
            <a:avLst/>
          </a:prstGeom>
          <a:solidFill>
            <a:srgbClr val="EAFB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CF5360-1CE8-13BF-1C54-FFD42D6D5C10}"/>
              </a:ext>
            </a:extLst>
          </p:cNvPr>
          <p:cNvSpPr txBox="1"/>
          <p:nvPr/>
        </p:nvSpPr>
        <p:spPr>
          <a:xfrm>
            <a:off x="630936" y="338328"/>
            <a:ext cx="9601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7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SCREEN</a:t>
            </a:r>
            <a:endParaRPr lang="ko-KR" altLang="en-US" sz="7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05CFA6-8C3E-5D77-809C-AC553B8A3C35}"/>
              </a:ext>
            </a:extLst>
          </p:cNvPr>
          <p:cNvSpPr txBox="1"/>
          <p:nvPr/>
        </p:nvSpPr>
        <p:spPr>
          <a:xfrm>
            <a:off x="530352" y="603504"/>
            <a:ext cx="10698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기준 데이터와 운영 준비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DCDAD4F9-EF4C-5E09-37B2-7B547192E23C}"/>
              </a:ext>
            </a:extLst>
          </p:cNvPr>
          <p:cNvCxnSpPr/>
          <p:nvPr/>
        </p:nvCxnSpPr>
        <p:spPr>
          <a:xfrm>
            <a:off x="548640" y="1097280"/>
            <a:ext cx="11109960" cy="0"/>
          </a:xfrm>
          <a:prstGeom prst="line">
            <a:avLst/>
          </a:prstGeom>
          <a:ln w="15240">
            <a:solidFill>
              <a:srgbClr val="E8EDF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D2BC28A2-AA8E-66CE-B5DF-A489DB909944}"/>
              </a:ext>
            </a:extLst>
          </p:cNvPr>
          <p:cNvSpPr/>
          <p:nvPr/>
        </p:nvSpPr>
        <p:spPr>
          <a:xfrm>
            <a:off x="548640" y="1353312"/>
            <a:ext cx="6876288" cy="4599432"/>
          </a:xfrm>
          <a:prstGeom prst="rect">
            <a:avLst/>
          </a:prstGeom>
          <a:solidFill>
            <a:srgbClr val="FFFFFF"/>
          </a:solidFill>
          <a:ln w="10160">
            <a:solidFill>
              <a:srgbClr val="94A3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DB756194-36F9-6C22-AA0C-31B2F2F61E14}"/>
              </a:ext>
            </a:extLst>
          </p:cNvPr>
          <p:cNvSpPr/>
          <p:nvPr/>
        </p:nvSpPr>
        <p:spPr>
          <a:xfrm>
            <a:off x="548640" y="1353312"/>
            <a:ext cx="6876288" cy="365760"/>
          </a:xfrm>
          <a:prstGeom prst="rect">
            <a:avLst/>
          </a:prstGeom>
          <a:solidFill>
            <a:srgbClr val="F1F5F9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0A0B5A60-C27A-29F0-4847-397065BE1DEA}"/>
              </a:ext>
            </a:extLst>
          </p:cNvPr>
          <p:cNvSpPr/>
          <p:nvPr/>
        </p:nvSpPr>
        <p:spPr>
          <a:xfrm>
            <a:off x="713232" y="1490472"/>
            <a:ext cx="82296" cy="82296"/>
          </a:xfrm>
          <a:prstGeom prst="ellipse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56F8B82C-ECFF-6D88-F2F2-6ACB513C9E33}"/>
              </a:ext>
            </a:extLst>
          </p:cNvPr>
          <p:cNvSpPr/>
          <p:nvPr/>
        </p:nvSpPr>
        <p:spPr>
          <a:xfrm>
            <a:off x="859536" y="1490472"/>
            <a:ext cx="82296" cy="82296"/>
          </a:xfrm>
          <a:prstGeom prst="ellipse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9FEE656A-ADD0-8F66-39B7-872EE2840211}"/>
              </a:ext>
            </a:extLst>
          </p:cNvPr>
          <p:cNvSpPr/>
          <p:nvPr/>
        </p:nvSpPr>
        <p:spPr>
          <a:xfrm>
            <a:off x="1005840" y="1490472"/>
            <a:ext cx="82296" cy="82296"/>
          </a:xfrm>
          <a:prstGeom prst="ellipse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6B5EC9E-13D7-1446-6840-E1DE9753DB1D}"/>
              </a:ext>
            </a:extLst>
          </p:cNvPr>
          <p:cNvSpPr txBox="1"/>
          <p:nvPr/>
        </p:nvSpPr>
        <p:spPr>
          <a:xfrm>
            <a:off x="1188720" y="1463040"/>
            <a:ext cx="596188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/reference-data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E65FB7B-2DC7-053C-13A8-A91D7A04D603}"/>
              </a:ext>
            </a:extLst>
          </p:cNvPr>
          <p:cNvSpPr txBox="1"/>
          <p:nvPr/>
        </p:nvSpPr>
        <p:spPr>
          <a:xfrm>
            <a:off x="777240" y="2084832"/>
            <a:ext cx="641908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02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캡처 삽입 영역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A0327AC-FA07-0840-4472-A99FCC35600F}"/>
              </a:ext>
            </a:extLst>
          </p:cNvPr>
          <p:cNvSpPr txBox="1"/>
          <p:nvPr/>
        </p:nvSpPr>
        <p:spPr>
          <a:xfrm>
            <a:off x="868680" y="3470148"/>
            <a:ext cx="623620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170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05-reference-data.png</a:t>
            </a:r>
            <a:endParaRPr lang="ko-KR" altLang="en-US" sz="1700" b="1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2B19394-DA23-4AF6-2D09-E213B63EE15F}"/>
              </a:ext>
            </a:extLst>
          </p:cNvPr>
          <p:cNvSpPr txBox="1"/>
          <p:nvPr/>
        </p:nvSpPr>
        <p:spPr>
          <a:xfrm>
            <a:off x="1051560" y="3909060"/>
            <a:ext cx="587044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94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 영역에 실제 화면 캡처를 배치하세요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9725EEC7-501E-86E6-1BA6-04691B1E0795}"/>
              </a:ext>
            </a:extLst>
          </p:cNvPr>
          <p:cNvSpPr/>
          <p:nvPr/>
        </p:nvSpPr>
        <p:spPr>
          <a:xfrm>
            <a:off x="7754112" y="1353312"/>
            <a:ext cx="3493008" cy="329184"/>
          </a:xfrm>
          <a:prstGeom prst="roundRect">
            <a:avLst/>
          </a:prstGeom>
          <a:solidFill>
            <a:srgbClr val="EEF4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8D7BA46-EF0C-0066-6338-7D0A6B50FB75}"/>
              </a:ext>
            </a:extLst>
          </p:cNvPr>
          <p:cNvSpPr txBox="1"/>
          <p:nvPr/>
        </p:nvSpPr>
        <p:spPr>
          <a:xfrm>
            <a:off x="7882128" y="1444752"/>
            <a:ext cx="31546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85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/reference-data</a:t>
            </a:r>
            <a:endParaRPr lang="ko-KR" altLang="en-US" sz="850" b="1">
              <a:solidFill>
                <a:srgbClr val="2454D9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326EEEAB-0D1A-28F8-6B6E-73821C5786C2}"/>
              </a:ext>
            </a:extLst>
          </p:cNvPr>
          <p:cNvSpPr/>
          <p:nvPr/>
        </p:nvSpPr>
        <p:spPr>
          <a:xfrm>
            <a:off x="7754112" y="1847088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F808D82E-76A3-725D-36CF-D72897358BDF}"/>
              </a:ext>
            </a:extLst>
          </p:cNvPr>
          <p:cNvSpPr/>
          <p:nvPr/>
        </p:nvSpPr>
        <p:spPr>
          <a:xfrm>
            <a:off x="7754112" y="1847088"/>
            <a:ext cx="64008" cy="859536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75784F1-A3AB-267E-3BA5-D28C26F00244}"/>
              </a:ext>
            </a:extLst>
          </p:cNvPr>
          <p:cNvSpPr txBox="1"/>
          <p:nvPr/>
        </p:nvSpPr>
        <p:spPr>
          <a:xfrm>
            <a:off x="7918704" y="1947672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 화면의 역할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5E1A422-B205-1DAA-6CD5-1036C83DBC84}"/>
              </a:ext>
            </a:extLst>
          </p:cNvPr>
          <p:cNvSpPr txBox="1"/>
          <p:nvPr/>
        </p:nvSpPr>
        <p:spPr>
          <a:xfrm>
            <a:off x="7918704" y="2194560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월 운영 전 기준 데이터를 준비하는 화면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904634BD-7063-666E-F027-4D4D2A134E82}"/>
              </a:ext>
            </a:extLst>
          </p:cNvPr>
          <p:cNvSpPr/>
          <p:nvPr/>
        </p:nvSpPr>
        <p:spPr>
          <a:xfrm>
            <a:off x="7754112" y="2834640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EFD1C723-D472-E241-97C9-28FAA47500A0}"/>
              </a:ext>
            </a:extLst>
          </p:cNvPr>
          <p:cNvSpPr/>
          <p:nvPr/>
        </p:nvSpPr>
        <p:spPr>
          <a:xfrm>
            <a:off x="7754112" y="2834640"/>
            <a:ext cx="64008" cy="859536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1E882A2-1034-13C5-F2FD-EF9D371E2F63}"/>
              </a:ext>
            </a:extLst>
          </p:cNvPr>
          <p:cNvSpPr txBox="1"/>
          <p:nvPr/>
        </p:nvSpPr>
        <p:spPr>
          <a:xfrm>
            <a:off x="7918704" y="2935224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사용자가 하는 일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8009A39-9B3B-1DF6-53B6-E03FF0789679}"/>
              </a:ext>
            </a:extLst>
          </p:cNvPr>
          <p:cNvSpPr txBox="1"/>
          <p:nvPr/>
        </p:nvSpPr>
        <p:spPr>
          <a:xfrm>
            <a:off x="7918704" y="3182112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준비 상태와 부족 항목 확인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EDC901BD-C2AC-14AF-C0CE-BDFA521584E3}"/>
              </a:ext>
            </a:extLst>
          </p:cNvPr>
          <p:cNvSpPr/>
          <p:nvPr/>
        </p:nvSpPr>
        <p:spPr>
          <a:xfrm>
            <a:off x="7754112" y="3822192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E12F551A-429B-FD62-EC19-79648601A316}"/>
              </a:ext>
            </a:extLst>
          </p:cNvPr>
          <p:cNvSpPr/>
          <p:nvPr/>
        </p:nvSpPr>
        <p:spPr>
          <a:xfrm>
            <a:off x="7754112" y="3822192"/>
            <a:ext cx="64008" cy="859536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8316448-4A2C-5AA1-306B-66FB1F5FF795}"/>
              </a:ext>
            </a:extLst>
          </p:cNvPr>
          <p:cNvSpPr txBox="1"/>
          <p:nvPr/>
        </p:nvSpPr>
        <p:spPr>
          <a:xfrm>
            <a:off x="7918704" y="3922776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구현 포인트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3AB5ECF-9A43-4E74-5E26-0BFD172E93C3}"/>
              </a:ext>
            </a:extLst>
          </p:cNvPr>
          <p:cNvSpPr txBox="1"/>
          <p:nvPr/>
        </p:nvSpPr>
        <p:spPr>
          <a:xfrm>
            <a:off x="7918704" y="4169664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자금수단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카테고리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조회 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API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연결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2518F84F-0BC3-F128-7280-7BEA170B8C6B}"/>
              </a:ext>
            </a:extLst>
          </p:cNvPr>
          <p:cNvSpPr/>
          <p:nvPr/>
        </p:nvSpPr>
        <p:spPr>
          <a:xfrm>
            <a:off x="7754112" y="4809744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23319BCB-7584-54D5-7355-2EC5209979E8}"/>
              </a:ext>
            </a:extLst>
          </p:cNvPr>
          <p:cNvSpPr/>
          <p:nvPr/>
        </p:nvSpPr>
        <p:spPr>
          <a:xfrm>
            <a:off x="7754112" y="4809744"/>
            <a:ext cx="64008" cy="859536"/>
          </a:xfrm>
          <a:prstGeom prst="rect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A64EBFF-F158-CEEC-585C-E2FB23A91A14}"/>
              </a:ext>
            </a:extLst>
          </p:cNvPr>
          <p:cNvSpPr txBox="1"/>
          <p:nvPr/>
        </p:nvSpPr>
        <p:spPr>
          <a:xfrm>
            <a:off x="7918704" y="4910328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E11D4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포트폴리오 메시지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DE9AB23-CB2A-11A5-A877-51D31F425A05}"/>
              </a:ext>
            </a:extLst>
          </p:cNvPr>
          <p:cNvSpPr txBox="1"/>
          <p:nvPr/>
        </p:nvSpPr>
        <p:spPr>
          <a:xfrm>
            <a:off x="7918704" y="5157216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ERP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는 기준 데이터가 먼저임을 표현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4CE5568-2BAD-67C0-B5DA-0F0FFABA7B03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A7EFEE3-530D-CD1A-B60C-8252F47626C2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23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8046567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D1EC1754-9F23-077C-AFD8-C5911563336B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FCBCA820-88C5-F640-5D5F-A120FF2DA6ED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A8D7908D-B19F-095E-9B51-07946768ED30}"/>
              </a:ext>
            </a:extLst>
          </p:cNvPr>
          <p:cNvSpPr/>
          <p:nvPr/>
        </p:nvSpPr>
        <p:spPr>
          <a:xfrm>
            <a:off x="548640" y="310896"/>
            <a:ext cx="1170432" cy="228600"/>
          </a:xfrm>
          <a:prstGeom prst="roundRect">
            <a:avLst/>
          </a:prstGeom>
          <a:solidFill>
            <a:srgbClr val="EAFB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DAE1D56-87B7-C84B-EDFE-7045A0F07456}"/>
              </a:ext>
            </a:extLst>
          </p:cNvPr>
          <p:cNvSpPr txBox="1"/>
          <p:nvPr/>
        </p:nvSpPr>
        <p:spPr>
          <a:xfrm>
            <a:off x="630936" y="338328"/>
            <a:ext cx="9601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7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SCREEN</a:t>
            </a:r>
            <a:endParaRPr lang="ko-KR" altLang="en-US" sz="7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C624F5B-CE5E-CDEF-A64F-9156ED14F58C}"/>
              </a:ext>
            </a:extLst>
          </p:cNvPr>
          <p:cNvSpPr txBox="1"/>
          <p:nvPr/>
        </p:nvSpPr>
        <p:spPr>
          <a:xfrm>
            <a:off x="530352" y="603504"/>
            <a:ext cx="10698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계획 항목과 반복 규칙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6E6BE3BD-053A-B9E2-0AFF-F287A5745DCB}"/>
              </a:ext>
            </a:extLst>
          </p:cNvPr>
          <p:cNvCxnSpPr/>
          <p:nvPr/>
        </p:nvCxnSpPr>
        <p:spPr>
          <a:xfrm>
            <a:off x="548640" y="1097280"/>
            <a:ext cx="11109960" cy="0"/>
          </a:xfrm>
          <a:prstGeom prst="line">
            <a:avLst/>
          </a:prstGeom>
          <a:ln w="15240">
            <a:solidFill>
              <a:srgbClr val="E8EDF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484F2A68-A34D-3E64-E1F0-3E2F002E5C43}"/>
              </a:ext>
            </a:extLst>
          </p:cNvPr>
          <p:cNvSpPr/>
          <p:nvPr/>
        </p:nvSpPr>
        <p:spPr>
          <a:xfrm>
            <a:off x="548640" y="1353312"/>
            <a:ext cx="6876288" cy="4599432"/>
          </a:xfrm>
          <a:prstGeom prst="rect">
            <a:avLst/>
          </a:prstGeom>
          <a:solidFill>
            <a:srgbClr val="FFFFFF"/>
          </a:solidFill>
          <a:ln w="10160">
            <a:solidFill>
              <a:srgbClr val="94A3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BBE4D12-8ADE-5EF1-A648-D67B44D647B4}"/>
              </a:ext>
            </a:extLst>
          </p:cNvPr>
          <p:cNvSpPr/>
          <p:nvPr/>
        </p:nvSpPr>
        <p:spPr>
          <a:xfrm>
            <a:off x="548640" y="1353312"/>
            <a:ext cx="6876288" cy="365760"/>
          </a:xfrm>
          <a:prstGeom prst="rect">
            <a:avLst/>
          </a:prstGeom>
          <a:solidFill>
            <a:srgbClr val="F1F5F9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73C84A23-D378-6601-C94F-91E288263758}"/>
              </a:ext>
            </a:extLst>
          </p:cNvPr>
          <p:cNvSpPr/>
          <p:nvPr/>
        </p:nvSpPr>
        <p:spPr>
          <a:xfrm>
            <a:off x="713232" y="1490472"/>
            <a:ext cx="82296" cy="82296"/>
          </a:xfrm>
          <a:prstGeom prst="ellipse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9A2DEC8F-D475-6993-7D93-7652746AA0E5}"/>
              </a:ext>
            </a:extLst>
          </p:cNvPr>
          <p:cNvSpPr/>
          <p:nvPr/>
        </p:nvSpPr>
        <p:spPr>
          <a:xfrm>
            <a:off x="859536" y="1490472"/>
            <a:ext cx="82296" cy="82296"/>
          </a:xfrm>
          <a:prstGeom prst="ellipse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E1E7A6AD-5FCD-3F0F-7C1C-3D9F949BE2A1}"/>
              </a:ext>
            </a:extLst>
          </p:cNvPr>
          <p:cNvSpPr/>
          <p:nvPr/>
        </p:nvSpPr>
        <p:spPr>
          <a:xfrm>
            <a:off x="1005840" y="1490472"/>
            <a:ext cx="82296" cy="82296"/>
          </a:xfrm>
          <a:prstGeom prst="ellipse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899A5B0-CCBD-5325-8D2D-A65955F6DB7D}"/>
              </a:ext>
            </a:extLst>
          </p:cNvPr>
          <p:cNvSpPr txBox="1"/>
          <p:nvPr/>
        </p:nvSpPr>
        <p:spPr>
          <a:xfrm>
            <a:off x="1188720" y="1463040"/>
            <a:ext cx="596188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/plan-items, /recurring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4542A6F-A21D-B597-CC60-47326FA619E6}"/>
              </a:ext>
            </a:extLst>
          </p:cNvPr>
          <p:cNvSpPr txBox="1"/>
          <p:nvPr/>
        </p:nvSpPr>
        <p:spPr>
          <a:xfrm>
            <a:off x="777240" y="2084832"/>
            <a:ext cx="641908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02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캡처 삽입 영역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111B1C8-76BB-2149-DBFE-C3ABF2970D0B}"/>
              </a:ext>
            </a:extLst>
          </p:cNvPr>
          <p:cNvSpPr txBox="1"/>
          <p:nvPr/>
        </p:nvSpPr>
        <p:spPr>
          <a:xfrm>
            <a:off x="868680" y="3470148"/>
            <a:ext cx="623620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170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06-plan-items-recurring.png</a:t>
            </a:r>
            <a:endParaRPr lang="ko-KR" altLang="en-US" sz="1700" b="1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725078E-963A-E29F-5398-C32D53A8BF20}"/>
              </a:ext>
            </a:extLst>
          </p:cNvPr>
          <p:cNvSpPr txBox="1"/>
          <p:nvPr/>
        </p:nvSpPr>
        <p:spPr>
          <a:xfrm>
            <a:off x="1051560" y="3909060"/>
            <a:ext cx="587044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94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 영역에 실제 화면 캡처를 배치하세요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E33A5770-9641-6F5F-D74A-5B9C75276739}"/>
              </a:ext>
            </a:extLst>
          </p:cNvPr>
          <p:cNvSpPr/>
          <p:nvPr/>
        </p:nvSpPr>
        <p:spPr>
          <a:xfrm>
            <a:off x="7754112" y="1353312"/>
            <a:ext cx="3493008" cy="329184"/>
          </a:xfrm>
          <a:prstGeom prst="roundRect">
            <a:avLst/>
          </a:prstGeom>
          <a:solidFill>
            <a:srgbClr val="EEF4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5873D3F-F1A2-DEED-3281-232DFEF140AF}"/>
              </a:ext>
            </a:extLst>
          </p:cNvPr>
          <p:cNvSpPr txBox="1"/>
          <p:nvPr/>
        </p:nvSpPr>
        <p:spPr>
          <a:xfrm>
            <a:off x="7882128" y="1444752"/>
            <a:ext cx="31546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85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/plan-items, /recurring</a:t>
            </a:r>
            <a:endParaRPr lang="ko-KR" altLang="en-US" sz="850" b="1">
              <a:solidFill>
                <a:srgbClr val="2454D9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C806CA54-F404-B259-75F4-0ED79FC11C62}"/>
              </a:ext>
            </a:extLst>
          </p:cNvPr>
          <p:cNvSpPr/>
          <p:nvPr/>
        </p:nvSpPr>
        <p:spPr>
          <a:xfrm>
            <a:off x="7754112" y="1847088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46B9954F-577A-171B-68E1-B8461C68F5A9}"/>
              </a:ext>
            </a:extLst>
          </p:cNvPr>
          <p:cNvSpPr/>
          <p:nvPr/>
        </p:nvSpPr>
        <p:spPr>
          <a:xfrm>
            <a:off x="7754112" y="1847088"/>
            <a:ext cx="64008" cy="859536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E32967E-29AF-3C16-B8DC-A357771DDD47}"/>
              </a:ext>
            </a:extLst>
          </p:cNvPr>
          <p:cNvSpPr txBox="1"/>
          <p:nvPr/>
        </p:nvSpPr>
        <p:spPr>
          <a:xfrm>
            <a:off x="7918704" y="1947672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 화면의 역할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B6FB38C-5346-B76E-11A5-41222E7B7185}"/>
              </a:ext>
            </a:extLst>
          </p:cNvPr>
          <p:cNvSpPr txBox="1"/>
          <p:nvPr/>
        </p:nvSpPr>
        <p:spPr>
          <a:xfrm>
            <a:off x="7918704" y="2194560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예정 거래를 실제 흐름과 잇는 계획 단계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872B8CA2-5BFF-70B3-2D0B-8C9E32803000}"/>
              </a:ext>
            </a:extLst>
          </p:cNvPr>
          <p:cNvSpPr/>
          <p:nvPr/>
        </p:nvSpPr>
        <p:spPr>
          <a:xfrm>
            <a:off x="7754112" y="2834640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6A0383B4-1BB4-0EB0-B8BA-855687A55427}"/>
              </a:ext>
            </a:extLst>
          </p:cNvPr>
          <p:cNvSpPr/>
          <p:nvPr/>
        </p:nvSpPr>
        <p:spPr>
          <a:xfrm>
            <a:off x="7754112" y="2834640"/>
            <a:ext cx="64008" cy="859536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050040B-1E7F-E23F-D379-EC7132AE4CB3}"/>
              </a:ext>
            </a:extLst>
          </p:cNvPr>
          <p:cNvSpPr txBox="1"/>
          <p:nvPr/>
        </p:nvSpPr>
        <p:spPr>
          <a:xfrm>
            <a:off x="7918704" y="2935224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사용자가 하는 일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45B7597-DDD9-85F5-BD88-8FFDDEA9BCF8}"/>
              </a:ext>
            </a:extLst>
          </p:cNvPr>
          <p:cNvSpPr txBox="1"/>
          <p:nvPr/>
        </p:nvSpPr>
        <p:spPr>
          <a:xfrm>
            <a:off x="7918704" y="3182112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반복 규칙과 계획 항목 확인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7C0482A9-DE6C-97A7-4B44-027A1187AA22}"/>
              </a:ext>
            </a:extLst>
          </p:cNvPr>
          <p:cNvSpPr/>
          <p:nvPr/>
        </p:nvSpPr>
        <p:spPr>
          <a:xfrm>
            <a:off x="7754112" y="3822192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C9B34C1D-3DEE-99E1-1276-443683E8A5FF}"/>
              </a:ext>
            </a:extLst>
          </p:cNvPr>
          <p:cNvSpPr/>
          <p:nvPr/>
        </p:nvSpPr>
        <p:spPr>
          <a:xfrm>
            <a:off x="7754112" y="3822192"/>
            <a:ext cx="64008" cy="859536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07CD848-6801-0DF2-B3DE-581CD67A7A9C}"/>
              </a:ext>
            </a:extLst>
          </p:cNvPr>
          <p:cNvSpPr txBox="1"/>
          <p:nvPr/>
        </p:nvSpPr>
        <p:spPr>
          <a:xfrm>
            <a:off x="7918704" y="3922776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구현 포인트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356305A-3E5C-324B-970C-289B2B0673DA}"/>
              </a:ext>
            </a:extLst>
          </p:cNvPr>
          <p:cNvSpPr txBox="1"/>
          <p:nvPr/>
        </p:nvSpPr>
        <p:spPr>
          <a:xfrm>
            <a:off x="7918704" y="4169664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반복 규칙과 계획 항목 모델 연결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3A05C603-04F4-708F-4F5A-26478D18107C}"/>
              </a:ext>
            </a:extLst>
          </p:cNvPr>
          <p:cNvSpPr/>
          <p:nvPr/>
        </p:nvSpPr>
        <p:spPr>
          <a:xfrm>
            <a:off x="7754112" y="4809744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813573E2-B10F-A5A4-2C20-979589F8A776}"/>
              </a:ext>
            </a:extLst>
          </p:cNvPr>
          <p:cNvSpPr/>
          <p:nvPr/>
        </p:nvSpPr>
        <p:spPr>
          <a:xfrm>
            <a:off x="7754112" y="4809744"/>
            <a:ext cx="64008" cy="859536"/>
          </a:xfrm>
          <a:prstGeom prst="rect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B6AE787-0B48-F359-83CD-97A760B4742C}"/>
              </a:ext>
            </a:extLst>
          </p:cNvPr>
          <p:cNvSpPr txBox="1"/>
          <p:nvPr/>
        </p:nvSpPr>
        <p:spPr>
          <a:xfrm>
            <a:off x="7918704" y="4910328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E11D4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포트폴리오 메시지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C32CACF-57EF-5839-7B3F-027CCEC7EB7C}"/>
              </a:ext>
            </a:extLst>
          </p:cNvPr>
          <p:cNvSpPr txBox="1"/>
          <p:nvPr/>
        </p:nvSpPr>
        <p:spPr>
          <a:xfrm>
            <a:off x="7918704" y="5157216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사후 기록이 아닌 월 운영 준비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23F1CFD-2286-1538-62C7-D7B55F2C93B0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EBD7F60-0952-F14E-EC12-1783B21315B3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24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5397243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DE024A3-CAE0-3E65-C6F6-24123CAD78F6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79B73EA0-540B-EE12-E88C-7C53ABBD63B0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99D5E347-1D45-3311-D8EE-CD8772108229}"/>
              </a:ext>
            </a:extLst>
          </p:cNvPr>
          <p:cNvSpPr/>
          <p:nvPr/>
        </p:nvSpPr>
        <p:spPr>
          <a:xfrm>
            <a:off x="548640" y="310896"/>
            <a:ext cx="1170432" cy="228600"/>
          </a:xfrm>
          <a:prstGeom prst="roundRect">
            <a:avLst/>
          </a:prstGeom>
          <a:solidFill>
            <a:srgbClr val="EAFB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6F70A1-BBC1-42ED-7BA2-F2690A13A549}"/>
              </a:ext>
            </a:extLst>
          </p:cNvPr>
          <p:cNvSpPr txBox="1"/>
          <p:nvPr/>
        </p:nvSpPr>
        <p:spPr>
          <a:xfrm>
            <a:off x="630936" y="338328"/>
            <a:ext cx="9601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7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SCREEN</a:t>
            </a:r>
            <a:endParaRPr lang="ko-KR" altLang="en-US" sz="7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3F55D1-7E1B-E519-371F-F8219FD72DC6}"/>
              </a:ext>
            </a:extLst>
          </p:cNvPr>
          <p:cNvSpPr txBox="1"/>
          <p:nvPr/>
        </p:nvSpPr>
        <p:spPr>
          <a:xfrm>
            <a:off x="530352" y="603504"/>
            <a:ext cx="10698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수집 거래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8161C1B3-1C05-3F97-BF89-921EAE4B89A6}"/>
              </a:ext>
            </a:extLst>
          </p:cNvPr>
          <p:cNvCxnSpPr/>
          <p:nvPr/>
        </p:nvCxnSpPr>
        <p:spPr>
          <a:xfrm>
            <a:off x="548640" y="1097280"/>
            <a:ext cx="11109960" cy="0"/>
          </a:xfrm>
          <a:prstGeom prst="line">
            <a:avLst/>
          </a:prstGeom>
          <a:ln w="15240">
            <a:solidFill>
              <a:srgbClr val="E8EDF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D668ABBD-317A-F267-9F08-5CC8A2445919}"/>
              </a:ext>
            </a:extLst>
          </p:cNvPr>
          <p:cNvSpPr/>
          <p:nvPr/>
        </p:nvSpPr>
        <p:spPr>
          <a:xfrm>
            <a:off x="548640" y="1353312"/>
            <a:ext cx="6876288" cy="4599432"/>
          </a:xfrm>
          <a:prstGeom prst="rect">
            <a:avLst/>
          </a:prstGeom>
          <a:solidFill>
            <a:srgbClr val="FFFFFF"/>
          </a:solidFill>
          <a:ln w="10160">
            <a:solidFill>
              <a:srgbClr val="94A3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EF49450-03E8-9398-6CD7-4AB0709682CA}"/>
              </a:ext>
            </a:extLst>
          </p:cNvPr>
          <p:cNvSpPr/>
          <p:nvPr/>
        </p:nvSpPr>
        <p:spPr>
          <a:xfrm>
            <a:off x="548640" y="1353312"/>
            <a:ext cx="6876288" cy="365760"/>
          </a:xfrm>
          <a:prstGeom prst="rect">
            <a:avLst/>
          </a:prstGeom>
          <a:solidFill>
            <a:srgbClr val="F1F5F9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46063329-FC29-689B-40D1-FD2D3F8F343F}"/>
              </a:ext>
            </a:extLst>
          </p:cNvPr>
          <p:cNvSpPr/>
          <p:nvPr/>
        </p:nvSpPr>
        <p:spPr>
          <a:xfrm>
            <a:off x="713232" y="1490472"/>
            <a:ext cx="82296" cy="82296"/>
          </a:xfrm>
          <a:prstGeom prst="ellipse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445EDD4C-F867-9DC2-2697-66C446E9E6C0}"/>
              </a:ext>
            </a:extLst>
          </p:cNvPr>
          <p:cNvSpPr/>
          <p:nvPr/>
        </p:nvSpPr>
        <p:spPr>
          <a:xfrm>
            <a:off x="859536" y="1490472"/>
            <a:ext cx="82296" cy="82296"/>
          </a:xfrm>
          <a:prstGeom prst="ellipse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1003617A-1698-81DE-A8B9-113AA83583DC}"/>
              </a:ext>
            </a:extLst>
          </p:cNvPr>
          <p:cNvSpPr/>
          <p:nvPr/>
        </p:nvSpPr>
        <p:spPr>
          <a:xfrm>
            <a:off x="1005840" y="1490472"/>
            <a:ext cx="82296" cy="82296"/>
          </a:xfrm>
          <a:prstGeom prst="ellipse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8B86555-2670-BBFB-A3EA-23923756B549}"/>
              </a:ext>
            </a:extLst>
          </p:cNvPr>
          <p:cNvSpPr txBox="1"/>
          <p:nvPr/>
        </p:nvSpPr>
        <p:spPr>
          <a:xfrm>
            <a:off x="1188720" y="1463040"/>
            <a:ext cx="596188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/transactions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D12308E-436A-C634-9BCD-0FB627433507}"/>
              </a:ext>
            </a:extLst>
          </p:cNvPr>
          <p:cNvSpPr txBox="1"/>
          <p:nvPr/>
        </p:nvSpPr>
        <p:spPr>
          <a:xfrm>
            <a:off x="777240" y="2084832"/>
            <a:ext cx="641908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02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캡처 삽입 영역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B4F36D0-253A-A97B-2A9D-1DD6BDDA4727}"/>
              </a:ext>
            </a:extLst>
          </p:cNvPr>
          <p:cNvSpPr txBox="1"/>
          <p:nvPr/>
        </p:nvSpPr>
        <p:spPr>
          <a:xfrm>
            <a:off x="868680" y="3470148"/>
            <a:ext cx="623620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170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08-transactions.png</a:t>
            </a:r>
            <a:endParaRPr lang="ko-KR" altLang="en-US" sz="1700" b="1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1139DF2-F8CD-CB16-2855-0A9A81AFB9B0}"/>
              </a:ext>
            </a:extLst>
          </p:cNvPr>
          <p:cNvSpPr txBox="1"/>
          <p:nvPr/>
        </p:nvSpPr>
        <p:spPr>
          <a:xfrm>
            <a:off x="1051560" y="3909060"/>
            <a:ext cx="587044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94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 영역에 실제 화면 캡처를 배치하세요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A4C61020-59D4-3D73-FB04-9103C837AFB9}"/>
              </a:ext>
            </a:extLst>
          </p:cNvPr>
          <p:cNvSpPr/>
          <p:nvPr/>
        </p:nvSpPr>
        <p:spPr>
          <a:xfrm>
            <a:off x="7754112" y="1353312"/>
            <a:ext cx="3493008" cy="329184"/>
          </a:xfrm>
          <a:prstGeom prst="roundRect">
            <a:avLst/>
          </a:prstGeom>
          <a:solidFill>
            <a:srgbClr val="EEF4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91DEEB2-3BDC-A664-5F53-FCEC5377EC85}"/>
              </a:ext>
            </a:extLst>
          </p:cNvPr>
          <p:cNvSpPr txBox="1"/>
          <p:nvPr/>
        </p:nvSpPr>
        <p:spPr>
          <a:xfrm>
            <a:off x="7882128" y="1444752"/>
            <a:ext cx="31546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85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/transactions</a:t>
            </a:r>
            <a:endParaRPr lang="ko-KR" altLang="en-US" sz="850" b="1">
              <a:solidFill>
                <a:srgbClr val="2454D9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04187135-24A6-C975-A23E-857B0D65C12D}"/>
              </a:ext>
            </a:extLst>
          </p:cNvPr>
          <p:cNvSpPr/>
          <p:nvPr/>
        </p:nvSpPr>
        <p:spPr>
          <a:xfrm>
            <a:off x="7754112" y="1847088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BD779D5F-8C02-2860-78D8-867CDD2A2DE0}"/>
              </a:ext>
            </a:extLst>
          </p:cNvPr>
          <p:cNvSpPr/>
          <p:nvPr/>
        </p:nvSpPr>
        <p:spPr>
          <a:xfrm>
            <a:off x="7754112" y="1847088"/>
            <a:ext cx="64008" cy="859536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536062D-2C65-5988-A372-056A85129664}"/>
              </a:ext>
            </a:extLst>
          </p:cNvPr>
          <p:cNvSpPr txBox="1"/>
          <p:nvPr/>
        </p:nvSpPr>
        <p:spPr>
          <a:xfrm>
            <a:off x="7918704" y="1947672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 화면의 역할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A5C1A00-D333-303D-B13E-6A30D100F859}"/>
              </a:ext>
            </a:extLst>
          </p:cNvPr>
          <p:cNvSpPr txBox="1"/>
          <p:nvPr/>
        </p:nvSpPr>
        <p:spPr>
          <a:xfrm>
            <a:off x="7918704" y="2194560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공식 전표 전 거래 검토 단계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D539E6F5-9C5A-DE93-25AF-82506AC29E96}"/>
              </a:ext>
            </a:extLst>
          </p:cNvPr>
          <p:cNvSpPr/>
          <p:nvPr/>
        </p:nvSpPr>
        <p:spPr>
          <a:xfrm>
            <a:off x="7754112" y="2834640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3AD8306C-86DA-E788-7AA0-A0661EEA5657}"/>
              </a:ext>
            </a:extLst>
          </p:cNvPr>
          <p:cNvSpPr/>
          <p:nvPr/>
        </p:nvSpPr>
        <p:spPr>
          <a:xfrm>
            <a:off x="7754112" y="2834640"/>
            <a:ext cx="64008" cy="859536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97C9DCD-8098-3E31-9959-C661EA5C04B9}"/>
              </a:ext>
            </a:extLst>
          </p:cNvPr>
          <p:cNvSpPr txBox="1"/>
          <p:nvPr/>
        </p:nvSpPr>
        <p:spPr>
          <a:xfrm>
            <a:off x="7918704" y="2935224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사용자가 하는 일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246F43F-B817-0D5A-6141-D84A359A5453}"/>
              </a:ext>
            </a:extLst>
          </p:cNvPr>
          <p:cNvSpPr txBox="1"/>
          <p:nvPr/>
        </p:nvSpPr>
        <p:spPr>
          <a:xfrm>
            <a:off x="7918704" y="3182112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금액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분류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계획 연결 후 전표 확정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4AF733AC-2894-6A5A-9798-4FD9B6FCFA6A}"/>
              </a:ext>
            </a:extLst>
          </p:cNvPr>
          <p:cNvSpPr/>
          <p:nvPr/>
        </p:nvSpPr>
        <p:spPr>
          <a:xfrm>
            <a:off x="7754112" y="3822192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A8EA5739-FFE1-00F6-B02E-F12F5EE5C7C0}"/>
              </a:ext>
            </a:extLst>
          </p:cNvPr>
          <p:cNvSpPr/>
          <p:nvPr/>
        </p:nvSpPr>
        <p:spPr>
          <a:xfrm>
            <a:off x="7754112" y="3822192"/>
            <a:ext cx="64008" cy="859536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55B3246-258B-E9A3-A9E5-EAE37A46FE13}"/>
              </a:ext>
            </a:extLst>
          </p:cNvPr>
          <p:cNvSpPr txBox="1"/>
          <p:nvPr/>
        </p:nvSpPr>
        <p:spPr>
          <a:xfrm>
            <a:off x="7918704" y="3922776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구현 포인트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CDF17FB-F49E-8D81-5B10-93638FFAC6CE}"/>
              </a:ext>
            </a:extLst>
          </p:cNvPr>
          <p:cNvSpPr txBox="1"/>
          <p:nvPr/>
        </p:nvSpPr>
        <p:spPr>
          <a:xfrm>
            <a:off x="7918704" y="4169664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수집 거래와 전표 모델 분리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8F7EC819-EBE1-6744-36B3-8CA1B7FC5AAA}"/>
              </a:ext>
            </a:extLst>
          </p:cNvPr>
          <p:cNvSpPr/>
          <p:nvPr/>
        </p:nvSpPr>
        <p:spPr>
          <a:xfrm>
            <a:off x="7754112" y="4809744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AE909DCE-2007-652E-103A-BFEC3D322DE0}"/>
              </a:ext>
            </a:extLst>
          </p:cNvPr>
          <p:cNvSpPr/>
          <p:nvPr/>
        </p:nvSpPr>
        <p:spPr>
          <a:xfrm>
            <a:off x="7754112" y="4809744"/>
            <a:ext cx="64008" cy="859536"/>
          </a:xfrm>
          <a:prstGeom prst="rect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EE6C5C7-1EC5-76BE-C512-5CE4B692D278}"/>
              </a:ext>
            </a:extLst>
          </p:cNvPr>
          <p:cNvSpPr txBox="1"/>
          <p:nvPr/>
        </p:nvSpPr>
        <p:spPr>
          <a:xfrm>
            <a:off x="7918704" y="4910328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E11D4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포트폴리오 메시지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61552B-2F33-BF99-7156-7901DC5471A2}"/>
              </a:ext>
            </a:extLst>
          </p:cNvPr>
          <p:cNvSpPr txBox="1"/>
          <p:nvPr/>
        </p:nvSpPr>
        <p:spPr>
          <a:xfrm>
            <a:off x="7918704" y="5157216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회계 상태 전이를 설계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9E97EC5-C6C1-1227-024B-5D672ABDCE79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B1D1D71-DC0E-CCF8-0625-A2DA9AA9B5F7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25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1023294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03D697D4-FE52-128E-80E7-75A045A755C1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4D547A0-E069-725E-B374-8A75CC87D1A0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88ADB0DA-29AA-9FA2-66AC-D662F5FD39F3}"/>
              </a:ext>
            </a:extLst>
          </p:cNvPr>
          <p:cNvSpPr/>
          <p:nvPr/>
        </p:nvSpPr>
        <p:spPr>
          <a:xfrm>
            <a:off x="548640" y="310896"/>
            <a:ext cx="1170432" cy="228600"/>
          </a:xfrm>
          <a:prstGeom prst="roundRect">
            <a:avLst/>
          </a:prstGeom>
          <a:solidFill>
            <a:srgbClr val="EAFB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77131F9-4692-69E6-15FC-F7534CF1268C}"/>
              </a:ext>
            </a:extLst>
          </p:cNvPr>
          <p:cNvSpPr txBox="1"/>
          <p:nvPr/>
        </p:nvSpPr>
        <p:spPr>
          <a:xfrm>
            <a:off x="630936" y="338328"/>
            <a:ext cx="9601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7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SCREEN</a:t>
            </a:r>
            <a:endParaRPr lang="ko-KR" altLang="en-US" sz="7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9AB3AAA-B804-D5D8-C10A-23E0C281D65D}"/>
              </a:ext>
            </a:extLst>
          </p:cNvPr>
          <p:cNvSpPr txBox="1"/>
          <p:nvPr/>
        </p:nvSpPr>
        <p:spPr>
          <a:xfrm>
            <a:off x="530352" y="603504"/>
            <a:ext cx="10698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업로드와 수집 처리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5EBD6255-84BA-3150-2219-F3D0C29E211A}"/>
              </a:ext>
            </a:extLst>
          </p:cNvPr>
          <p:cNvCxnSpPr/>
          <p:nvPr/>
        </p:nvCxnSpPr>
        <p:spPr>
          <a:xfrm>
            <a:off x="548640" y="1097280"/>
            <a:ext cx="11109960" cy="0"/>
          </a:xfrm>
          <a:prstGeom prst="line">
            <a:avLst/>
          </a:prstGeom>
          <a:ln w="15240">
            <a:solidFill>
              <a:srgbClr val="E8EDF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F048C916-135E-EB62-670D-D8DFF213F8B3}"/>
              </a:ext>
            </a:extLst>
          </p:cNvPr>
          <p:cNvSpPr/>
          <p:nvPr/>
        </p:nvSpPr>
        <p:spPr>
          <a:xfrm>
            <a:off x="548640" y="1353312"/>
            <a:ext cx="6876288" cy="4599432"/>
          </a:xfrm>
          <a:prstGeom prst="rect">
            <a:avLst/>
          </a:prstGeom>
          <a:solidFill>
            <a:srgbClr val="FFFFFF"/>
          </a:solidFill>
          <a:ln w="10160">
            <a:solidFill>
              <a:srgbClr val="94A3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D089C7C-062B-37AE-E132-D56E8C7BA9EE}"/>
              </a:ext>
            </a:extLst>
          </p:cNvPr>
          <p:cNvSpPr/>
          <p:nvPr/>
        </p:nvSpPr>
        <p:spPr>
          <a:xfrm>
            <a:off x="548640" y="1353312"/>
            <a:ext cx="6876288" cy="365760"/>
          </a:xfrm>
          <a:prstGeom prst="rect">
            <a:avLst/>
          </a:prstGeom>
          <a:solidFill>
            <a:srgbClr val="F1F5F9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35618747-F502-9D28-9992-24CE3A5A444D}"/>
              </a:ext>
            </a:extLst>
          </p:cNvPr>
          <p:cNvSpPr/>
          <p:nvPr/>
        </p:nvSpPr>
        <p:spPr>
          <a:xfrm>
            <a:off x="713232" y="1490472"/>
            <a:ext cx="82296" cy="82296"/>
          </a:xfrm>
          <a:prstGeom prst="ellipse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975C7138-B231-9538-7470-D9284934BB98}"/>
              </a:ext>
            </a:extLst>
          </p:cNvPr>
          <p:cNvSpPr/>
          <p:nvPr/>
        </p:nvSpPr>
        <p:spPr>
          <a:xfrm>
            <a:off x="859536" y="1490472"/>
            <a:ext cx="82296" cy="82296"/>
          </a:xfrm>
          <a:prstGeom prst="ellipse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95A5B946-2C4C-5DB7-7689-37E4EB50D1F2}"/>
              </a:ext>
            </a:extLst>
          </p:cNvPr>
          <p:cNvSpPr/>
          <p:nvPr/>
        </p:nvSpPr>
        <p:spPr>
          <a:xfrm>
            <a:off x="1005840" y="1490472"/>
            <a:ext cx="82296" cy="82296"/>
          </a:xfrm>
          <a:prstGeom prst="ellipse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6D912AE-410A-9485-5900-3187064C7A3F}"/>
              </a:ext>
            </a:extLst>
          </p:cNvPr>
          <p:cNvSpPr txBox="1"/>
          <p:nvPr/>
        </p:nvSpPr>
        <p:spPr>
          <a:xfrm>
            <a:off x="1188720" y="1463040"/>
            <a:ext cx="596188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/imports, /imports/[batchId]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33A0675-0035-434C-6266-E8C71B7C7AEF}"/>
              </a:ext>
            </a:extLst>
          </p:cNvPr>
          <p:cNvSpPr txBox="1"/>
          <p:nvPr/>
        </p:nvSpPr>
        <p:spPr>
          <a:xfrm>
            <a:off x="777240" y="2084832"/>
            <a:ext cx="641908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02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캡처 삽입 영역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AC6F42D-8489-4EB5-3EAB-7A789FE39B77}"/>
              </a:ext>
            </a:extLst>
          </p:cNvPr>
          <p:cNvSpPr txBox="1"/>
          <p:nvPr/>
        </p:nvSpPr>
        <p:spPr>
          <a:xfrm>
            <a:off x="868680" y="3470148"/>
            <a:ext cx="623620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170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09-imports.png</a:t>
            </a:r>
            <a:endParaRPr lang="ko-KR" altLang="en-US" sz="1700" b="1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00D4592-A96D-A0E2-0B76-14D256F60DA6}"/>
              </a:ext>
            </a:extLst>
          </p:cNvPr>
          <p:cNvSpPr txBox="1"/>
          <p:nvPr/>
        </p:nvSpPr>
        <p:spPr>
          <a:xfrm>
            <a:off x="1051560" y="3909060"/>
            <a:ext cx="587044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94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 영역에 실제 화면 캡처를 배치하세요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CB4487C6-E5DC-5B9C-52AD-3DC5C760B880}"/>
              </a:ext>
            </a:extLst>
          </p:cNvPr>
          <p:cNvSpPr/>
          <p:nvPr/>
        </p:nvSpPr>
        <p:spPr>
          <a:xfrm>
            <a:off x="7754112" y="1353312"/>
            <a:ext cx="3493008" cy="329184"/>
          </a:xfrm>
          <a:prstGeom prst="roundRect">
            <a:avLst/>
          </a:prstGeom>
          <a:solidFill>
            <a:srgbClr val="EEF4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5A84016-C54B-BE66-C059-A75E990EE843}"/>
              </a:ext>
            </a:extLst>
          </p:cNvPr>
          <p:cNvSpPr txBox="1"/>
          <p:nvPr/>
        </p:nvSpPr>
        <p:spPr>
          <a:xfrm>
            <a:off x="7882128" y="1444752"/>
            <a:ext cx="31546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85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/imports, /imports/[batchId]</a:t>
            </a:r>
            <a:endParaRPr lang="ko-KR" altLang="en-US" sz="850" b="1">
              <a:solidFill>
                <a:srgbClr val="2454D9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5F016E7D-E51A-2B56-7EC6-32DBB0CFF542}"/>
              </a:ext>
            </a:extLst>
          </p:cNvPr>
          <p:cNvSpPr/>
          <p:nvPr/>
        </p:nvSpPr>
        <p:spPr>
          <a:xfrm>
            <a:off x="7754112" y="1847088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F20F3623-28FE-243D-2C79-DDEF83B21B91}"/>
              </a:ext>
            </a:extLst>
          </p:cNvPr>
          <p:cNvSpPr/>
          <p:nvPr/>
        </p:nvSpPr>
        <p:spPr>
          <a:xfrm>
            <a:off x="7754112" y="1847088"/>
            <a:ext cx="64008" cy="859536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6BFB937-D41C-ABBF-03EB-0097FD5B1461}"/>
              </a:ext>
            </a:extLst>
          </p:cNvPr>
          <p:cNvSpPr txBox="1"/>
          <p:nvPr/>
        </p:nvSpPr>
        <p:spPr>
          <a:xfrm>
            <a:off x="7918704" y="1947672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 화면의 역할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13E0A47-9084-D12A-555D-6D5E6382F01E}"/>
              </a:ext>
            </a:extLst>
          </p:cNvPr>
          <p:cNvSpPr txBox="1"/>
          <p:nvPr/>
        </p:nvSpPr>
        <p:spPr>
          <a:xfrm>
            <a:off x="7918704" y="2194560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외부 원본을 거래 후보로 바꾸는 화면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230C89A0-7AB4-0048-BD1C-6D4A40773FF9}"/>
              </a:ext>
            </a:extLst>
          </p:cNvPr>
          <p:cNvSpPr/>
          <p:nvPr/>
        </p:nvSpPr>
        <p:spPr>
          <a:xfrm>
            <a:off x="7754112" y="2834640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5FFB9CB9-1BD4-5D00-C9F0-567A3DB5D2E5}"/>
              </a:ext>
            </a:extLst>
          </p:cNvPr>
          <p:cNvSpPr/>
          <p:nvPr/>
        </p:nvSpPr>
        <p:spPr>
          <a:xfrm>
            <a:off x="7754112" y="2834640"/>
            <a:ext cx="64008" cy="859536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EDAFAC8-9055-AFCE-CDD4-AF680E639D61}"/>
              </a:ext>
            </a:extLst>
          </p:cNvPr>
          <p:cNvSpPr txBox="1"/>
          <p:nvPr/>
        </p:nvSpPr>
        <p:spPr>
          <a:xfrm>
            <a:off x="7918704" y="2935224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사용자가 하는 일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42AB3BA-55B2-9CAA-19B0-23C09096E2CD}"/>
              </a:ext>
            </a:extLst>
          </p:cNvPr>
          <p:cNvSpPr txBox="1"/>
          <p:nvPr/>
        </p:nvSpPr>
        <p:spPr>
          <a:xfrm>
            <a:off x="7918704" y="3182112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행 상태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중복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일괄 수집 확인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BB6936CA-73E6-ABAE-1BC5-2465983C546C}"/>
              </a:ext>
            </a:extLst>
          </p:cNvPr>
          <p:cNvSpPr/>
          <p:nvPr/>
        </p:nvSpPr>
        <p:spPr>
          <a:xfrm>
            <a:off x="7754112" y="3822192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3C765054-C471-A933-AEFC-7DE517703CD2}"/>
              </a:ext>
            </a:extLst>
          </p:cNvPr>
          <p:cNvSpPr/>
          <p:nvPr/>
        </p:nvSpPr>
        <p:spPr>
          <a:xfrm>
            <a:off x="7754112" y="3822192"/>
            <a:ext cx="64008" cy="859536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8AB9A4B-E92D-9250-992B-A6F53DC4B17B}"/>
              </a:ext>
            </a:extLst>
          </p:cNvPr>
          <p:cNvSpPr txBox="1"/>
          <p:nvPr/>
        </p:nvSpPr>
        <p:spPr>
          <a:xfrm>
            <a:off x="7918704" y="3922776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구현 포인트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F4F4698-8143-84B9-8EE3-6C6EBDF8FCA8}"/>
              </a:ext>
            </a:extLst>
          </p:cNvPr>
          <p:cNvSpPr txBox="1"/>
          <p:nvPr/>
        </p:nvSpPr>
        <p:spPr>
          <a:xfrm>
            <a:off x="7918704" y="4169664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원본을 수집 단계로 승격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7054A240-9810-0D86-8EED-09352B8BD6A2}"/>
              </a:ext>
            </a:extLst>
          </p:cNvPr>
          <p:cNvSpPr/>
          <p:nvPr/>
        </p:nvSpPr>
        <p:spPr>
          <a:xfrm>
            <a:off x="7754112" y="4809744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687B3808-DC74-3F46-C3CC-474486A0E341}"/>
              </a:ext>
            </a:extLst>
          </p:cNvPr>
          <p:cNvSpPr/>
          <p:nvPr/>
        </p:nvSpPr>
        <p:spPr>
          <a:xfrm>
            <a:off x="7754112" y="4809744"/>
            <a:ext cx="64008" cy="859536"/>
          </a:xfrm>
          <a:prstGeom prst="rect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D463817-87B1-13C3-76BC-375D8FBDACAB}"/>
              </a:ext>
            </a:extLst>
          </p:cNvPr>
          <p:cNvSpPr txBox="1"/>
          <p:nvPr/>
        </p:nvSpPr>
        <p:spPr>
          <a:xfrm>
            <a:off x="7918704" y="4910328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E11D4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포트폴리오 메시지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EDA0785-C142-A0E7-6720-CD7BB48C1D00}"/>
              </a:ext>
            </a:extLst>
          </p:cNvPr>
          <p:cNvSpPr txBox="1"/>
          <p:nvPr/>
        </p:nvSpPr>
        <p:spPr>
          <a:xfrm>
            <a:off x="7918704" y="5157216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실제 운영 데이터 유입까지 고려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F169581-6864-3166-B2BC-A02F687EEBD7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AC007F7-E39D-C1D2-F22E-A90B00B956EA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26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5911086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22BA8624-0463-2D73-BD9E-0C6A622E8E43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CEEF7356-60B2-7846-0F6C-001B931728A5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1A8DB6E0-6385-B995-A369-F7B2F1338EB8}"/>
              </a:ext>
            </a:extLst>
          </p:cNvPr>
          <p:cNvSpPr/>
          <p:nvPr/>
        </p:nvSpPr>
        <p:spPr>
          <a:xfrm>
            <a:off x="548640" y="310896"/>
            <a:ext cx="1170432" cy="228600"/>
          </a:xfrm>
          <a:prstGeom prst="roundRect">
            <a:avLst/>
          </a:prstGeom>
          <a:solidFill>
            <a:srgbClr val="EAFB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236A4F6-FBFD-FC9F-6194-4F7969E09CB4}"/>
              </a:ext>
            </a:extLst>
          </p:cNvPr>
          <p:cNvSpPr txBox="1"/>
          <p:nvPr/>
        </p:nvSpPr>
        <p:spPr>
          <a:xfrm>
            <a:off x="630936" y="338328"/>
            <a:ext cx="9601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7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SCREEN</a:t>
            </a:r>
            <a:endParaRPr lang="ko-KR" altLang="en-US" sz="7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7ED2B89-E602-E42E-9895-9BFE39CBA005}"/>
              </a:ext>
            </a:extLst>
          </p:cNvPr>
          <p:cNvSpPr txBox="1"/>
          <p:nvPr/>
        </p:nvSpPr>
        <p:spPr>
          <a:xfrm>
            <a:off x="530352" y="603504"/>
            <a:ext cx="10698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전표 조회와 정정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0A228BD0-CE2A-4F69-F8B4-0FD71C4C94F7}"/>
              </a:ext>
            </a:extLst>
          </p:cNvPr>
          <p:cNvCxnSpPr/>
          <p:nvPr/>
        </p:nvCxnSpPr>
        <p:spPr>
          <a:xfrm>
            <a:off x="548640" y="1097280"/>
            <a:ext cx="11109960" cy="0"/>
          </a:xfrm>
          <a:prstGeom prst="line">
            <a:avLst/>
          </a:prstGeom>
          <a:ln w="15240">
            <a:solidFill>
              <a:srgbClr val="E8EDF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6D5AFB5D-DAB2-6714-3193-50B984D80E14}"/>
              </a:ext>
            </a:extLst>
          </p:cNvPr>
          <p:cNvSpPr/>
          <p:nvPr/>
        </p:nvSpPr>
        <p:spPr>
          <a:xfrm>
            <a:off x="548640" y="1353312"/>
            <a:ext cx="6876288" cy="4599432"/>
          </a:xfrm>
          <a:prstGeom prst="rect">
            <a:avLst/>
          </a:prstGeom>
          <a:solidFill>
            <a:srgbClr val="FFFFFF"/>
          </a:solidFill>
          <a:ln w="10160">
            <a:solidFill>
              <a:srgbClr val="94A3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5903189-5578-5E81-EE78-B2F27A07DFF0}"/>
              </a:ext>
            </a:extLst>
          </p:cNvPr>
          <p:cNvSpPr/>
          <p:nvPr/>
        </p:nvSpPr>
        <p:spPr>
          <a:xfrm>
            <a:off x="548640" y="1353312"/>
            <a:ext cx="6876288" cy="365760"/>
          </a:xfrm>
          <a:prstGeom prst="rect">
            <a:avLst/>
          </a:prstGeom>
          <a:solidFill>
            <a:srgbClr val="F1F5F9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DD275C71-C423-F648-352A-84E0EBD091EC}"/>
              </a:ext>
            </a:extLst>
          </p:cNvPr>
          <p:cNvSpPr/>
          <p:nvPr/>
        </p:nvSpPr>
        <p:spPr>
          <a:xfrm>
            <a:off x="713232" y="1490472"/>
            <a:ext cx="82296" cy="82296"/>
          </a:xfrm>
          <a:prstGeom prst="ellipse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F5DB0489-4CEB-D1F2-2385-2DEF3C2FBDB7}"/>
              </a:ext>
            </a:extLst>
          </p:cNvPr>
          <p:cNvSpPr/>
          <p:nvPr/>
        </p:nvSpPr>
        <p:spPr>
          <a:xfrm>
            <a:off x="859536" y="1490472"/>
            <a:ext cx="82296" cy="82296"/>
          </a:xfrm>
          <a:prstGeom prst="ellipse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62B2D384-0D4C-CA01-CAEA-4B3875E20B38}"/>
              </a:ext>
            </a:extLst>
          </p:cNvPr>
          <p:cNvSpPr/>
          <p:nvPr/>
        </p:nvSpPr>
        <p:spPr>
          <a:xfrm>
            <a:off x="1005840" y="1490472"/>
            <a:ext cx="82296" cy="82296"/>
          </a:xfrm>
          <a:prstGeom prst="ellipse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996C0AA-C574-22BE-961F-33E4A463C159}"/>
              </a:ext>
            </a:extLst>
          </p:cNvPr>
          <p:cNvSpPr txBox="1"/>
          <p:nvPr/>
        </p:nvSpPr>
        <p:spPr>
          <a:xfrm>
            <a:off x="1188720" y="1463040"/>
            <a:ext cx="596188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/journal-entries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DF96FF0-D958-7B49-071B-B218AFB9BC1F}"/>
              </a:ext>
            </a:extLst>
          </p:cNvPr>
          <p:cNvSpPr txBox="1"/>
          <p:nvPr/>
        </p:nvSpPr>
        <p:spPr>
          <a:xfrm>
            <a:off x="777240" y="2084832"/>
            <a:ext cx="641908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02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캡처 삽입 영역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C208E33-B1B0-876A-39F2-81926D64A92C}"/>
              </a:ext>
            </a:extLst>
          </p:cNvPr>
          <p:cNvSpPr txBox="1"/>
          <p:nvPr/>
        </p:nvSpPr>
        <p:spPr>
          <a:xfrm>
            <a:off x="868680" y="3470148"/>
            <a:ext cx="623620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170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10-journal-entries.png</a:t>
            </a:r>
            <a:endParaRPr lang="ko-KR" altLang="en-US" sz="1700" b="1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7F5D624-7201-0E48-3270-C906D11D6E14}"/>
              </a:ext>
            </a:extLst>
          </p:cNvPr>
          <p:cNvSpPr txBox="1"/>
          <p:nvPr/>
        </p:nvSpPr>
        <p:spPr>
          <a:xfrm>
            <a:off x="1051560" y="3909060"/>
            <a:ext cx="587044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94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 영역에 실제 화면 캡처를 배치하세요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E80C07FE-15CA-078C-5036-2AF182F7EF36}"/>
              </a:ext>
            </a:extLst>
          </p:cNvPr>
          <p:cNvSpPr/>
          <p:nvPr/>
        </p:nvSpPr>
        <p:spPr>
          <a:xfrm>
            <a:off x="7754112" y="1353312"/>
            <a:ext cx="3493008" cy="329184"/>
          </a:xfrm>
          <a:prstGeom prst="roundRect">
            <a:avLst/>
          </a:prstGeom>
          <a:solidFill>
            <a:srgbClr val="EEF4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452D4DE-BBA4-ECD9-0E6B-F6E7BFB8EF3E}"/>
              </a:ext>
            </a:extLst>
          </p:cNvPr>
          <p:cNvSpPr txBox="1"/>
          <p:nvPr/>
        </p:nvSpPr>
        <p:spPr>
          <a:xfrm>
            <a:off x="7882128" y="1444752"/>
            <a:ext cx="31546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85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/journal-entries</a:t>
            </a:r>
            <a:endParaRPr lang="ko-KR" altLang="en-US" sz="850" b="1">
              <a:solidFill>
                <a:srgbClr val="2454D9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81A0DD56-5FDB-712D-E2A2-A78A660F99D6}"/>
              </a:ext>
            </a:extLst>
          </p:cNvPr>
          <p:cNvSpPr/>
          <p:nvPr/>
        </p:nvSpPr>
        <p:spPr>
          <a:xfrm>
            <a:off x="7754112" y="1847088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FF6EFE8A-619F-A2AA-62CF-3B73AF0028A9}"/>
              </a:ext>
            </a:extLst>
          </p:cNvPr>
          <p:cNvSpPr/>
          <p:nvPr/>
        </p:nvSpPr>
        <p:spPr>
          <a:xfrm>
            <a:off x="7754112" y="1847088"/>
            <a:ext cx="64008" cy="859536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A4E0C6A-66E8-70A9-7BE5-8200FFB6DA8A}"/>
              </a:ext>
            </a:extLst>
          </p:cNvPr>
          <p:cNvSpPr txBox="1"/>
          <p:nvPr/>
        </p:nvSpPr>
        <p:spPr>
          <a:xfrm>
            <a:off x="7918704" y="1947672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 화면의 역할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81614EA-AAF0-CAE0-1A0E-E9DE42F66AC0}"/>
              </a:ext>
            </a:extLst>
          </p:cNvPr>
          <p:cNvSpPr txBox="1"/>
          <p:nvPr/>
        </p:nvSpPr>
        <p:spPr>
          <a:xfrm>
            <a:off x="7918704" y="2194560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마감과 보고의 기준인 공식 기록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C439AF39-26D8-AE3F-099F-79C72688C7D7}"/>
              </a:ext>
            </a:extLst>
          </p:cNvPr>
          <p:cNvSpPr/>
          <p:nvPr/>
        </p:nvSpPr>
        <p:spPr>
          <a:xfrm>
            <a:off x="7754112" y="2834640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AE4BE439-8DBB-8FBD-F31C-2C5A2B447D68}"/>
              </a:ext>
            </a:extLst>
          </p:cNvPr>
          <p:cNvSpPr/>
          <p:nvPr/>
        </p:nvSpPr>
        <p:spPr>
          <a:xfrm>
            <a:off x="7754112" y="2834640"/>
            <a:ext cx="64008" cy="859536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49DED7B-F3D6-6AF2-6E55-02DB4C0A579F}"/>
              </a:ext>
            </a:extLst>
          </p:cNvPr>
          <p:cNvSpPr txBox="1"/>
          <p:nvPr/>
        </p:nvSpPr>
        <p:spPr>
          <a:xfrm>
            <a:off x="7918704" y="2935224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사용자가 하는 일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53A94F1-9D07-D3B0-038C-59E9A79557B3}"/>
              </a:ext>
            </a:extLst>
          </p:cNvPr>
          <p:cNvSpPr txBox="1"/>
          <p:nvPr/>
        </p:nvSpPr>
        <p:spPr>
          <a:xfrm>
            <a:off x="7918704" y="3182112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전표 번호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라인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반전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정정 확인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D8E2BD78-7F03-35CB-CC25-F1FD6B9DEA27}"/>
              </a:ext>
            </a:extLst>
          </p:cNvPr>
          <p:cNvSpPr/>
          <p:nvPr/>
        </p:nvSpPr>
        <p:spPr>
          <a:xfrm>
            <a:off x="7754112" y="3822192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90913837-042C-7949-99BC-ECBBB9F0CDAA}"/>
              </a:ext>
            </a:extLst>
          </p:cNvPr>
          <p:cNvSpPr/>
          <p:nvPr/>
        </p:nvSpPr>
        <p:spPr>
          <a:xfrm>
            <a:off x="7754112" y="3822192"/>
            <a:ext cx="64008" cy="859536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15B09EB-A5DC-F7C2-0307-B1C4161F15AE}"/>
              </a:ext>
            </a:extLst>
          </p:cNvPr>
          <p:cNvSpPr txBox="1"/>
          <p:nvPr/>
        </p:nvSpPr>
        <p:spPr>
          <a:xfrm>
            <a:off x="7918704" y="3922776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구현 포인트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23D90B9-16F8-0A56-681B-47A3BEE6B395}"/>
              </a:ext>
            </a:extLst>
          </p:cNvPr>
          <p:cNvSpPr txBox="1"/>
          <p:nvPr/>
        </p:nvSpPr>
        <p:spPr>
          <a:xfrm>
            <a:off x="7918704" y="4169664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확정 후 수정은 반전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정정으로 추적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5D4926C1-D2E9-5DB4-2544-7C85DA7C68CD}"/>
              </a:ext>
            </a:extLst>
          </p:cNvPr>
          <p:cNvSpPr/>
          <p:nvPr/>
        </p:nvSpPr>
        <p:spPr>
          <a:xfrm>
            <a:off x="7754112" y="4809744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356F6978-71DD-835B-0D1F-09F1BDB1D616}"/>
              </a:ext>
            </a:extLst>
          </p:cNvPr>
          <p:cNvSpPr/>
          <p:nvPr/>
        </p:nvSpPr>
        <p:spPr>
          <a:xfrm>
            <a:off x="7754112" y="4809744"/>
            <a:ext cx="64008" cy="859536"/>
          </a:xfrm>
          <a:prstGeom prst="rect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0CEB731-A711-C6DD-68AB-625777DFF117}"/>
              </a:ext>
            </a:extLst>
          </p:cNvPr>
          <p:cNvSpPr txBox="1"/>
          <p:nvPr/>
        </p:nvSpPr>
        <p:spPr>
          <a:xfrm>
            <a:off x="7918704" y="4910328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E11D4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포트폴리오 메시지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94BB83C-83BD-0AC5-0863-A8BCD5F81881}"/>
              </a:ext>
            </a:extLst>
          </p:cNvPr>
          <p:cNvSpPr txBox="1"/>
          <p:nvPr/>
        </p:nvSpPr>
        <p:spPr>
          <a:xfrm>
            <a:off x="7918704" y="5157216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회계 경계를 화면으로 설명 가능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B2D8B60-42EC-44A6-BD26-990E6B062137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9F18196-7ED5-C382-E183-38C9DF67E72E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27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9857920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7C4D7D0F-FC8F-F8D0-B00E-50527BE57760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7E93BA38-5441-AFE9-9676-4618A7A1A3AA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6756B14D-B8A5-F9F1-6C43-3655D262E308}"/>
              </a:ext>
            </a:extLst>
          </p:cNvPr>
          <p:cNvSpPr/>
          <p:nvPr/>
        </p:nvSpPr>
        <p:spPr>
          <a:xfrm>
            <a:off x="548640" y="310896"/>
            <a:ext cx="1170432" cy="228600"/>
          </a:xfrm>
          <a:prstGeom prst="roundRect">
            <a:avLst/>
          </a:prstGeom>
          <a:solidFill>
            <a:srgbClr val="EAFB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E73E21B-70D7-775E-081C-AA25B0B75C91}"/>
              </a:ext>
            </a:extLst>
          </p:cNvPr>
          <p:cNvSpPr txBox="1"/>
          <p:nvPr/>
        </p:nvSpPr>
        <p:spPr>
          <a:xfrm>
            <a:off x="630936" y="338328"/>
            <a:ext cx="9601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7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SCREEN</a:t>
            </a:r>
            <a:endParaRPr lang="ko-KR" altLang="en-US" sz="7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75C4713-34A4-3AAA-1ECF-A842D9FDA009}"/>
              </a:ext>
            </a:extLst>
          </p:cNvPr>
          <p:cNvSpPr txBox="1"/>
          <p:nvPr/>
        </p:nvSpPr>
        <p:spPr>
          <a:xfrm>
            <a:off x="530352" y="603504"/>
            <a:ext cx="10698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월 마감과 재무제표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F616CC68-3D87-7A33-A042-08D2F0E8EB3D}"/>
              </a:ext>
            </a:extLst>
          </p:cNvPr>
          <p:cNvCxnSpPr/>
          <p:nvPr/>
        </p:nvCxnSpPr>
        <p:spPr>
          <a:xfrm>
            <a:off x="548640" y="1097280"/>
            <a:ext cx="11109960" cy="0"/>
          </a:xfrm>
          <a:prstGeom prst="line">
            <a:avLst/>
          </a:prstGeom>
          <a:ln w="15240">
            <a:solidFill>
              <a:srgbClr val="E8EDF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6ACEA2BB-E78A-2F03-C9B2-4AA07BEAFA94}"/>
              </a:ext>
            </a:extLst>
          </p:cNvPr>
          <p:cNvSpPr/>
          <p:nvPr/>
        </p:nvSpPr>
        <p:spPr>
          <a:xfrm>
            <a:off x="548640" y="1353312"/>
            <a:ext cx="6876288" cy="4599432"/>
          </a:xfrm>
          <a:prstGeom prst="rect">
            <a:avLst/>
          </a:prstGeom>
          <a:solidFill>
            <a:srgbClr val="FFFFFF"/>
          </a:solidFill>
          <a:ln w="10160">
            <a:solidFill>
              <a:srgbClr val="94A3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FFA04F7A-955B-2947-6C2E-C1F4376FE562}"/>
              </a:ext>
            </a:extLst>
          </p:cNvPr>
          <p:cNvSpPr/>
          <p:nvPr/>
        </p:nvSpPr>
        <p:spPr>
          <a:xfrm>
            <a:off x="548640" y="1353312"/>
            <a:ext cx="6876288" cy="365760"/>
          </a:xfrm>
          <a:prstGeom prst="rect">
            <a:avLst/>
          </a:prstGeom>
          <a:solidFill>
            <a:srgbClr val="F1F5F9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CFFCB929-4860-1366-48B7-5E05163C470A}"/>
              </a:ext>
            </a:extLst>
          </p:cNvPr>
          <p:cNvSpPr/>
          <p:nvPr/>
        </p:nvSpPr>
        <p:spPr>
          <a:xfrm>
            <a:off x="713232" y="1490472"/>
            <a:ext cx="82296" cy="82296"/>
          </a:xfrm>
          <a:prstGeom prst="ellipse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CD1B50BA-7C60-900D-852A-CB190996F3FA}"/>
              </a:ext>
            </a:extLst>
          </p:cNvPr>
          <p:cNvSpPr/>
          <p:nvPr/>
        </p:nvSpPr>
        <p:spPr>
          <a:xfrm>
            <a:off x="859536" y="1490472"/>
            <a:ext cx="82296" cy="82296"/>
          </a:xfrm>
          <a:prstGeom prst="ellipse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67E8C354-8D72-A0A0-F795-977D6CA5697F}"/>
              </a:ext>
            </a:extLst>
          </p:cNvPr>
          <p:cNvSpPr/>
          <p:nvPr/>
        </p:nvSpPr>
        <p:spPr>
          <a:xfrm>
            <a:off x="1005840" y="1490472"/>
            <a:ext cx="82296" cy="82296"/>
          </a:xfrm>
          <a:prstGeom prst="ellipse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2443591-FA65-DA5F-97F2-A59CC72F9BF9}"/>
              </a:ext>
            </a:extLst>
          </p:cNvPr>
          <p:cNvSpPr txBox="1"/>
          <p:nvPr/>
        </p:nvSpPr>
        <p:spPr>
          <a:xfrm>
            <a:off x="1188720" y="1463040"/>
            <a:ext cx="596188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/periods, /financial-statements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8FFE8A4-0250-2ED2-478E-1E332099201D}"/>
              </a:ext>
            </a:extLst>
          </p:cNvPr>
          <p:cNvSpPr txBox="1"/>
          <p:nvPr/>
        </p:nvSpPr>
        <p:spPr>
          <a:xfrm>
            <a:off x="777240" y="2084832"/>
            <a:ext cx="641908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02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캡처 삽입 영역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C05D9F7-C536-67E5-902F-A81CCB57CBFE}"/>
              </a:ext>
            </a:extLst>
          </p:cNvPr>
          <p:cNvSpPr txBox="1"/>
          <p:nvPr/>
        </p:nvSpPr>
        <p:spPr>
          <a:xfrm>
            <a:off x="868680" y="3470148"/>
            <a:ext cx="623620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170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11-periods-financial-statements.png</a:t>
            </a:r>
            <a:endParaRPr lang="ko-KR" altLang="en-US" sz="1700" b="1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C0D1AE3-A154-E071-DEF7-AEFB5537E248}"/>
              </a:ext>
            </a:extLst>
          </p:cNvPr>
          <p:cNvSpPr txBox="1"/>
          <p:nvPr/>
        </p:nvSpPr>
        <p:spPr>
          <a:xfrm>
            <a:off x="1051560" y="3909060"/>
            <a:ext cx="587044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94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 영역에 실제 화면 캡처를 배치하세요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889C62B6-10AD-362E-FC3A-9433DE734E43}"/>
              </a:ext>
            </a:extLst>
          </p:cNvPr>
          <p:cNvSpPr/>
          <p:nvPr/>
        </p:nvSpPr>
        <p:spPr>
          <a:xfrm>
            <a:off x="7754112" y="1353312"/>
            <a:ext cx="3493008" cy="329184"/>
          </a:xfrm>
          <a:prstGeom prst="roundRect">
            <a:avLst/>
          </a:prstGeom>
          <a:solidFill>
            <a:srgbClr val="EEF4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4AEA563-1AE8-72D1-A31D-5694F07AEF54}"/>
              </a:ext>
            </a:extLst>
          </p:cNvPr>
          <p:cNvSpPr txBox="1"/>
          <p:nvPr/>
        </p:nvSpPr>
        <p:spPr>
          <a:xfrm>
            <a:off x="7882128" y="1444752"/>
            <a:ext cx="315468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85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/periods, /financial-statements</a:t>
            </a:r>
            <a:endParaRPr lang="ko-KR" altLang="en-US" sz="850" b="1">
              <a:solidFill>
                <a:srgbClr val="2454D9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411300F9-B623-E38D-8473-664867229702}"/>
              </a:ext>
            </a:extLst>
          </p:cNvPr>
          <p:cNvSpPr/>
          <p:nvPr/>
        </p:nvSpPr>
        <p:spPr>
          <a:xfrm>
            <a:off x="7754112" y="1847088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4B68BC64-ABF3-D69B-DF13-F2806B9776E9}"/>
              </a:ext>
            </a:extLst>
          </p:cNvPr>
          <p:cNvSpPr/>
          <p:nvPr/>
        </p:nvSpPr>
        <p:spPr>
          <a:xfrm>
            <a:off x="7754112" y="1847088"/>
            <a:ext cx="64008" cy="859536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497EAE3-B1ED-4610-CBAF-1C03C5BC4F1C}"/>
              </a:ext>
            </a:extLst>
          </p:cNvPr>
          <p:cNvSpPr txBox="1"/>
          <p:nvPr/>
        </p:nvSpPr>
        <p:spPr>
          <a:xfrm>
            <a:off x="7918704" y="1947672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 화면의 역할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2DA6337-68EA-359D-76AD-A3D83FFF1EEA}"/>
              </a:ext>
            </a:extLst>
          </p:cNvPr>
          <p:cNvSpPr txBox="1"/>
          <p:nvPr/>
        </p:nvSpPr>
        <p:spPr>
          <a:xfrm>
            <a:off x="7918704" y="2194560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월 운영을 닫고 보고서로 남기는 화면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F9885F27-8DE0-FFB4-38A1-9A2E56FF65E8}"/>
              </a:ext>
            </a:extLst>
          </p:cNvPr>
          <p:cNvSpPr/>
          <p:nvPr/>
        </p:nvSpPr>
        <p:spPr>
          <a:xfrm>
            <a:off x="7754112" y="2834640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93CDDB81-93E3-3291-5434-465647F83579}"/>
              </a:ext>
            </a:extLst>
          </p:cNvPr>
          <p:cNvSpPr/>
          <p:nvPr/>
        </p:nvSpPr>
        <p:spPr>
          <a:xfrm>
            <a:off x="7754112" y="2834640"/>
            <a:ext cx="64008" cy="859536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0BFF5AD-AE95-670D-E36A-851FA191427A}"/>
              </a:ext>
            </a:extLst>
          </p:cNvPr>
          <p:cNvSpPr txBox="1"/>
          <p:nvPr/>
        </p:nvSpPr>
        <p:spPr>
          <a:xfrm>
            <a:off x="7918704" y="2935224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사용자가 하는 일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04D488A-6042-38CA-642F-E02053839201}"/>
              </a:ext>
            </a:extLst>
          </p:cNvPr>
          <p:cNvSpPr txBox="1"/>
          <p:nvPr/>
        </p:nvSpPr>
        <p:spPr>
          <a:xfrm>
            <a:off x="7918704" y="3182112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마감 조건과 재무제표 스냅샷 확인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DA7A3E73-27FD-3EEB-7580-E991B616C914}"/>
              </a:ext>
            </a:extLst>
          </p:cNvPr>
          <p:cNvSpPr/>
          <p:nvPr/>
        </p:nvSpPr>
        <p:spPr>
          <a:xfrm>
            <a:off x="7754112" y="3822192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A565233E-1F88-94EC-D07C-5024FF3C8799}"/>
              </a:ext>
            </a:extLst>
          </p:cNvPr>
          <p:cNvSpPr/>
          <p:nvPr/>
        </p:nvSpPr>
        <p:spPr>
          <a:xfrm>
            <a:off x="7754112" y="3822192"/>
            <a:ext cx="64008" cy="859536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3BCF910-585D-8BF4-F36E-4515A2028FF4}"/>
              </a:ext>
            </a:extLst>
          </p:cNvPr>
          <p:cNvSpPr txBox="1"/>
          <p:nvPr/>
        </p:nvSpPr>
        <p:spPr>
          <a:xfrm>
            <a:off x="7918704" y="3922776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구현 포인트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06B3F27-D0D0-9DD0-CF97-142219576A34}"/>
              </a:ext>
            </a:extLst>
          </p:cNvPr>
          <p:cNvSpPr txBox="1"/>
          <p:nvPr/>
        </p:nvSpPr>
        <p:spPr>
          <a:xfrm>
            <a:off x="7918704" y="4169664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잠긴 운영 기간과 재무제표 스냅샷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034DE229-0838-3240-7E67-954E3B3D9814}"/>
              </a:ext>
            </a:extLst>
          </p:cNvPr>
          <p:cNvSpPr/>
          <p:nvPr/>
        </p:nvSpPr>
        <p:spPr>
          <a:xfrm>
            <a:off x="7754112" y="4809744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03443C7E-C8C9-DB2A-0A1E-0DA4C710C647}"/>
              </a:ext>
            </a:extLst>
          </p:cNvPr>
          <p:cNvSpPr/>
          <p:nvPr/>
        </p:nvSpPr>
        <p:spPr>
          <a:xfrm>
            <a:off x="7754112" y="4809744"/>
            <a:ext cx="64008" cy="859536"/>
          </a:xfrm>
          <a:prstGeom prst="rect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483F16A-53A7-1E6A-D63F-887521FEE0E2}"/>
              </a:ext>
            </a:extLst>
          </p:cNvPr>
          <p:cNvSpPr txBox="1"/>
          <p:nvPr/>
        </p:nvSpPr>
        <p:spPr>
          <a:xfrm>
            <a:off x="7918704" y="4910328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E11D4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포트폴리오 메시지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CA8260C-49E5-8AA3-9993-7BCCFE452651}"/>
              </a:ext>
            </a:extLst>
          </p:cNvPr>
          <p:cNvSpPr txBox="1"/>
          <p:nvPr/>
        </p:nvSpPr>
        <p:spPr>
          <a:xfrm>
            <a:off x="7918704" y="5157216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월 운영 마감 흐름을 직접 증명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65DFDB2-5AE7-26FF-73CE-E6D658E5FE4D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708A10F-74A1-24D7-F7A5-02D6E60D700F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28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0714338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67F569E1-14F9-B7B1-6FC1-5ADE45C3C809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31A88BFB-55BE-D674-DAEB-871C915F123C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29AE66E-73EF-7648-7F1C-2548F3036701}"/>
              </a:ext>
            </a:extLst>
          </p:cNvPr>
          <p:cNvSpPr/>
          <p:nvPr/>
        </p:nvSpPr>
        <p:spPr>
          <a:xfrm>
            <a:off x="548640" y="310896"/>
            <a:ext cx="1170432" cy="228600"/>
          </a:xfrm>
          <a:prstGeom prst="roundRect">
            <a:avLst/>
          </a:prstGeom>
          <a:solidFill>
            <a:srgbClr val="EAFB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76809D-C3D3-FFE1-41F5-23ABBA36D258}"/>
              </a:ext>
            </a:extLst>
          </p:cNvPr>
          <p:cNvSpPr txBox="1"/>
          <p:nvPr/>
        </p:nvSpPr>
        <p:spPr>
          <a:xfrm>
            <a:off x="630936" y="338328"/>
            <a:ext cx="9601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7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SCREEN</a:t>
            </a:r>
            <a:endParaRPr lang="ko-KR" altLang="en-US" sz="7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16A60C2-04FB-CE5E-C155-1EAD69EEC80E}"/>
              </a:ext>
            </a:extLst>
          </p:cNvPr>
          <p:cNvSpPr txBox="1"/>
          <p:nvPr/>
        </p:nvSpPr>
        <p:spPr>
          <a:xfrm>
            <a:off x="530352" y="603504"/>
            <a:ext cx="10698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차기 이월과 전망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D5B77CB9-AC12-4217-F9F2-F515156911BB}"/>
              </a:ext>
            </a:extLst>
          </p:cNvPr>
          <p:cNvCxnSpPr/>
          <p:nvPr/>
        </p:nvCxnSpPr>
        <p:spPr>
          <a:xfrm>
            <a:off x="548640" y="1097280"/>
            <a:ext cx="11109960" cy="0"/>
          </a:xfrm>
          <a:prstGeom prst="line">
            <a:avLst/>
          </a:prstGeom>
          <a:ln w="15240">
            <a:solidFill>
              <a:srgbClr val="E8EDF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17D83555-BB47-664C-5E3C-D050EAE83E0B}"/>
              </a:ext>
            </a:extLst>
          </p:cNvPr>
          <p:cNvSpPr/>
          <p:nvPr/>
        </p:nvSpPr>
        <p:spPr>
          <a:xfrm>
            <a:off x="548640" y="1353312"/>
            <a:ext cx="6876288" cy="4599432"/>
          </a:xfrm>
          <a:prstGeom prst="rect">
            <a:avLst/>
          </a:prstGeom>
          <a:solidFill>
            <a:srgbClr val="FFFFFF"/>
          </a:solidFill>
          <a:ln w="10160">
            <a:solidFill>
              <a:srgbClr val="94A3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1C11B24-1811-FDE5-A07A-BB7A3C528C51}"/>
              </a:ext>
            </a:extLst>
          </p:cNvPr>
          <p:cNvSpPr/>
          <p:nvPr/>
        </p:nvSpPr>
        <p:spPr>
          <a:xfrm>
            <a:off x="548640" y="1353312"/>
            <a:ext cx="6876288" cy="365760"/>
          </a:xfrm>
          <a:prstGeom prst="rect">
            <a:avLst/>
          </a:prstGeom>
          <a:solidFill>
            <a:srgbClr val="F1F5F9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C89D73C2-136E-64B0-2A77-5AD92D6ED0B0}"/>
              </a:ext>
            </a:extLst>
          </p:cNvPr>
          <p:cNvSpPr/>
          <p:nvPr/>
        </p:nvSpPr>
        <p:spPr>
          <a:xfrm>
            <a:off x="713232" y="1490472"/>
            <a:ext cx="82296" cy="82296"/>
          </a:xfrm>
          <a:prstGeom prst="ellipse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659B6342-4271-3343-8045-9C3FE494D5E1}"/>
              </a:ext>
            </a:extLst>
          </p:cNvPr>
          <p:cNvSpPr/>
          <p:nvPr/>
        </p:nvSpPr>
        <p:spPr>
          <a:xfrm>
            <a:off x="859536" y="1490472"/>
            <a:ext cx="82296" cy="82296"/>
          </a:xfrm>
          <a:prstGeom prst="ellipse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B480EFE4-2E02-BE74-6BBE-275577AD70AC}"/>
              </a:ext>
            </a:extLst>
          </p:cNvPr>
          <p:cNvSpPr/>
          <p:nvPr/>
        </p:nvSpPr>
        <p:spPr>
          <a:xfrm>
            <a:off x="1005840" y="1490472"/>
            <a:ext cx="82296" cy="82296"/>
          </a:xfrm>
          <a:prstGeom prst="ellipse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E5FEBB-59F3-311A-A604-8C2F61876DCA}"/>
              </a:ext>
            </a:extLst>
          </p:cNvPr>
          <p:cNvSpPr txBox="1"/>
          <p:nvPr/>
        </p:nvSpPr>
        <p:spPr>
          <a:xfrm>
            <a:off x="1188720" y="1463040"/>
            <a:ext cx="596188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/carry-forwards, /forecast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4220C0C-D4A3-7309-59D4-240B9B3736FF}"/>
              </a:ext>
            </a:extLst>
          </p:cNvPr>
          <p:cNvSpPr txBox="1"/>
          <p:nvPr/>
        </p:nvSpPr>
        <p:spPr>
          <a:xfrm>
            <a:off x="777240" y="2084832"/>
            <a:ext cx="641908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02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캡처 삽입 영역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C295A6C-9B66-E9FA-F7B7-43FF72421B37}"/>
              </a:ext>
            </a:extLst>
          </p:cNvPr>
          <p:cNvSpPr txBox="1"/>
          <p:nvPr/>
        </p:nvSpPr>
        <p:spPr>
          <a:xfrm>
            <a:off x="868680" y="3470148"/>
            <a:ext cx="623620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170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13-carry-forwards-forecast.png</a:t>
            </a:r>
            <a:endParaRPr lang="ko-KR" altLang="en-US" sz="1700" b="1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879E979-9E97-D384-B55D-CB2EF2C1287B}"/>
              </a:ext>
            </a:extLst>
          </p:cNvPr>
          <p:cNvSpPr txBox="1"/>
          <p:nvPr/>
        </p:nvSpPr>
        <p:spPr>
          <a:xfrm>
            <a:off x="1051560" y="3909060"/>
            <a:ext cx="587044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94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 영역에 실제 화면 캡처를 배치하세요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5300BAA8-ED1E-264C-119F-A4B8D89F0DB0}"/>
              </a:ext>
            </a:extLst>
          </p:cNvPr>
          <p:cNvSpPr/>
          <p:nvPr/>
        </p:nvSpPr>
        <p:spPr>
          <a:xfrm>
            <a:off x="7754112" y="1353312"/>
            <a:ext cx="3493008" cy="329184"/>
          </a:xfrm>
          <a:prstGeom prst="roundRect">
            <a:avLst/>
          </a:prstGeom>
          <a:solidFill>
            <a:srgbClr val="EEF4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CCAC543-D452-B5C4-8029-ABF9977F8F5E}"/>
              </a:ext>
            </a:extLst>
          </p:cNvPr>
          <p:cNvSpPr txBox="1"/>
          <p:nvPr/>
        </p:nvSpPr>
        <p:spPr>
          <a:xfrm>
            <a:off x="7882128" y="1444752"/>
            <a:ext cx="31546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85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/carry-forwards, /forecast</a:t>
            </a:r>
            <a:endParaRPr lang="ko-KR" altLang="en-US" sz="850" b="1">
              <a:solidFill>
                <a:srgbClr val="2454D9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E8CA5EF1-0B98-1101-3134-612A292320FF}"/>
              </a:ext>
            </a:extLst>
          </p:cNvPr>
          <p:cNvSpPr/>
          <p:nvPr/>
        </p:nvSpPr>
        <p:spPr>
          <a:xfrm>
            <a:off x="7754112" y="1847088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166C1CCF-4C41-F233-35FF-502E4EB7A974}"/>
              </a:ext>
            </a:extLst>
          </p:cNvPr>
          <p:cNvSpPr/>
          <p:nvPr/>
        </p:nvSpPr>
        <p:spPr>
          <a:xfrm>
            <a:off x="7754112" y="1847088"/>
            <a:ext cx="64008" cy="859536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0AC9ED8-F510-3479-9686-B2FF6737A2C0}"/>
              </a:ext>
            </a:extLst>
          </p:cNvPr>
          <p:cNvSpPr txBox="1"/>
          <p:nvPr/>
        </p:nvSpPr>
        <p:spPr>
          <a:xfrm>
            <a:off x="7918704" y="1947672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 화면의 역할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5888669-2EC9-DE01-7624-EAA5CBB247EA}"/>
              </a:ext>
            </a:extLst>
          </p:cNvPr>
          <p:cNvSpPr txBox="1"/>
          <p:nvPr/>
        </p:nvSpPr>
        <p:spPr>
          <a:xfrm>
            <a:off x="7918704" y="2194560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마감 결과를 다음 월 시작점으로 연결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BED11452-5AC3-7E2E-DAFD-1BB330C94253}"/>
              </a:ext>
            </a:extLst>
          </p:cNvPr>
          <p:cNvSpPr/>
          <p:nvPr/>
        </p:nvSpPr>
        <p:spPr>
          <a:xfrm>
            <a:off x="7754112" y="2834640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CCEC2F71-42EE-B399-B436-693B31D5D749}"/>
              </a:ext>
            </a:extLst>
          </p:cNvPr>
          <p:cNvSpPr/>
          <p:nvPr/>
        </p:nvSpPr>
        <p:spPr>
          <a:xfrm>
            <a:off x="7754112" y="2834640"/>
            <a:ext cx="64008" cy="859536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5662EBA-C8F0-88C9-A040-18BBA1A712CD}"/>
              </a:ext>
            </a:extLst>
          </p:cNvPr>
          <p:cNvSpPr txBox="1"/>
          <p:nvPr/>
        </p:nvSpPr>
        <p:spPr>
          <a:xfrm>
            <a:off x="7918704" y="2935224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사용자가 하는 일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43608F5-E0EE-88A3-00AF-5846D5A273B2}"/>
              </a:ext>
            </a:extLst>
          </p:cNvPr>
          <p:cNvSpPr txBox="1"/>
          <p:nvPr/>
        </p:nvSpPr>
        <p:spPr>
          <a:xfrm>
            <a:off x="7918704" y="3182112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이월과 다음 달 전망 확인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27B533B2-C606-148A-5894-63C8BCCBFE79}"/>
              </a:ext>
            </a:extLst>
          </p:cNvPr>
          <p:cNvSpPr/>
          <p:nvPr/>
        </p:nvSpPr>
        <p:spPr>
          <a:xfrm>
            <a:off x="7754112" y="3822192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A58B75EB-A377-8578-0303-BB0C5CBC753F}"/>
              </a:ext>
            </a:extLst>
          </p:cNvPr>
          <p:cNvSpPr/>
          <p:nvPr/>
        </p:nvSpPr>
        <p:spPr>
          <a:xfrm>
            <a:off x="7754112" y="3822192"/>
            <a:ext cx="64008" cy="859536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C7080AF-B72E-B0BD-92F2-CC180B3FD453}"/>
              </a:ext>
            </a:extLst>
          </p:cNvPr>
          <p:cNvSpPr txBox="1"/>
          <p:nvPr/>
        </p:nvSpPr>
        <p:spPr>
          <a:xfrm>
            <a:off x="7918704" y="3922776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구현 포인트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FAD59A5-17F4-2562-F31C-32C86C3F9D2A}"/>
              </a:ext>
            </a:extLst>
          </p:cNvPr>
          <p:cNvSpPr txBox="1"/>
          <p:nvPr/>
        </p:nvSpPr>
        <p:spPr>
          <a:xfrm>
            <a:off x="7918704" y="4169664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마감 스냅샷 기반 차기 이월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CEB9B4D9-488D-3F44-6670-D4769FEA782E}"/>
              </a:ext>
            </a:extLst>
          </p:cNvPr>
          <p:cNvSpPr/>
          <p:nvPr/>
        </p:nvSpPr>
        <p:spPr>
          <a:xfrm>
            <a:off x="7754112" y="4809744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63EA3073-2DCA-B194-0D20-8339050F1580}"/>
              </a:ext>
            </a:extLst>
          </p:cNvPr>
          <p:cNvSpPr/>
          <p:nvPr/>
        </p:nvSpPr>
        <p:spPr>
          <a:xfrm>
            <a:off x="7754112" y="4809744"/>
            <a:ext cx="64008" cy="859536"/>
          </a:xfrm>
          <a:prstGeom prst="rect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85A86BE-B286-ACBA-66DE-97F49998725B}"/>
              </a:ext>
            </a:extLst>
          </p:cNvPr>
          <p:cNvSpPr txBox="1"/>
          <p:nvPr/>
        </p:nvSpPr>
        <p:spPr>
          <a:xfrm>
            <a:off x="7918704" y="4910328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E11D4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포트폴리오 메시지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C61B565-ACFE-D081-6B79-40D33F540B62}"/>
              </a:ext>
            </a:extLst>
          </p:cNvPr>
          <p:cNvSpPr txBox="1"/>
          <p:nvPr/>
        </p:nvSpPr>
        <p:spPr>
          <a:xfrm>
            <a:off x="7918704" y="5157216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월 마감 이후까지 이어지는 제품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1669B0-D97F-F3D1-E77E-E60FD1D7D995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61F545C-F257-174D-C8B8-44E4E003CF7A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29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4760831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7F4CDA9-7F32-E19D-AA83-75865FFDC343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24433BE1-71AE-F3FE-A9A9-F85B0BBDFF90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075A18A1-E8C7-2383-E43B-EE535D31CEB0}"/>
              </a:ext>
            </a:extLst>
          </p:cNvPr>
          <p:cNvSpPr/>
          <p:nvPr/>
        </p:nvSpPr>
        <p:spPr>
          <a:xfrm>
            <a:off x="548640" y="310896"/>
            <a:ext cx="1170432" cy="228600"/>
          </a:xfrm>
          <a:prstGeom prst="roundRect">
            <a:avLst/>
          </a:prstGeom>
          <a:solidFill>
            <a:srgbClr val="EAFB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FC7FA0C-DC75-48F8-3C25-65632F39E8B0}"/>
              </a:ext>
            </a:extLst>
          </p:cNvPr>
          <p:cNvSpPr txBox="1"/>
          <p:nvPr/>
        </p:nvSpPr>
        <p:spPr>
          <a:xfrm>
            <a:off x="630936" y="338328"/>
            <a:ext cx="96012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7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QUALITY</a:t>
            </a:r>
            <a:endParaRPr lang="ko-KR" altLang="en-US" sz="7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6B214AE-FFDD-CDE7-9170-B99BE5D7A814}"/>
              </a:ext>
            </a:extLst>
          </p:cNvPr>
          <p:cNvSpPr txBox="1"/>
          <p:nvPr/>
        </p:nvSpPr>
        <p:spPr>
          <a:xfrm>
            <a:off x="530352" y="603504"/>
            <a:ext cx="10698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검증 체계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C057DBB8-8199-5673-C71A-16DDFB1D12E4}"/>
              </a:ext>
            </a:extLst>
          </p:cNvPr>
          <p:cNvCxnSpPr/>
          <p:nvPr/>
        </p:nvCxnSpPr>
        <p:spPr>
          <a:xfrm>
            <a:off x="548640" y="1097280"/>
            <a:ext cx="11109960" cy="0"/>
          </a:xfrm>
          <a:prstGeom prst="line">
            <a:avLst/>
          </a:prstGeom>
          <a:ln w="15240">
            <a:solidFill>
              <a:srgbClr val="E8EDF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D4F55D04-6315-ADF7-685B-8E70B130A7F0}"/>
              </a:ext>
            </a:extLst>
          </p:cNvPr>
          <p:cNvSpPr/>
          <p:nvPr/>
        </p:nvSpPr>
        <p:spPr>
          <a:xfrm>
            <a:off x="685800" y="1417320"/>
            <a:ext cx="2377440" cy="118872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53AECB4-0E75-D107-5F0A-C83F543D1F99}"/>
              </a:ext>
            </a:extLst>
          </p:cNvPr>
          <p:cNvSpPr/>
          <p:nvPr/>
        </p:nvSpPr>
        <p:spPr>
          <a:xfrm>
            <a:off x="685800" y="1417320"/>
            <a:ext cx="2377440" cy="73152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DFEFAFA-E5B3-B5CC-B4F4-14D15265AFBE}"/>
              </a:ext>
            </a:extLst>
          </p:cNvPr>
          <p:cNvSpPr txBox="1"/>
          <p:nvPr/>
        </p:nvSpPr>
        <p:spPr>
          <a:xfrm>
            <a:off x="777240" y="1618488"/>
            <a:ext cx="21945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pPr algn="ctr"/>
            <a:r>
              <a:rPr lang="en-US" altLang="ko-KR" sz="260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61</a:t>
            </a:r>
            <a:endParaRPr lang="ko-KR" altLang="en-US" sz="2600" b="1">
              <a:solidFill>
                <a:srgbClr val="2454D9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0C689E-E073-ED3F-44AC-76ED6F2CA234}"/>
              </a:ext>
            </a:extLst>
          </p:cNvPr>
          <p:cNvSpPr txBox="1"/>
          <p:nvPr/>
        </p:nvSpPr>
        <p:spPr>
          <a:xfrm>
            <a:off x="850392" y="2075688"/>
            <a:ext cx="2048256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103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Web route
</a:t>
            </a:r>
            <a:r>
              <a:rPr lang="ko-KR" altLang="en-US" sz="103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문서</a:t>
            </a:r>
            <a:r>
              <a:rPr lang="en-US" altLang="ko-KR" sz="103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-</a:t>
            </a:r>
            <a:r>
              <a:rPr lang="ko-KR" altLang="en-US" sz="103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코드 대조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04C0AB-48A5-22AE-C77C-D43E1BB93372}"/>
              </a:ext>
            </a:extLst>
          </p:cNvPr>
          <p:cNvSpPr/>
          <p:nvPr/>
        </p:nvSpPr>
        <p:spPr>
          <a:xfrm>
            <a:off x="3447288" y="1417320"/>
            <a:ext cx="2377440" cy="118872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AFC48DAF-8631-0DB6-7D17-4D514EECE90C}"/>
              </a:ext>
            </a:extLst>
          </p:cNvPr>
          <p:cNvSpPr/>
          <p:nvPr/>
        </p:nvSpPr>
        <p:spPr>
          <a:xfrm>
            <a:off x="3447288" y="1417320"/>
            <a:ext cx="2377440" cy="73152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F0D0304-4D78-FDD7-16CB-83B07CC18E87}"/>
              </a:ext>
            </a:extLst>
          </p:cNvPr>
          <p:cNvSpPr txBox="1"/>
          <p:nvPr/>
        </p:nvSpPr>
        <p:spPr>
          <a:xfrm>
            <a:off x="3538728" y="1618488"/>
            <a:ext cx="21945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pPr algn="ctr"/>
            <a:r>
              <a:rPr lang="en-US" altLang="ko-KR" sz="260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136</a:t>
            </a:r>
            <a:endParaRPr lang="ko-KR" altLang="en-US" sz="260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7271604-B3E6-CBD2-F7F3-570E4A425BCB}"/>
              </a:ext>
            </a:extLst>
          </p:cNvPr>
          <p:cNvSpPr txBox="1"/>
          <p:nvPr/>
        </p:nvSpPr>
        <p:spPr>
          <a:xfrm>
            <a:off x="3611880" y="2075688"/>
            <a:ext cx="2048256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103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API operation
Swagger/controller </a:t>
            </a:r>
            <a:r>
              <a:rPr lang="ko-KR" altLang="en-US" sz="103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대조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96B81CD0-F856-8A40-375B-6D945232E796}"/>
              </a:ext>
            </a:extLst>
          </p:cNvPr>
          <p:cNvSpPr/>
          <p:nvPr/>
        </p:nvSpPr>
        <p:spPr>
          <a:xfrm>
            <a:off x="6208776" y="1417320"/>
            <a:ext cx="2377440" cy="118872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0EFA55A-EFFF-63DF-923C-3A2957AEB952}"/>
              </a:ext>
            </a:extLst>
          </p:cNvPr>
          <p:cNvSpPr/>
          <p:nvPr/>
        </p:nvSpPr>
        <p:spPr>
          <a:xfrm>
            <a:off x="6208776" y="1417320"/>
            <a:ext cx="2377440" cy="73152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C84887B-C89F-37E8-2462-446318A8787C}"/>
              </a:ext>
            </a:extLst>
          </p:cNvPr>
          <p:cNvSpPr txBox="1"/>
          <p:nvPr/>
        </p:nvSpPr>
        <p:spPr>
          <a:xfrm>
            <a:off x="6300216" y="1618488"/>
            <a:ext cx="21945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pPr algn="ctr"/>
            <a:r>
              <a:rPr lang="en-US" altLang="ko-KR" sz="260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37</a:t>
            </a:r>
            <a:endParaRPr lang="ko-KR" altLang="en-US" sz="2600" b="1">
              <a:solidFill>
                <a:srgbClr val="D97706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BD29AF2-8AFD-2D30-D6D9-DB0DCECD9E1C}"/>
              </a:ext>
            </a:extLst>
          </p:cNvPr>
          <p:cNvSpPr txBox="1"/>
          <p:nvPr/>
        </p:nvSpPr>
        <p:spPr>
          <a:xfrm>
            <a:off x="6373368" y="2075688"/>
            <a:ext cx="2048256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103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Web tests
pass 37</a:t>
            </a:r>
            <a:endParaRPr lang="ko-KR" altLang="en-US" sz="103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285693B9-6E94-A9A5-EE41-60E08AC8DA88}"/>
              </a:ext>
            </a:extLst>
          </p:cNvPr>
          <p:cNvSpPr/>
          <p:nvPr/>
        </p:nvSpPr>
        <p:spPr>
          <a:xfrm>
            <a:off x="8970264" y="1417320"/>
            <a:ext cx="2377440" cy="118872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222CF076-142C-73D0-0E42-0C7E1FBE2013}"/>
              </a:ext>
            </a:extLst>
          </p:cNvPr>
          <p:cNvSpPr/>
          <p:nvPr/>
        </p:nvSpPr>
        <p:spPr>
          <a:xfrm>
            <a:off x="8970264" y="1417320"/>
            <a:ext cx="2377440" cy="73152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009331B-AAC3-8081-B481-6D571E317E84}"/>
              </a:ext>
            </a:extLst>
          </p:cNvPr>
          <p:cNvSpPr txBox="1"/>
          <p:nvPr/>
        </p:nvSpPr>
        <p:spPr>
          <a:xfrm>
            <a:off x="9061704" y="1618488"/>
            <a:ext cx="21945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pPr algn="ctr"/>
            <a:r>
              <a:rPr lang="en-US" altLang="ko-KR" sz="260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359</a:t>
            </a:r>
            <a:endParaRPr lang="ko-KR" altLang="en-US" sz="2600" b="1">
              <a:solidFill>
                <a:srgbClr val="2454D9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CED244D-E9F6-70FD-B6CF-4158CC36E4A2}"/>
              </a:ext>
            </a:extLst>
          </p:cNvPr>
          <p:cNvSpPr txBox="1"/>
          <p:nvPr/>
        </p:nvSpPr>
        <p:spPr>
          <a:xfrm>
            <a:off x="9134856" y="2075688"/>
            <a:ext cx="2048256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103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API tests
pass 359 / skip 6</a:t>
            </a:r>
            <a:endParaRPr lang="ko-KR" altLang="en-US" sz="103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BC742D86-34E7-ABCC-0BE3-CC324C5A5FC6}"/>
              </a:ext>
            </a:extLst>
          </p:cNvPr>
          <p:cNvSpPr/>
          <p:nvPr/>
        </p:nvSpPr>
        <p:spPr>
          <a:xfrm>
            <a:off x="868680" y="3246120"/>
            <a:ext cx="4800600" cy="128016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222D3A0-DDA4-4AB7-D02B-C3A62A87C2B7}"/>
              </a:ext>
            </a:extLst>
          </p:cNvPr>
          <p:cNvSpPr txBox="1"/>
          <p:nvPr/>
        </p:nvSpPr>
        <p:spPr>
          <a:xfrm>
            <a:off x="1078992" y="3520440"/>
            <a:ext cx="4224528" cy="1754326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• docs:check</a:t>
            </a:r>
            <a:r>
              <a:rPr lang="ko-KR" altLang="en-US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로 </a:t>
            </a:r>
            <a:r>
              <a:rPr lang="en-US" altLang="ko-KR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Web/API </a:t>
            </a:r>
            <a:r>
              <a:rPr lang="ko-KR" altLang="en-US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표면 정합성 확인</a:t>
            </a:r>
          </a:p>
          <a:p>
            <a:r>
              <a:rPr lang="en-US" altLang="ko-KR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• runtime audit high/critical 0, moderate 5 </a:t>
            </a:r>
            <a:r>
              <a:rPr lang="ko-KR" altLang="en-US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추적</a:t>
            </a:r>
          </a:p>
          <a:p>
            <a:r>
              <a:rPr lang="en-US" altLang="ko-KR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• Docker </a:t>
            </a:r>
            <a:r>
              <a:rPr lang="ko-KR" altLang="en-US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의존 검증은 발표 직전 별도 재확인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69C44E47-4BCA-2EE6-0A33-ABFAEAB1A569}"/>
              </a:ext>
            </a:extLst>
          </p:cNvPr>
          <p:cNvSpPr/>
          <p:nvPr/>
        </p:nvSpPr>
        <p:spPr>
          <a:xfrm>
            <a:off x="6199632" y="3154680"/>
            <a:ext cx="4754880" cy="1481328"/>
          </a:xfrm>
          <a:prstGeom prst="rect">
            <a:avLst/>
          </a:prstGeom>
          <a:solidFill>
            <a:srgbClr val="18181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0A4639F-11AB-C7E6-3410-3B475E7F0230}"/>
              </a:ext>
            </a:extLst>
          </p:cNvPr>
          <p:cNvSpPr txBox="1"/>
          <p:nvPr/>
        </p:nvSpPr>
        <p:spPr>
          <a:xfrm>
            <a:off x="6419088" y="3410712"/>
            <a:ext cx="4251960" cy="120032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330" b="1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주의
검증 숫자는 사용자 지표가 아니라</a:t>
            </a:r>
            <a:r>
              <a:rPr lang="en-US" altLang="ko-KR" sz="1330" b="1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330" b="1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문서</a:t>
            </a:r>
            <a:r>
              <a:rPr lang="en-US" altLang="ko-KR" sz="1330" b="1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·</a:t>
            </a:r>
            <a:r>
              <a:rPr lang="ko-KR" altLang="en-US" sz="1330" b="1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코드</a:t>
            </a:r>
            <a:r>
              <a:rPr lang="en-US" altLang="ko-KR" sz="1330" b="1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·</a:t>
            </a:r>
            <a:r>
              <a:rPr lang="ko-KR" altLang="en-US" sz="1330" b="1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테스트</a:t>
            </a:r>
            <a:r>
              <a:rPr lang="en-US" altLang="ko-KR" sz="1330" b="1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·</a:t>
            </a:r>
            <a:r>
              <a:rPr lang="ko-KR" altLang="en-US" sz="1330" b="1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보안 게이트가 함께 관리되는 상태를 보여주는 근거입니다</a:t>
            </a:r>
            <a:r>
              <a:rPr lang="en-US" altLang="ko-KR" sz="1330" b="1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330" b="1">
              <a:solidFill>
                <a:srgbClr val="FFFFFF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8A46259-1B15-C51B-FE19-FAB8EC2D4D8A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A0F9ECA-B41E-C4D9-823D-211CFC031C54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30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1234971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B7A38E73-0658-469B-1FE6-3A2A413D0B92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33CB8BBA-C428-A0AC-0F43-64AFA8FD1172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EE17CD6F-8234-A644-A0B0-F9DFCBADC836}"/>
              </a:ext>
            </a:extLst>
          </p:cNvPr>
          <p:cNvSpPr/>
          <p:nvPr/>
        </p:nvSpPr>
        <p:spPr>
          <a:xfrm>
            <a:off x="548640" y="310896"/>
            <a:ext cx="1170432" cy="228600"/>
          </a:xfrm>
          <a:prstGeom prst="roundRect">
            <a:avLst/>
          </a:prstGeom>
          <a:solidFill>
            <a:srgbClr val="EAFB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984FB9-86BB-6259-740C-58AB931A5FF8}"/>
              </a:ext>
            </a:extLst>
          </p:cNvPr>
          <p:cNvSpPr txBox="1"/>
          <p:nvPr/>
        </p:nvSpPr>
        <p:spPr>
          <a:xfrm>
            <a:off x="630936" y="338328"/>
            <a:ext cx="96012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7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OPERATIONS</a:t>
            </a:r>
            <a:endParaRPr lang="ko-KR" altLang="en-US" sz="7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FCB9605-5B06-B40B-F2E3-667A2FACAFF1}"/>
              </a:ext>
            </a:extLst>
          </p:cNvPr>
          <p:cNvSpPr txBox="1"/>
          <p:nvPr/>
        </p:nvSpPr>
        <p:spPr>
          <a:xfrm>
            <a:off x="530352" y="603504"/>
            <a:ext cx="10698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배포와 운영 인식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0882A7C2-FD11-43CF-B241-AA9457D62466}"/>
              </a:ext>
            </a:extLst>
          </p:cNvPr>
          <p:cNvCxnSpPr/>
          <p:nvPr/>
        </p:nvCxnSpPr>
        <p:spPr>
          <a:xfrm>
            <a:off x="548640" y="1097280"/>
            <a:ext cx="11109960" cy="0"/>
          </a:xfrm>
          <a:prstGeom prst="line">
            <a:avLst/>
          </a:prstGeom>
          <a:ln w="15240">
            <a:solidFill>
              <a:srgbClr val="E8EDF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5747B64E-D2B1-70B7-69BD-B03BF7561334}"/>
              </a:ext>
            </a:extLst>
          </p:cNvPr>
          <p:cNvSpPr/>
          <p:nvPr/>
        </p:nvSpPr>
        <p:spPr>
          <a:xfrm>
            <a:off x="749808" y="1371600"/>
            <a:ext cx="2331720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77B7AF85-8769-3674-F010-16AF84F653E4}"/>
              </a:ext>
            </a:extLst>
          </p:cNvPr>
          <p:cNvSpPr/>
          <p:nvPr/>
        </p:nvSpPr>
        <p:spPr>
          <a:xfrm>
            <a:off x="749808" y="1371600"/>
            <a:ext cx="64008" cy="932688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EEE511E-AF51-DAF9-4A83-0607AC19BC07}"/>
              </a:ext>
            </a:extLst>
          </p:cNvPr>
          <p:cNvSpPr txBox="1"/>
          <p:nvPr/>
        </p:nvSpPr>
        <p:spPr>
          <a:xfrm>
            <a:off x="914400" y="1472184"/>
            <a:ext cx="20391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Docker</a:t>
            </a:r>
            <a:endParaRPr lang="ko-KR" altLang="en-US" sz="1080" b="1">
              <a:solidFill>
                <a:srgbClr val="2454D9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CF6AEF-3252-D4C4-E6CF-B8CA30961E8D}"/>
              </a:ext>
            </a:extLst>
          </p:cNvPr>
          <p:cNvSpPr txBox="1"/>
          <p:nvPr/>
        </p:nvSpPr>
        <p:spPr>
          <a:xfrm>
            <a:off x="914400" y="1719072"/>
            <a:ext cx="203911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개인 서버 배포
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API/Web/MySQL</a:t>
            </a:r>
            <a:endParaRPr lang="ko-KR" altLang="en-US" sz="102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4ED48F1-9AE4-6F66-6B1E-E9619D27E92C}"/>
              </a:ext>
            </a:extLst>
          </p:cNvPr>
          <p:cNvSpPr/>
          <p:nvPr/>
        </p:nvSpPr>
        <p:spPr>
          <a:xfrm>
            <a:off x="3447288" y="1371600"/>
            <a:ext cx="2331720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A8F105E5-8E0B-2F7A-CF3A-D29F6378D9BA}"/>
              </a:ext>
            </a:extLst>
          </p:cNvPr>
          <p:cNvSpPr/>
          <p:nvPr/>
        </p:nvSpPr>
        <p:spPr>
          <a:xfrm>
            <a:off x="3447288" y="1371600"/>
            <a:ext cx="64008" cy="932688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A6D7A67-EFC6-2845-E4D0-BE6C39D77A41}"/>
              </a:ext>
            </a:extLst>
          </p:cNvPr>
          <p:cNvSpPr txBox="1"/>
          <p:nvPr/>
        </p:nvSpPr>
        <p:spPr>
          <a:xfrm>
            <a:off x="3611880" y="1472184"/>
            <a:ext cx="20391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08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Compose</a:t>
            </a:r>
            <a:endParaRPr lang="ko-KR" altLang="en-US" sz="108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469820E-9463-23E9-670E-C17319BADA25}"/>
              </a:ext>
            </a:extLst>
          </p:cNvPr>
          <p:cNvSpPr txBox="1"/>
          <p:nvPr/>
        </p:nvSpPr>
        <p:spPr>
          <a:xfrm>
            <a:off x="3611880" y="1719072"/>
            <a:ext cx="203911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Web + API + DB
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마이그레이션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A53FDE07-4DF4-4DDC-43D7-5422B74E5F95}"/>
              </a:ext>
            </a:extLst>
          </p:cNvPr>
          <p:cNvSpPr/>
          <p:nvPr/>
        </p:nvSpPr>
        <p:spPr>
          <a:xfrm>
            <a:off x="6144768" y="1371600"/>
            <a:ext cx="2331720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8B1A6B79-CA91-D3CA-7623-6506E9C7106E}"/>
              </a:ext>
            </a:extLst>
          </p:cNvPr>
          <p:cNvSpPr/>
          <p:nvPr/>
        </p:nvSpPr>
        <p:spPr>
          <a:xfrm>
            <a:off x="6144768" y="1371600"/>
            <a:ext cx="64008" cy="932688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6B23961-EEB7-849E-0516-9FAFF718A41A}"/>
              </a:ext>
            </a:extLst>
          </p:cNvPr>
          <p:cNvSpPr txBox="1"/>
          <p:nvPr/>
        </p:nvSpPr>
        <p:spPr>
          <a:xfrm>
            <a:off x="6309360" y="1472184"/>
            <a:ext cx="20391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08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DDNS/HTTPS</a:t>
            </a:r>
            <a:endParaRPr lang="ko-KR" altLang="en-US" sz="1080" b="1">
              <a:solidFill>
                <a:srgbClr val="D97706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BFF2D01-50BE-4D7B-FE77-48E1C401AA8D}"/>
              </a:ext>
            </a:extLst>
          </p:cNvPr>
          <p:cNvSpPr txBox="1"/>
          <p:nvPr/>
        </p:nvSpPr>
        <p:spPr>
          <a:xfrm>
            <a:off x="6309360" y="1719072"/>
            <a:ext cx="203911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Dynu DDNS
Caddy TLS</a:t>
            </a:r>
            <a:endParaRPr lang="ko-KR" altLang="en-US" sz="102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867660E1-41D8-564A-C2BD-D82463F5DDA0}"/>
              </a:ext>
            </a:extLst>
          </p:cNvPr>
          <p:cNvSpPr/>
          <p:nvPr/>
        </p:nvSpPr>
        <p:spPr>
          <a:xfrm>
            <a:off x="8842248" y="1371600"/>
            <a:ext cx="2331720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49694D1C-8E41-946C-C09C-7E65FA1C9B98}"/>
              </a:ext>
            </a:extLst>
          </p:cNvPr>
          <p:cNvSpPr/>
          <p:nvPr/>
        </p:nvSpPr>
        <p:spPr>
          <a:xfrm>
            <a:off x="8842248" y="1371600"/>
            <a:ext cx="64008" cy="932688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6DEE0DF-1A47-9594-0D13-5DFF3A5BB328}"/>
              </a:ext>
            </a:extLst>
          </p:cNvPr>
          <p:cNvSpPr txBox="1"/>
          <p:nvPr/>
        </p:nvSpPr>
        <p:spPr>
          <a:xfrm>
            <a:off x="9006840" y="1472184"/>
            <a:ext cx="20391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환경</a:t>
            </a:r>
            <a:r>
              <a:rPr lang="en-US" altLang="ko-KR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r>
              <a:rPr lang="ko-KR" altLang="en-US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비밀값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9B5CC2D-655C-9B79-E061-ECC908632E9E}"/>
              </a:ext>
            </a:extLst>
          </p:cNvPr>
          <p:cNvSpPr txBox="1"/>
          <p:nvPr/>
        </p:nvSpPr>
        <p:spPr>
          <a:xfrm>
            <a:off x="9006840" y="1719072"/>
            <a:ext cx="203911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운영 환경값과
비밀값 분리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D98AC1C4-9A80-6B3B-2CD8-747F7E1D37C0}"/>
              </a:ext>
            </a:extLst>
          </p:cNvPr>
          <p:cNvSpPr/>
          <p:nvPr/>
        </p:nvSpPr>
        <p:spPr>
          <a:xfrm>
            <a:off x="1005840" y="2944368"/>
            <a:ext cx="996696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7B8E9BAE-C202-1FEA-DB76-0D37E5D6974D}"/>
              </a:ext>
            </a:extLst>
          </p:cNvPr>
          <p:cNvSpPr/>
          <p:nvPr/>
        </p:nvSpPr>
        <p:spPr>
          <a:xfrm>
            <a:off x="1005840" y="2944368"/>
            <a:ext cx="64008" cy="96012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7028752-A113-FD0C-4E33-487451BEA14D}"/>
              </a:ext>
            </a:extLst>
          </p:cNvPr>
          <p:cNvSpPr txBox="1"/>
          <p:nvPr/>
        </p:nvSpPr>
        <p:spPr>
          <a:xfrm>
            <a:off x="1170432" y="3044952"/>
            <a:ext cx="967435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개인 서버 배포 기준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3531B62-0B05-0A68-1371-D4599D18E1F9}"/>
              </a:ext>
            </a:extLst>
          </p:cNvPr>
          <p:cNvSpPr txBox="1"/>
          <p:nvPr/>
        </p:nvSpPr>
        <p:spPr>
          <a:xfrm>
            <a:off x="1170432" y="3291840"/>
            <a:ext cx="967435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Docker Compose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로 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Web/API/MySQL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을 개인 서버에 배포하고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Dynu DDNS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와 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Caddy HTTPS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리버스 프록시로 외부 접속을 구성했습니다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2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D5088B8C-9FC4-DDCA-CDF9-429CAAA0A78D}"/>
              </a:ext>
            </a:extLst>
          </p:cNvPr>
          <p:cNvSpPr/>
          <p:nvPr/>
        </p:nvSpPr>
        <p:spPr>
          <a:xfrm>
            <a:off x="1005840" y="4370832"/>
            <a:ext cx="9966960" cy="804672"/>
          </a:xfrm>
          <a:prstGeom prst="rect">
            <a:avLst/>
          </a:prstGeom>
          <a:solidFill>
            <a:srgbClr val="18181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36E1FA2-0AED-7B7E-0FDB-59EB65004B21}"/>
              </a:ext>
            </a:extLst>
          </p:cNvPr>
          <p:cNvSpPr txBox="1"/>
          <p:nvPr/>
        </p:nvSpPr>
        <p:spPr>
          <a:xfrm>
            <a:off x="1261872" y="4553712"/>
            <a:ext cx="187452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12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실무로 이어진 이해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9EC5638-5A95-E1CA-7024-C7CF4F9E664B}"/>
              </a:ext>
            </a:extLst>
          </p:cNvPr>
          <p:cNvSpPr txBox="1"/>
          <p:nvPr/>
        </p:nvSpPr>
        <p:spPr>
          <a:xfrm>
            <a:off x="2971800" y="4480560"/>
            <a:ext cx="717804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직접 배포 경험은 </a:t>
            </a:r>
            <a:r>
              <a:rPr lang="en-US" altLang="ko-KR" sz="108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DB </a:t>
            </a:r>
            <a:r>
              <a:rPr lang="ko-KR" altLang="en-US" sz="108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서버 간 연결</a:t>
            </a:r>
            <a:r>
              <a:rPr lang="en-US" altLang="ko-KR" sz="108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8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방화벽 인바운드</a:t>
            </a:r>
            <a:r>
              <a:rPr lang="en-US" altLang="ko-KR" sz="108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DTC/RPC Dynamic Port </a:t>
            </a:r>
            <a:r>
              <a:rPr lang="ko-KR" altLang="en-US" sz="108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같은 통신 이슈를 구조적으로 보는 기반이 되었습니다</a:t>
            </a:r>
            <a:r>
              <a:rPr lang="en-US" altLang="ko-KR" sz="108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80">
              <a:solidFill>
                <a:srgbClr val="FFFFFF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46E3CC7-93C9-11F4-66F5-74952554740C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E80BA18-C61D-36E8-26D8-C7BA5B2A1E7F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31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2579410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1045251A-4367-3A31-044E-A03D9A45FBB3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25FDFDC8-BBC4-5DDB-4667-83584F377B26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35D1AEB3-61FA-AC95-9693-92089DE1063B}"/>
              </a:ext>
            </a:extLst>
          </p:cNvPr>
          <p:cNvSpPr/>
          <p:nvPr/>
        </p:nvSpPr>
        <p:spPr>
          <a:xfrm>
            <a:off x="548640" y="310896"/>
            <a:ext cx="1170432" cy="228600"/>
          </a:xfrm>
          <a:prstGeom prst="roundRect">
            <a:avLst/>
          </a:prstGeom>
          <a:solidFill>
            <a:srgbClr val="EAFB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5C4353-AE4D-7347-3C28-CFDBBC697785}"/>
              </a:ext>
            </a:extLst>
          </p:cNvPr>
          <p:cNvSpPr txBox="1"/>
          <p:nvPr/>
        </p:nvSpPr>
        <p:spPr>
          <a:xfrm>
            <a:off x="630936" y="338328"/>
            <a:ext cx="96012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7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ROADMAP</a:t>
            </a:r>
            <a:endParaRPr lang="ko-KR" altLang="en-US" sz="7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A4B9786-132C-4798-E6A9-3C257ACAB40F}"/>
              </a:ext>
            </a:extLst>
          </p:cNvPr>
          <p:cNvSpPr txBox="1"/>
          <p:nvPr/>
        </p:nvSpPr>
        <p:spPr>
          <a:xfrm>
            <a:off x="530352" y="603504"/>
            <a:ext cx="10698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한계와 다음 단계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DF7AF75C-D71C-7839-6187-69C888003878}"/>
              </a:ext>
            </a:extLst>
          </p:cNvPr>
          <p:cNvCxnSpPr/>
          <p:nvPr/>
        </p:nvCxnSpPr>
        <p:spPr>
          <a:xfrm>
            <a:off x="548640" y="1097280"/>
            <a:ext cx="11109960" cy="0"/>
          </a:xfrm>
          <a:prstGeom prst="line">
            <a:avLst/>
          </a:prstGeom>
          <a:ln w="15240">
            <a:solidFill>
              <a:srgbClr val="E8EDF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EDF3D447-7F1B-8D20-3C29-ECC533DCEA7A}"/>
              </a:ext>
            </a:extLst>
          </p:cNvPr>
          <p:cNvSpPr/>
          <p:nvPr/>
        </p:nvSpPr>
        <p:spPr>
          <a:xfrm>
            <a:off x="749808" y="1298448"/>
            <a:ext cx="2377440" cy="67665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6A2918B-6BFE-F641-2003-C0B44B6667C7}"/>
              </a:ext>
            </a:extLst>
          </p:cNvPr>
          <p:cNvSpPr/>
          <p:nvPr/>
        </p:nvSpPr>
        <p:spPr>
          <a:xfrm>
            <a:off x="749808" y="1298448"/>
            <a:ext cx="64008" cy="676656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A37F8C8-7423-883B-DBBA-5F6FB3495F13}"/>
              </a:ext>
            </a:extLst>
          </p:cNvPr>
          <p:cNvSpPr txBox="1"/>
          <p:nvPr/>
        </p:nvSpPr>
        <p:spPr>
          <a:xfrm>
            <a:off x="914400" y="1389888"/>
            <a:ext cx="20848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5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라이선스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F4F6FCB-A38F-9DCE-6835-1129A59DE7AB}"/>
              </a:ext>
            </a:extLst>
          </p:cNvPr>
          <p:cNvSpPr txBox="1"/>
          <p:nvPr/>
        </p:nvSpPr>
        <p:spPr>
          <a:xfrm>
            <a:off x="914400" y="1627632"/>
            <a:ext cx="208483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현재 </a:t>
            </a:r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LICENSE </a:t>
            </a:r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파일 없음</a:t>
            </a: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89B6235B-AB69-3434-EB6A-DA79C651E888}"/>
              </a:ext>
            </a:extLst>
          </p:cNvPr>
          <p:cNvCxnSpPr/>
          <p:nvPr/>
        </p:nvCxnSpPr>
        <p:spPr>
          <a:xfrm>
            <a:off x="3246120" y="1636776"/>
            <a:ext cx="301752" cy="0"/>
          </a:xfrm>
          <a:prstGeom prst="line">
            <a:avLst/>
          </a:prstGeom>
          <a:ln w="15240">
            <a:solidFill>
              <a:srgbClr val="D8DE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1C86AAA8-E5BE-903F-F015-DB6A78CC084F}"/>
              </a:ext>
            </a:extLst>
          </p:cNvPr>
          <p:cNvSpPr/>
          <p:nvPr/>
        </p:nvSpPr>
        <p:spPr>
          <a:xfrm>
            <a:off x="3703320" y="1298448"/>
            <a:ext cx="7296912" cy="67665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4F16D16-4BF3-B95E-FA19-41F22D0A842F}"/>
              </a:ext>
            </a:extLst>
          </p:cNvPr>
          <p:cNvSpPr/>
          <p:nvPr/>
        </p:nvSpPr>
        <p:spPr>
          <a:xfrm>
            <a:off x="3703320" y="1298448"/>
            <a:ext cx="64008" cy="676656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F5F330B-1E14-C4B9-EEFA-E67DAEE344C9}"/>
              </a:ext>
            </a:extLst>
          </p:cNvPr>
          <p:cNvSpPr txBox="1"/>
          <p:nvPr/>
        </p:nvSpPr>
        <p:spPr>
          <a:xfrm>
            <a:off x="3867912" y="1389888"/>
            <a:ext cx="7004304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보완 방향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1420E6C-7FC4-47DE-1F0E-A099476D3A06}"/>
              </a:ext>
            </a:extLst>
          </p:cNvPr>
          <p:cNvSpPr txBox="1"/>
          <p:nvPr/>
        </p:nvSpPr>
        <p:spPr>
          <a:xfrm>
            <a:off x="3867912" y="1627632"/>
            <a:ext cx="7004304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공개 저장소 사용 의도에 맞는 라이선스 추가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7FE47F6F-D0E8-D133-EBBA-35948AA95B56}"/>
              </a:ext>
            </a:extLst>
          </p:cNvPr>
          <p:cNvSpPr/>
          <p:nvPr/>
        </p:nvSpPr>
        <p:spPr>
          <a:xfrm>
            <a:off x="749808" y="2176272"/>
            <a:ext cx="2377440" cy="67665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D0F2FED-DC9B-3985-E803-07226DF13435}"/>
              </a:ext>
            </a:extLst>
          </p:cNvPr>
          <p:cNvSpPr/>
          <p:nvPr/>
        </p:nvSpPr>
        <p:spPr>
          <a:xfrm>
            <a:off x="749808" y="2176272"/>
            <a:ext cx="64008" cy="676656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029F581-8E8F-EC93-DAA3-E67C59B5EF61}"/>
              </a:ext>
            </a:extLst>
          </p:cNvPr>
          <p:cNvSpPr txBox="1"/>
          <p:nvPr/>
        </p:nvSpPr>
        <p:spPr>
          <a:xfrm>
            <a:off x="914400" y="2267712"/>
            <a:ext cx="20848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5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프록시 설정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3247B9A-B22C-575C-5A72-BC2B68CA46FA}"/>
              </a:ext>
            </a:extLst>
          </p:cNvPr>
          <p:cNvSpPr txBox="1"/>
          <p:nvPr/>
        </p:nvSpPr>
        <p:spPr>
          <a:xfrm>
            <a:off x="914400" y="2505456"/>
            <a:ext cx="208483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실제 서버 설정은 저장소 외부</a:t>
            </a:r>
          </a:p>
        </p:txBody>
      </p: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28496529-973C-866D-CF5B-2B2B7C76915A}"/>
              </a:ext>
            </a:extLst>
          </p:cNvPr>
          <p:cNvCxnSpPr/>
          <p:nvPr/>
        </p:nvCxnSpPr>
        <p:spPr>
          <a:xfrm>
            <a:off x="3246120" y="2514600"/>
            <a:ext cx="301752" cy="0"/>
          </a:xfrm>
          <a:prstGeom prst="line">
            <a:avLst/>
          </a:prstGeom>
          <a:ln w="15240">
            <a:solidFill>
              <a:srgbClr val="D8DE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C296D3CD-90A4-6247-E644-27D6B4583A7B}"/>
              </a:ext>
            </a:extLst>
          </p:cNvPr>
          <p:cNvSpPr/>
          <p:nvPr/>
        </p:nvSpPr>
        <p:spPr>
          <a:xfrm>
            <a:off x="3703320" y="2176272"/>
            <a:ext cx="7296912" cy="67665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F30CACB2-93CC-9857-7EF8-A97D8625C5A8}"/>
              </a:ext>
            </a:extLst>
          </p:cNvPr>
          <p:cNvSpPr/>
          <p:nvPr/>
        </p:nvSpPr>
        <p:spPr>
          <a:xfrm>
            <a:off x="3703320" y="2176272"/>
            <a:ext cx="64008" cy="676656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CE2E055-781A-6C24-FDCF-989C7CF86244}"/>
              </a:ext>
            </a:extLst>
          </p:cNvPr>
          <p:cNvSpPr txBox="1"/>
          <p:nvPr/>
        </p:nvSpPr>
        <p:spPr>
          <a:xfrm>
            <a:off x="3867912" y="2267712"/>
            <a:ext cx="7004304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보완 방향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3B3ABC-E1A7-FD21-4245-1EEE972AADB9}"/>
              </a:ext>
            </a:extLst>
          </p:cNvPr>
          <p:cNvSpPr txBox="1"/>
          <p:nvPr/>
        </p:nvSpPr>
        <p:spPr>
          <a:xfrm>
            <a:off x="3867912" y="2505456"/>
            <a:ext cx="7004304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공개 가능한 예시 템플릿 추가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CD827B37-0C3C-AA4C-7C13-946854C0721E}"/>
              </a:ext>
            </a:extLst>
          </p:cNvPr>
          <p:cNvSpPr/>
          <p:nvPr/>
        </p:nvSpPr>
        <p:spPr>
          <a:xfrm>
            <a:off x="749808" y="3054096"/>
            <a:ext cx="2377440" cy="67665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04DE2692-8FB4-4633-874F-58CC58F0EE47}"/>
              </a:ext>
            </a:extLst>
          </p:cNvPr>
          <p:cNvSpPr/>
          <p:nvPr/>
        </p:nvSpPr>
        <p:spPr>
          <a:xfrm>
            <a:off x="749808" y="3054096"/>
            <a:ext cx="64008" cy="676656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8842324-3BFA-24A6-5CFA-24E324915B70}"/>
              </a:ext>
            </a:extLst>
          </p:cNvPr>
          <p:cNvSpPr txBox="1"/>
          <p:nvPr/>
        </p:nvSpPr>
        <p:spPr>
          <a:xfrm>
            <a:off x="914400" y="3145536"/>
            <a:ext cx="20848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5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최신 보안 점검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3A09922-BE70-293F-24CC-FABAB56AB1B1}"/>
              </a:ext>
            </a:extLst>
          </p:cNvPr>
          <p:cNvSpPr txBox="1"/>
          <p:nvPr/>
        </p:nvSpPr>
        <p:spPr>
          <a:xfrm>
            <a:off x="914400" y="3383280"/>
            <a:ext cx="208483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발표 시점 최신 실행 로그 필요</a:t>
            </a:r>
          </a:p>
        </p:txBody>
      </p:sp>
      <p:cxnSp>
        <p:nvCxnSpPr>
          <p:cNvPr id="30" name="직선 연결선 29">
            <a:extLst>
              <a:ext uri="{FF2B5EF4-FFF2-40B4-BE49-F238E27FC236}">
                <a16:creationId xmlns:a16="http://schemas.microsoft.com/office/drawing/2014/main" id="{C208E02C-2BE7-248A-9C59-47FFAE24A7BB}"/>
              </a:ext>
            </a:extLst>
          </p:cNvPr>
          <p:cNvCxnSpPr/>
          <p:nvPr/>
        </p:nvCxnSpPr>
        <p:spPr>
          <a:xfrm>
            <a:off x="3246120" y="3392424"/>
            <a:ext cx="301752" cy="0"/>
          </a:xfrm>
          <a:prstGeom prst="line">
            <a:avLst/>
          </a:prstGeom>
          <a:ln w="15240">
            <a:solidFill>
              <a:srgbClr val="D8DE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D2BA5468-1E23-5EE0-BF9B-E32A1ED92A95}"/>
              </a:ext>
            </a:extLst>
          </p:cNvPr>
          <p:cNvSpPr/>
          <p:nvPr/>
        </p:nvSpPr>
        <p:spPr>
          <a:xfrm>
            <a:off x="3703320" y="3054096"/>
            <a:ext cx="7296912" cy="67665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799DCDF1-58B1-1ECE-CDA5-03DB7050DC47}"/>
              </a:ext>
            </a:extLst>
          </p:cNvPr>
          <p:cNvSpPr/>
          <p:nvPr/>
        </p:nvSpPr>
        <p:spPr>
          <a:xfrm>
            <a:off x="3703320" y="3054096"/>
            <a:ext cx="64008" cy="676656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7C63817-060C-49B9-BF2C-34E53CCB2653}"/>
              </a:ext>
            </a:extLst>
          </p:cNvPr>
          <p:cNvSpPr txBox="1"/>
          <p:nvPr/>
        </p:nvSpPr>
        <p:spPr>
          <a:xfrm>
            <a:off x="3867912" y="3145536"/>
            <a:ext cx="7004304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보완 방향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5E78230-6AAC-8AE9-12B9-0AAC69ECE9D6}"/>
              </a:ext>
            </a:extLst>
          </p:cNvPr>
          <p:cNvSpPr txBox="1"/>
          <p:nvPr/>
        </p:nvSpPr>
        <p:spPr>
          <a:xfrm>
            <a:off x="3867912" y="3383280"/>
            <a:ext cx="7004304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PPT </a:t>
            </a:r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제작 직전 실행 결과 캡처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CCE37BD0-91A9-C94D-F47F-0769EC3AA100}"/>
              </a:ext>
            </a:extLst>
          </p:cNvPr>
          <p:cNvSpPr/>
          <p:nvPr/>
        </p:nvSpPr>
        <p:spPr>
          <a:xfrm>
            <a:off x="749808" y="3931920"/>
            <a:ext cx="2377440" cy="67665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A41DB3F2-18C9-7CD4-EF74-E17F2390CAA5}"/>
              </a:ext>
            </a:extLst>
          </p:cNvPr>
          <p:cNvSpPr/>
          <p:nvPr/>
        </p:nvSpPr>
        <p:spPr>
          <a:xfrm>
            <a:off x="749808" y="3931920"/>
            <a:ext cx="64008" cy="676656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4DD5C9B-EBC6-EDFE-FE51-F39072A33167}"/>
              </a:ext>
            </a:extLst>
          </p:cNvPr>
          <p:cNvSpPr txBox="1"/>
          <p:nvPr/>
        </p:nvSpPr>
        <p:spPr>
          <a:xfrm>
            <a:off x="914400" y="4023360"/>
            <a:ext cx="20848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5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장기 운영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A0730E6-E27E-091B-A065-55D74AB913C2}"/>
              </a:ext>
            </a:extLst>
          </p:cNvPr>
          <p:cNvSpPr txBox="1"/>
          <p:nvPr/>
        </p:nvSpPr>
        <p:spPr>
          <a:xfrm>
            <a:off x="914400" y="4261104"/>
            <a:ext cx="208483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백업</a:t>
            </a:r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모니터링은 추가 과제</a:t>
            </a:r>
          </a:p>
        </p:txBody>
      </p:sp>
      <p:cxnSp>
        <p:nvCxnSpPr>
          <p:cNvPr id="39" name="직선 연결선 38">
            <a:extLst>
              <a:ext uri="{FF2B5EF4-FFF2-40B4-BE49-F238E27FC236}">
                <a16:creationId xmlns:a16="http://schemas.microsoft.com/office/drawing/2014/main" id="{E0F9420D-582D-FEA2-AAEC-0A6E74CE8A3E}"/>
              </a:ext>
            </a:extLst>
          </p:cNvPr>
          <p:cNvCxnSpPr/>
          <p:nvPr/>
        </p:nvCxnSpPr>
        <p:spPr>
          <a:xfrm>
            <a:off x="3246120" y="4270248"/>
            <a:ext cx="301752" cy="0"/>
          </a:xfrm>
          <a:prstGeom prst="line">
            <a:avLst/>
          </a:prstGeom>
          <a:ln w="15240">
            <a:solidFill>
              <a:srgbClr val="D8DE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F18AD276-7575-8748-9F13-9B6F9F39B5D3}"/>
              </a:ext>
            </a:extLst>
          </p:cNvPr>
          <p:cNvSpPr/>
          <p:nvPr/>
        </p:nvSpPr>
        <p:spPr>
          <a:xfrm>
            <a:off x="3703320" y="3931920"/>
            <a:ext cx="7296912" cy="67665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6A420CAA-44E4-F90B-F341-E85C104F4957}"/>
              </a:ext>
            </a:extLst>
          </p:cNvPr>
          <p:cNvSpPr/>
          <p:nvPr/>
        </p:nvSpPr>
        <p:spPr>
          <a:xfrm>
            <a:off x="3703320" y="3931920"/>
            <a:ext cx="64008" cy="676656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5D049B2-B1F5-1521-7473-8186490C7699}"/>
              </a:ext>
            </a:extLst>
          </p:cNvPr>
          <p:cNvSpPr txBox="1"/>
          <p:nvPr/>
        </p:nvSpPr>
        <p:spPr>
          <a:xfrm>
            <a:off x="3867912" y="4023360"/>
            <a:ext cx="7004304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보완 방향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A744B1E-B1D3-BAD1-CF0C-63AD615AED88}"/>
              </a:ext>
            </a:extLst>
          </p:cNvPr>
          <p:cNvSpPr txBox="1"/>
          <p:nvPr/>
        </p:nvSpPr>
        <p:spPr>
          <a:xfrm>
            <a:off x="3867912" y="4261104"/>
            <a:ext cx="7004304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운영 문서와 복구 시나리오 보강</a:t>
            </a: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ECEB5B2B-BA95-C1CC-2ABA-B53F9147A538}"/>
              </a:ext>
            </a:extLst>
          </p:cNvPr>
          <p:cNvSpPr/>
          <p:nvPr/>
        </p:nvSpPr>
        <p:spPr>
          <a:xfrm>
            <a:off x="749808" y="4809744"/>
            <a:ext cx="2377440" cy="67665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33332F8D-771D-35F1-7597-525F68826F03}"/>
              </a:ext>
            </a:extLst>
          </p:cNvPr>
          <p:cNvSpPr/>
          <p:nvPr/>
        </p:nvSpPr>
        <p:spPr>
          <a:xfrm>
            <a:off x="749808" y="4809744"/>
            <a:ext cx="64008" cy="676656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DE66D61-1B21-0653-A5A4-1EB77501FBCB}"/>
              </a:ext>
            </a:extLst>
          </p:cNvPr>
          <p:cNvSpPr txBox="1"/>
          <p:nvPr/>
        </p:nvSpPr>
        <p:spPr>
          <a:xfrm>
            <a:off x="914400" y="4901184"/>
            <a:ext cx="20848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5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외부 연동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BAE5E5C-1A59-BBC4-51CF-CDA955E607DB}"/>
              </a:ext>
            </a:extLst>
          </p:cNvPr>
          <p:cNvSpPr txBox="1"/>
          <p:nvPr/>
        </p:nvSpPr>
        <p:spPr>
          <a:xfrm>
            <a:off x="914400" y="5138928"/>
            <a:ext cx="208483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세무</a:t>
            </a:r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은행 </a:t>
            </a:r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API</a:t>
            </a:r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는 범위 밖</a:t>
            </a:r>
          </a:p>
        </p:txBody>
      </p:sp>
      <p:cxnSp>
        <p:nvCxnSpPr>
          <p:cNvPr id="48" name="직선 연결선 47">
            <a:extLst>
              <a:ext uri="{FF2B5EF4-FFF2-40B4-BE49-F238E27FC236}">
                <a16:creationId xmlns:a16="http://schemas.microsoft.com/office/drawing/2014/main" id="{DE52A541-FE27-EE45-4829-53BBD40A53E5}"/>
              </a:ext>
            </a:extLst>
          </p:cNvPr>
          <p:cNvCxnSpPr/>
          <p:nvPr/>
        </p:nvCxnSpPr>
        <p:spPr>
          <a:xfrm>
            <a:off x="3246120" y="5148072"/>
            <a:ext cx="301752" cy="0"/>
          </a:xfrm>
          <a:prstGeom prst="line">
            <a:avLst/>
          </a:prstGeom>
          <a:ln w="15240">
            <a:solidFill>
              <a:srgbClr val="D8DE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1F0EE227-61B9-F3A7-C3DB-27E066CB15DF}"/>
              </a:ext>
            </a:extLst>
          </p:cNvPr>
          <p:cNvSpPr/>
          <p:nvPr/>
        </p:nvSpPr>
        <p:spPr>
          <a:xfrm>
            <a:off x="3703320" y="4809744"/>
            <a:ext cx="7296912" cy="67665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45AF7ECF-CEAE-8B98-16B4-3B88AB5C95FF}"/>
              </a:ext>
            </a:extLst>
          </p:cNvPr>
          <p:cNvSpPr/>
          <p:nvPr/>
        </p:nvSpPr>
        <p:spPr>
          <a:xfrm>
            <a:off x="3703320" y="4809744"/>
            <a:ext cx="64008" cy="676656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40E8105-2504-64F3-BC4D-E448F5A9CD4F}"/>
              </a:ext>
            </a:extLst>
          </p:cNvPr>
          <p:cNvSpPr txBox="1"/>
          <p:nvPr/>
        </p:nvSpPr>
        <p:spPr>
          <a:xfrm>
            <a:off x="3867912" y="4901184"/>
            <a:ext cx="7004304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보완 방향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3A145A6-358D-8B3F-1588-2EC50C4D6707}"/>
              </a:ext>
            </a:extLst>
          </p:cNvPr>
          <p:cNvSpPr txBox="1"/>
          <p:nvPr/>
        </p:nvSpPr>
        <p:spPr>
          <a:xfrm>
            <a:off x="3867912" y="5138928"/>
            <a:ext cx="7004304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후속 제품 로드맵으로 분리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7D64FD9-00D4-82A0-DAE7-EF2EA4F22DE7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131ED96-F1D3-7AE8-8321-4302972F961B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32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6531122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9ED83E23-9F49-74A5-49A2-9DA36F7D3895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CC2614B4-EE87-00C4-68D4-2B4480117BD3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8D6F9301-DE7A-DAB0-1F26-1B78CF4DE3CD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81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E82748C-7C51-D7B5-787A-BE2ADFC13253}"/>
              </a:ext>
            </a:extLst>
          </p:cNvPr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12B42B7-F5A1-4171-0DA3-AFDEF36126CD}"/>
              </a:ext>
            </a:extLst>
          </p:cNvPr>
          <p:cNvSpPr txBox="1"/>
          <p:nvPr/>
        </p:nvSpPr>
        <p:spPr>
          <a:xfrm>
            <a:off x="749808" y="749808"/>
            <a:ext cx="98755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en-US" altLang="ko-KR" sz="2900" b="1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</a:t>
            </a:r>
            <a:r>
              <a:rPr lang="ko-KR" altLang="en-US" sz="2900" b="1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가 보여주는 것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232EB3A5-D5A5-3C88-8968-C3AB28FECB7C}"/>
              </a:ext>
            </a:extLst>
          </p:cNvPr>
          <p:cNvSpPr/>
          <p:nvPr/>
        </p:nvSpPr>
        <p:spPr>
          <a:xfrm>
            <a:off x="804672" y="1828800"/>
            <a:ext cx="3273552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9D8E57DE-C487-3099-8476-2F5BF0696225}"/>
              </a:ext>
            </a:extLst>
          </p:cNvPr>
          <p:cNvSpPr/>
          <p:nvPr/>
        </p:nvSpPr>
        <p:spPr>
          <a:xfrm>
            <a:off x="804672" y="1828800"/>
            <a:ext cx="64008" cy="932688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47672A2-270D-9B74-DE95-0636D7368C68}"/>
              </a:ext>
            </a:extLst>
          </p:cNvPr>
          <p:cNvSpPr txBox="1"/>
          <p:nvPr/>
        </p:nvSpPr>
        <p:spPr>
          <a:xfrm>
            <a:off x="969264" y="1929384"/>
            <a:ext cx="2980944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실무 관점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EC7F6E-BA39-9DE3-E55C-CDE0BE987F07}"/>
              </a:ext>
            </a:extLst>
          </p:cNvPr>
          <p:cNvSpPr txBox="1"/>
          <p:nvPr/>
        </p:nvSpPr>
        <p:spPr>
          <a:xfrm>
            <a:off x="969264" y="2176272"/>
            <a:ext cx="2980944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ERP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유지보수 경험을 화면과 흐름에 반영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DCD1796-6691-040B-D428-88F44366C3D4}"/>
              </a:ext>
            </a:extLst>
          </p:cNvPr>
          <p:cNvSpPr/>
          <p:nvPr/>
        </p:nvSpPr>
        <p:spPr>
          <a:xfrm>
            <a:off x="4462272" y="1828800"/>
            <a:ext cx="3273552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6311925-4D2B-A28B-6F30-BB8F9EA6C55D}"/>
              </a:ext>
            </a:extLst>
          </p:cNvPr>
          <p:cNvSpPr/>
          <p:nvPr/>
        </p:nvSpPr>
        <p:spPr>
          <a:xfrm>
            <a:off x="4462272" y="1828800"/>
            <a:ext cx="64008" cy="932688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78BC3F3-3206-DEC0-4B08-1BDAFAB041D9}"/>
              </a:ext>
            </a:extLst>
          </p:cNvPr>
          <p:cNvSpPr txBox="1"/>
          <p:nvPr/>
        </p:nvSpPr>
        <p:spPr>
          <a:xfrm>
            <a:off x="4626864" y="1929384"/>
            <a:ext cx="2980944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도메인 경계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FD3125C-AEC2-81C0-EBE6-7106185AC384}"/>
              </a:ext>
            </a:extLst>
          </p:cNvPr>
          <p:cNvSpPr txBox="1"/>
          <p:nvPr/>
        </p:nvSpPr>
        <p:spPr>
          <a:xfrm>
            <a:off x="4626864" y="2176272"/>
            <a:ext cx="2980944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수집 거래와 전표를 분리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FAE62E2-4416-5378-DB6E-4843891197ED}"/>
              </a:ext>
            </a:extLst>
          </p:cNvPr>
          <p:cNvSpPr/>
          <p:nvPr/>
        </p:nvSpPr>
        <p:spPr>
          <a:xfrm>
            <a:off x="8119872" y="1828800"/>
            <a:ext cx="3273552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583DCE2F-8ED7-5655-37C6-76802853FEC5}"/>
              </a:ext>
            </a:extLst>
          </p:cNvPr>
          <p:cNvSpPr/>
          <p:nvPr/>
        </p:nvSpPr>
        <p:spPr>
          <a:xfrm>
            <a:off x="8119872" y="1828800"/>
            <a:ext cx="64008" cy="932688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2811185-0824-66A9-A651-3F5B6DC57961}"/>
              </a:ext>
            </a:extLst>
          </p:cNvPr>
          <p:cNvSpPr txBox="1"/>
          <p:nvPr/>
        </p:nvSpPr>
        <p:spPr>
          <a:xfrm>
            <a:off x="8284464" y="1929384"/>
            <a:ext cx="2980944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제품 완성도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4AA9048-77BA-8A5E-395D-5AE898E1A6C7}"/>
              </a:ext>
            </a:extLst>
          </p:cNvPr>
          <p:cNvSpPr txBox="1"/>
          <p:nvPr/>
        </p:nvSpPr>
        <p:spPr>
          <a:xfrm>
            <a:off x="8284464" y="2176272"/>
            <a:ext cx="2980944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Web/API/DB/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검증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배포 연결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425FFE7-20CE-BE37-B447-C3276F101A42}"/>
              </a:ext>
            </a:extLst>
          </p:cNvPr>
          <p:cNvSpPr/>
          <p:nvPr/>
        </p:nvSpPr>
        <p:spPr>
          <a:xfrm>
            <a:off x="859536" y="3749040"/>
            <a:ext cx="10424160" cy="1115568"/>
          </a:xfrm>
          <a:prstGeom prst="rect">
            <a:avLst/>
          </a:prstGeom>
          <a:solidFill>
            <a:srgbClr val="2727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5CBEA3B-DD8F-008E-904D-78496FFDFAE4}"/>
              </a:ext>
            </a:extLst>
          </p:cNvPr>
          <p:cNvSpPr txBox="1"/>
          <p:nvPr/>
        </p:nvSpPr>
        <p:spPr>
          <a:xfrm>
            <a:off x="1097280" y="3950208"/>
            <a:ext cx="9784080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ko-KR" altLang="en-US" sz="2100" b="1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마지막 문장
실무 </a:t>
            </a:r>
            <a:r>
              <a:rPr lang="en-US" altLang="ko-KR" sz="2100" b="1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ERP </a:t>
            </a:r>
            <a:r>
              <a:rPr lang="ko-KR" altLang="en-US" sz="2100" b="1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유지보수에서 배운 운영 기준을 바탕으로</a:t>
            </a:r>
            <a:r>
              <a:rPr lang="en-US" altLang="ko-KR" sz="2100" b="1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2100" b="1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도메인 경계와 월 운영 흐름을 끝까지 설명할 수 있게 만든 </a:t>
            </a:r>
            <a:r>
              <a:rPr lang="en-US" altLang="ko-KR" sz="2100" b="1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ERP</a:t>
            </a:r>
            <a:r>
              <a:rPr lang="ko-KR" altLang="en-US" sz="2100" b="1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입니다</a:t>
            </a:r>
            <a:r>
              <a:rPr lang="en-US" altLang="ko-KR" sz="2100" b="1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2100" b="1">
              <a:solidFill>
                <a:srgbClr val="FFFFFF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18D8048-A8B2-C02D-BF49-C4822A32A7E7}"/>
              </a:ext>
            </a:extLst>
          </p:cNvPr>
          <p:cNvSpPr txBox="1"/>
          <p:nvPr/>
        </p:nvSpPr>
        <p:spPr>
          <a:xfrm>
            <a:off x="1024128" y="5513832"/>
            <a:ext cx="49377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150">
                <a:solidFill>
                  <a:srgbClr val="D4D4D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public demo: personalerp.theworkpc.com</a:t>
            </a:r>
            <a:endParaRPr lang="ko-KR" altLang="en-US" sz="1150">
              <a:solidFill>
                <a:srgbClr val="D4D4D8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B19E3A9-054D-32A1-A8CE-C61C9A3E56CD}"/>
              </a:ext>
            </a:extLst>
          </p:cNvPr>
          <p:cNvSpPr txBox="1"/>
          <p:nvPr/>
        </p:nvSpPr>
        <p:spPr>
          <a:xfrm>
            <a:off x="1024128" y="5870448"/>
            <a:ext cx="52578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150">
                <a:solidFill>
                  <a:srgbClr val="D4D4D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github.com/cheon0965/PERSONAL_ERP</a:t>
            </a:r>
            <a:endParaRPr lang="ko-KR" altLang="en-US" sz="1150">
              <a:solidFill>
                <a:srgbClr val="D4D4D8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82D37B9-CECB-7C37-22FA-5A7DD37CF948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A1A1A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A1A1A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98F3B53-3AB2-B891-DD94-F3B45B0CA446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A1A1A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33</a:t>
            </a:r>
            <a:endParaRPr lang="ko-KR" altLang="en-US" sz="780">
              <a:solidFill>
                <a:srgbClr val="A1A1A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257280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3278</Words>
  <Application>Microsoft Office PowerPoint</Application>
  <PresentationFormat>사용자 지정</PresentationFormat>
  <Paragraphs>608</Paragraphs>
  <Slides>33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33</vt:i4>
      </vt:variant>
    </vt:vector>
  </HeadingPairs>
  <TitlesOfParts>
    <vt:vector size="37" baseType="lpstr">
      <vt:lpstr>맑은 고딕</vt:lpstr>
      <vt:lpstr>Aptos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chc</dc:creator>
  <cp:lastModifiedBy>chc</cp:lastModifiedBy>
  <cp:revision>1</cp:revision>
  <dcterms:created xsi:type="dcterms:W3CDTF">2026-06-17T05:27:46Z</dcterms:created>
  <dcterms:modified xsi:type="dcterms:W3CDTF">2026-06-17T05:28:35Z</dcterms:modified>
</cp:coreProperties>
</file>