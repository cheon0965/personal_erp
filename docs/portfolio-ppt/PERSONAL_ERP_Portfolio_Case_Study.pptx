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7183B-F74F-E1C5-0960-B4A5F1FBF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C0D841-303F-80E2-B18C-57E3E71A0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619C98-D184-6ADF-BBED-4764CFEB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63258-A1C8-A20F-061F-F4FEA53F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78EB-F01B-59CF-240C-63D4A99D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75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01221-8828-10CF-4077-AB92D8B1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BD996-FB46-2A41-64D2-E647411EA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AF7CF-1720-4D19-DB32-5A3D06EB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3BCEF5-901B-2D26-5792-78ECD8B9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EF258F-A525-0462-D4BF-17665B3C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7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AA758-1F69-2A42-1379-95DF9949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F08AB1-9B3E-43E8-8276-59D63A0C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64ED56-CEDD-8700-5D98-670824DD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29BFF-0ACD-5E05-5464-EE296F9EB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41627A-A244-4A34-2C09-6F4E31F6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2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B11DD-A634-45CF-3917-41F649A9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2F0EB-E343-ABF8-5D67-C17FAD2DD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26F53E-E268-0394-980F-BA829E879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33F70-3C2C-F314-0ADD-3CB5E4F4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5F68E-7C4D-E0D7-128A-5BA3A168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0A93D9-AFE6-C51A-1B96-97986D48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64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D3207-DE0D-9DA7-A39B-EDD04E13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957AFF-9C5F-0AF3-EF3C-F1509C1D2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E07E51-9E99-21EB-DC29-19AB06644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333234-B892-66A2-7D64-186960615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737B0D-5796-B204-CFCB-6D0E15EE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F3AE39D-B125-CBCA-50F9-9FD823AF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AE1C48-C5A9-A412-DAAF-319BF9FF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13EBEC-CAC0-B31A-0781-E6F298B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70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5C1F7-C719-02A5-562F-D3C8E8DC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F5688B-F1B1-AE71-F11C-91CE8B76C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C774D1-55A8-8939-D801-EC0CCB18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82BB12-A7FF-521F-19A8-76800D9D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8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F5971B-8C56-E84F-7828-16A89471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DDD29A-F0D8-D3B3-275C-EEFB8897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16C49C-1AD5-35B0-7364-EA4688F2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56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2EB04-7DBE-1703-D9A9-74617BDBD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80717-B9B6-897E-1C78-65285EBFF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F63F0B-AB3C-5E24-A7FC-0F0D158FD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E24C95-5AA2-1A8D-A67E-1087CE0C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2A4230-6EA9-85A5-3E8E-A1EA3C01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8ED9C3-478F-3D8E-2B82-779DE2F0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1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077A0-3848-B2B6-7E50-6CD399E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279C29-81F6-6AEB-FB22-F733B0D1E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8E2481-0A4E-5B26-2CA9-63D25411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E35F25-1C20-4C05-6656-43906722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2A1EFD-E080-9091-A088-5E1B94D2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5EA06-DFCB-F1FD-6E7B-FA60C008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64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9B185-2DA9-A50A-C16C-39E3BE8F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620C9C-8051-F371-C056-6688692E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B81C4-4D13-6046-0923-1AD33ACD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45CCC-0BE9-D215-C257-03F82691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551562-277C-47E4-DF13-381F4701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41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85718E-E5A7-FF0D-9933-24A785301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1943B1-8E8A-1483-0F9C-1F2A9B4F5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29AAD-4F4A-7D8E-7712-9A280F9C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93E1EE-2264-1EFC-9681-0C45F8C6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35867-AB44-63F1-C9BF-B8CCFCCB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81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F0548E-7B09-1FDA-21AE-E7473159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727C36-C519-0E49-1FBD-4FA9C20F2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11CB6-6D3A-656E-B86C-779CCBBF5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2C284-F969-4E57-A926-DBE166316600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6E070-1545-2D4D-A690-9216F7182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52157-9179-3183-E1EE-B34FD32BA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EBB1F-32E6-4F87-9CB1-981F81E619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15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1D2DA0-9409-8D87-16EF-DB84A3A5D95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C8B707-2B92-FB43-201D-8EDFD81FA75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94CCFA-3E92-BC96-2FCD-5F21BF4F83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9EA18B-6C0D-CB91-FD8F-3FADC63C5A02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777CD8-8B8E-FFC4-822F-ED525ADB9CF7}"/>
              </a:ext>
            </a:extLst>
          </p:cNvPr>
          <p:cNvSpPr/>
          <p:nvPr/>
        </p:nvSpPr>
        <p:spPr>
          <a:xfrm>
            <a:off x="109728" y="0"/>
            <a:ext cx="45720" cy="685800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F12AB7F-6755-9C73-DD07-66CFDD94F985}"/>
              </a:ext>
            </a:extLst>
          </p:cNvPr>
          <p:cNvSpPr/>
          <p:nvPr/>
        </p:nvSpPr>
        <p:spPr>
          <a:xfrm>
            <a:off x="658368" y="713232"/>
            <a:ext cx="1508760" cy="256032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4A5B2-41EA-5CF3-BE87-A08DC0413E8E}"/>
              </a:ext>
            </a:extLst>
          </p:cNvPr>
          <p:cNvSpPr txBox="1"/>
          <p:nvPr/>
        </p:nvSpPr>
        <p:spPr>
          <a:xfrm>
            <a:off x="731520" y="763524"/>
            <a:ext cx="136245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Portfolio Case Study</a:t>
            </a:r>
            <a:endParaRPr lang="ko-KR" altLang="en-US" sz="78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2D2EC-61E4-1916-2974-768EC5DF2E53}"/>
              </a:ext>
            </a:extLst>
          </p:cNvPr>
          <p:cNvSpPr txBox="1"/>
          <p:nvPr/>
        </p:nvSpPr>
        <p:spPr>
          <a:xfrm>
            <a:off x="640080" y="1188720"/>
            <a:ext cx="5120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en-US" altLang="ko-KR" sz="36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</a:t>
            </a:r>
            <a:endParaRPr lang="ko-KR" altLang="en-US" sz="360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765BAE-BF97-3E9E-A5E5-AD6F8F15C322}"/>
              </a:ext>
            </a:extLst>
          </p:cNvPr>
          <p:cNvSpPr/>
          <p:nvPr/>
        </p:nvSpPr>
        <p:spPr>
          <a:xfrm>
            <a:off x="694944" y="1856232"/>
            <a:ext cx="1234440" cy="73152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31C8C-A04F-EAB6-8B68-805FBCCA0B60}"/>
              </a:ext>
            </a:extLst>
          </p:cNvPr>
          <p:cNvSpPr txBox="1"/>
          <p:nvPr/>
        </p:nvSpPr>
        <p:spPr>
          <a:xfrm>
            <a:off x="640080" y="2212848"/>
            <a:ext cx="50292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>
                <a:solidFill>
                  <a:srgbClr val="E5E7E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</a:t>
            </a:r>
            <a:r>
              <a:rPr lang="ko-KR" altLang="en-US">
                <a:solidFill>
                  <a:srgbClr val="E5E7E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인 사업자와 소상공인의 월별 재무 운영을 계획부터 마감까지 연결하는 </a:t>
            </a:r>
            <a:r>
              <a:rPr lang="en-US" altLang="ko-KR">
                <a:solidFill>
                  <a:srgbClr val="E5E7E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</a:t>
            </a:r>
            <a:endParaRPr lang="ko-KR" altLang="en-US">
              <a:solidFill>
                <a:srgbClr val="E5E7E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CCFCB-E76D-C59D-EEAF-0781A18872F6}"/>
              </a:ext>
            </a:extLst>
          </p:cNvPr>
          <p:cNvSpPr/>
          <p:nvPr/>
        </p:nvSpPr>
        <p:spPr>
          <a:xfrm>
            <a:off x="676656" y="3310128"/>
            <a:ext cx="73152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0F7B0-5F0C-4F08-FBBF-8FA4A2FB78C5}"/>
              </a:ext>
            </a:extLst>
          </p:cNvPr>
          <p:cNvSpPr txBox="1"/>
          <p:nvPr/>
        </p:nvSpPr>
        <p:spPr>
          <a:xfrm>
            <a:off x="859536" y="3236976"/>
            <a:ext cx="42976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</a:t>
            </a:r>
            <a:r>
              <a:rPr lang="en-US" altLang="ko-KR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</a:t>
            </a:r>
            <a:r>
              <a:rPr lang="en-US" altLang="ko-KR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보고를 하나의 월 운영 흐름으로 구성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607168-56B2-80CF-CF09-F5DB8396B12B}"/>
              </a:ext>
            </a:extLst>
          </p:cNvPr>
          <p:cNvSpPr/>
          <p:nvPr/>
        </p:nvSpPr>
        <p:spPr>
          <a:xfrm>
            <a:off x="676656" y="3694176"/>
            <a:ext cx="73152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8F81C-3C46-682B-C4DD-89AE7730846C}"/>
              </a:ext>
            </a:extLst>
          </p:cNvPr>
          <p:cNvSpPr txBox="1"/>
          <p:nvPr/>
        </p:nvSpPr>
        <p:spPr>
          <a:xfrm>
            <a:off x="859536" y="3621024"/>
            <a:ext cx="42976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거래와 전표를 분리해 운영 데이터와 공식 기록의 경계를 명확화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7DD760-C6A2-CE91-E246-A42141F3DD42}"/>
              </a:ext>
            </a:extLst>
          </p:cNvPr>
          <p:cNvSpPr/>
          <p:nvPr/>
        </p:nvSpPr>
        <p:spPr>
          <a:xfrm>
            <a:off x="676656" y="4078224"/>
            <a:ext cx="73152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C807DA-B678-14B7-9B11-D5C3F5F8C6BC}"/>
              </a:ext>
            </a:extLst>
          </p:cNvPr>
          <p:cNvSpPr txBox="1"/>
          <p:nvPr/>
        </p:nvSpPr>
        <p:spPr>
          <a:xfrm>
            <a:off x="859536" y="4005072"/>
            <a:ext cx="42976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데모</a:t>
            </a:r>
            <a:r>
              <a:rPr lang="en-US" altLang="ko-KR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 체계</a:t>
            </a:r>
            <a:r>
              <a:rPr lang="en-US" altLang="ko-KR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배포 문서까지 갖춘 </a:t>
            </a:r>
            <a:r>
              <a:rPr lang="ko-KR" altLang="en-US" sz="1180" dirty="0" err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풀스택</a:t>
            </a:r>
            <a:r>
              <a:rPr lang="ko-KR" altLang="en-US" sz="1180" dirty="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 케이스 스터디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CF9626-9A32-1808-6FCA-2E9CD0AB91C9}"/>
              </a:ext>
            </a:extLst>
          </p:cNvPr>
          <p:cNvSpPr/>
          <p:nvPr/>
        </p:nvSpPr>
        <p:spPr>
          <a:xfrm>
            <a:off x="5989320" y="768096"/>
            <a:ext cx="5468112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A687C4-61D9-3C34-E30F-2D4EF1602CE3}"/>
              </a:ext>
            </a:extLst>
          </p:cNvPr>
          <p:cNvSpPr/>
          <p:nvPr/>
        </p:nvSpPr>
        <p:spPr>
          <a:xfrm>
            <a:off x="5989320" y="768096"/>
            <a:ext cx="5468112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A1E7B7D-2624-0F66-038E-68B95985B69C}"/>
              </a:ext>
            </a:extLst>
          </p:cNvPr>
          <p:cNvSpPr/>
          <p:nvPr/>
        </p:nvSpPr>
        <p:spPr>
          <a:xfrm>
            <a:off x="6153912" y="905256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EC1E99D-81D1-038F-D1A5-E0C5A08C50D9}"/>
              </a:ext>
            </a:extLst>
          </p:cNvPr>
          <p:cNvSpPr/>
          <p:nvPr/>
        </p:nvSpPr>
        <p:spPr>
          <a:xfrm>
            <a:off x="6300216" y="905256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9DCE0C3-1935-375E-6D7B-931A795696DA}"/>
              </a:ext>
            </a:extLst>
          </p:cNvPr>
          <p:cNvSpPr/>
          <p:nvPr/>
        </p:nvSpPr>
        <p:spPr>
          <a:xfrm>
            <a:off x="6446520" y="905256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5F08D2-0339-D4E9-21DA-0D18E71BE636}"/>
              </a:ext>
            </a:extLst>
          </p:cNvPr>
          <p:cNvSpPr txBox="1"/>
          <p:nvPr/>
        </p:nvSpPr>
        <p:spPr>
          <a:xfrm>
            <a:off x="6629400" y="877824"/>
            <a:ext cx="45537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홈 </a:t>
            </a:r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 </a:t>
            </a:r>
            <a:r>
              <a:rPr lang="ko-KR" altLang="en-US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대시보드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D75825-3EB2-E94C-6E3C-FB8EEEFF29E3}"/>
              </a:ext>
            </a:extLst>
          </p:cNvPr>
          <p:cNvSpPr txBox="1"/>
          <p:nvPr/>
        </p:nvSpPr>
        <p:spPr>
          <a:xfrm>
            <a:off x="6217920" y="1499616"/>
            <a:ext cx="50109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 dirty="0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26C58B-7080-4791-B19B-25050F73DE34}"/>
              </a:ext>
            </a:extLst>
          </p:cNvPr>
          <p:cNvSpPr txBox="1"/>
          <p:nvPr/>
        </p:nvSpPr>
        <p:spPr>
          <a:xfrm>
            <a:off x="6309360" y="3031236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01-public-home.png </a:t>
            </a:r>
            <a:r>
              <a:rPr lang="ko-KR" altLang="en-US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또는 </a:t>
            </a:r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03-dashboard.png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04F2E-9A59-EF53-BCF6-DDC2A67B867E}"/>
              </a:ext>
            </a:extLst>
          </p:cNvPr>
          <p:cNvSpPr txBox="1"/>
          <p:nvPr/>
        </p:nvSpPr>
        <p:spPr>
          <a:xfrm>
            <a:off x="6492240" y="3470148"/>
            <a:ext cx="446227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70C5EA-BED8-CE94-6CBC-2E1C94776C35}"/>
              </a:ext>
            </a:extLst>
          </p:cNvPr>
          <p:cNvSpPr/>
          <p:nvPr/>
        </p:nvSpPr>
        <p:spPr>
          <a:xfrm>
            <a:off x="5623560" y="5989320"/>
            <a:ext cx="987552" cy="8229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44D975-1B3F-B03A-3CE4-C48A73A17CF9}"/>
              </a:ext>
            </a:extLst>
          </p:cNvPr>
          <p:cNvSpPr/>
          <p:nvPr/>
        </p:nvSpPr>
        <p:spPr>
          <a:xfrm>
            <a:off x="6729984" y="5989320"/>
            <a:ext cx="987552" cy="8229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419D33-69C3-7751-D1C9-C631C27DBE67}"/>
              </a:ext>
            </a:extLst>
          </p:cNvPr>
          <p:cNvSpPr/>
          <p:nvPr/>
        </p:nvSpPr>
        <p:spPr>
          <a:xfrm>
            <a:off x="7836408" y="5989320"/>
            <a:ext cx="987552" cy="8229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A496E4-E533-4393-4176-44CC28DB79C6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A1A1A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A1A1A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883FDD-DF73-A57F-ECB1-4E190D8E6DC3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A1A1A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01</a:t>
            </a:r>
            <a:endParaRPr lang="ko-KR" altLang="en-US" sz="780">
              <a:solidFill>
                <a:srgbClr val="A1A1A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665250E-1169-B062-D8A2-8B2ACC83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11" t="7947" r="21384" b="-1628"/>
          <a:stretch>
            <a:fillRect/>
          </a:stretch>
        </p:blipFill>
        <p:spPr>
          <a:xfrm>
            <a:off x="5989320" y="743712"/>
            <a:ext cx="5535168" cy="500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9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E0BA56D-8C2E-3AF0-D2CF-E8EF1C348F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05E7F2-B46B-DF63-5837-619911996AB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AD5C56-A58F-C7A4-6FA7-D913BB69F99E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2D5AA-AB5C-8E4C-887A-9F47C870BC81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SUMMARY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187ED-5BC5-53B7-129A-420A27D4F56A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프로젝트를 한 장으로 요약하면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E2D214D-8ABC-0254-BE5C-EC4B2C7FEB40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53FC3F-12A4-1DEB-EA07-A623737EA881}"/>
              </a:ext>
            </a:extLst>
          </p:cNvPr>
          <p:cNvSpPr/>
          <p:nvPr/>
        </p:nvSpPr>
        <p:spPr>
          <a:xfrm>
            <a:off x="621792" y="1444752"/>
            <a:ext cx="259689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6F7D8A-E6D3-ECD6-12D8-70C5C65515B1}"/>
              </a:ext>
            </a:extLst>
          </p:cNvPr>
          <p:cNvSpPr/>
          <p:nvPr/>
        </p:nvSpPr>
        <p:spPr>
          <a:xfrm>
            <a:off x="621792" y="1444752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9BC79-27B9-F907-458A-6E28E3EB4E1E}"/>
              </a:ext>
            </a:extLst>
          </p:cNvPr>
          <p:cNvSpPr txBox="1"/>
          <p:nvPr/>
        </p:nvSpPr>
        <p:spPr>
          <a:xfrm>
            <a:off x="786384" y="1545336"/>
            <a:ext cx="23042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96B6C-1B2B-F78E-62BD-E1D2630BCE0D}"/>
              </a:ext>
            </a:extLst>
          </p:cNvPr>
          <p:cNvSpPr txBox="1"/>
          <p:nvPr/>
        </p:nvSpPr>
        <p:spPr>
          <a:xfrm>
            <a:off x="786384" y="1792224"/>
            <a:ext cx="2304288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반복적인 월별 재무 운영을 직접 챙겨야 하는 소규모 사업자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9A8B70-DF47-AAFB-762B-38EE1736426B}"/>
              </a:ext>
            </a:extLst>
          </p:cNvPr>
          <p:cNvSpPr/>
          <p:nvPr/>
        </p:nvSpPr>
        <p:spPr>
          <a:xfrm>
            <a:off x="3438144" y="1444752"/>
            <a:ext cx="259689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0CEB84-1E70-B65A-8112-679FD3619228}"/>
              </a:ext>
            </a:extLst>
          </p:cNvPr>
          <p:cNvSpPr/>
          <p:nvPr/>
        </p:nvSpPr>
        <p:spPr>
          <a:xfrm>
            <a:off x="3438144" y="1444752"/>
            <a:ext cx="64008" cy="93268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57053-B06F-F292-025E-1147C693DC08}"/>
              </a:ext>
            </a:extLst>
          </p:cNvPr>
          <p:cNvSpPr txBox="1"/>
          <p:nvPr/>
        </p:nvSpPr>
        <p:spPr>
          <a:xfrm>
            <a:off x="3602736" y="1545336"/>
            <a:ext cx="23042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핵심 문제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EAC2AD-D874-2636-FE2F-C9E74E66F528}"/>
              </a:ext>
            </a:extLst>
          </p:cNvPr>
          <p:cNvSpPr txBox="1"/>
          <p:nvPr/>
        </p:nvSpPr>
        <p:spPr>
          <a:xfrm>
            <a:off x="3602736" y="1792224"/>
            <a:ext cx="2304288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예정 거래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실제 거래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보고가 서로 끊겨 있음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E71832-CDDE-7E72-8A60-E97B5AFEF1DA}"/>
              </a:ext>
            </a:extLst>
          </p:cNvPr>
          <p:cNvSpPr/>
          <p:nvPr/>
        </p:nvSpPr>
        <p:spPr>
          <a:xfrm>
            <a:off x="6254496" y="1444752"/>
            <a:ext cx="259689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47E19E-6848-4065-A25C-C956E843B223}"/>
              </a:ext>
            </a:extLst>
          </p:cNvPr>
          <p:cNvSpPr/>
          <p:nvPr/>
        </p:nvSpPr>
        <p:spPr>
          <a:xfrm>
            <a:off x="6254496" y="1444752"/>
            <a:ext cx="64008" cy="93268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8A189-6E8A-977F-78D7-C6FC6572420D}"/>
              </a:ext>
            </a:extLst>
          </p:cNvPr>
          <p:cNvSpPr txBox="1"/>
          <p:nvPr/>
        </p:nvSpPr>
        <p:spPr>
          <a:xfrm>
            <a:off x="6419088" y="1545336"/>
            <a:ext cx="23042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해법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B3DED-E8A8-E60F-405E-7091500D9E7D}"/>
              </a:ext>
            </a:extLst>
          </p:cNvPr>
          <p:cNvSpPr txBox="1"/>
          <p:nvPr/>
        </p:nvSpPr>
        <p:spPr>
          <a:xfrm>
            <a:off x="6419088" y="1792224"/>
            <a:ext cx="2304288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한 달의 운영을 열고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수집하고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확정하고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닫는 흐름 제공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4798DE-BD39-B6C6-E8EC-653F96D56DF9}"/>
              </a:ext>
            </a:extLst>
          </p:cNvPr>
          <p:cNvSpPr/>
          <p:nvPr/>
        </p:nvSpPr>
        <p:spPr>
          <a:xfrm>
            <a:off x="9070848" y="1444752"/>
            <a:ext cx="259689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3682E0-ACA0-8C25-5CA7-B6D166D59852}"/>
              </a:ext>
            </a:extLst>
          </p:cNvPr>
          <p:cNvSpPr/>
          <p:nvPr/>
        </p:nvSpPr>
        <p:spPr>
          <a:xfrm>
            <a:off x="9070848" y="1444752"/>
            <a:ext cx="64008" cy="932688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739E0-0EAF-72D6-6493-B4AAD9C40BC5}"/>
              </a:ext>
            </a:extLst>
          </p:cNvPr>
          <p:cNvSpPr txBox="1"/>
          <p:nvPr/>
        </p:nvSpPr>
        <p:spPr>
          <a:xfrm>
            <a:off x="9235440" y="1545336"/>
            <a:ext cx="23042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기술 판단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5BC8C7-A930-E9A3-E95F-81465CDBAADA}"/>
              </a:ext>
            </a:extLst>
          </p:cNvPr>
          <p:cNvSpPr txBox="1"/>
          <p:nvPr/>
        </p:nvSpPr>
        <p:spPr>
          <a:xfrm>
            <a:off x="9235440" y="1792224"/>
            <a:ext cx="2304288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Modular monolith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와 선택적 헥사고날 구조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9EA33C-708F-0795-A0EC-0357BA8F4BA1}"/>
              </a:ext>
            </a:extLst>
          </p:cNvPr>
          <p:cNvSpPr/>
          <p:nvPr/>
        </p:nvSpPr>
        <p:spPr>
          <a:xfrm>
            <a:off x="658368" y="2788920"/>
            <a:ext cx="5212080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19A349-3719-BEA3-9585-8E95AB7B7D9E}"/>
              </a:ext>
            </a:extLst>
          </p:cNvPr>
          <p:cNvSpPr txBox="1"/>
          <p:nvPr/>
        </p:nvSpPr>
        <p:spPr>
          <a:xfrm>
            <a:off x="868680" y="2971800"/>
            <a:ext cx="4480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5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제품이 다루는 월 운영 범위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5F314F-401F-82CD-5F8F-7F4C516AFF43}"/>
              </a:ext>
            </a:extLst>
          </p:cNvPr>
          <p:cNvSpPr txBox="1"/>
          <p:nvPr/>
        </p:nvSpPr>
        <p:spPr>
          <a:xfrm>
            <a:off x="932688" y="3456432"/>
            <a:ext cx="443484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 데이터 준비와 월 운영 시작</a:t>
            </a:r>
          </a:p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항목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규칙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</a:p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확정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마감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재무제표 스냅샷</a:t>
            </a:r>
          </a:p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허브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관리자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로그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7BBAD0-79A1-11D5-E859-56AEC2A7F6CA}"/>
              </a:ext>
            </a:extLst>
          </p:cNvPr>
          <p:cNvSpPr/>
          <p:nvPr/>
        </p:nvSpPr>
        <p:spPr>
          <a:xfrm>
            <a:off x="6291072" y="2788920"/>
            <a:ext cx="5212080" cy="2212848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2B1628-CADD-3C4C-DA80-9EE3028B2F55}"/>
              </a:ext>
            </a:extLst>
          </p:cNvPr>
          <p:cNvSpPr txBox="1"/>
          <p:nvPr/>
        </p:nvSpPr>
        <p:spPr>
          <a:xfrm>
            <a:off x="6492240" y="2971800"/>
            <a:ext cx="4480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포트폴리오에서 드러나는 역량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D9E9A7-E80E-48D0-D21C-05B6A84CE442}"/>
              </a:ext>
            </a:extLst>
          </p:cNvPr>
          <p:cNvSpPr txBox="1"/>
          <p:nvPr/>
        </p:nvSpPr>
        <p:spPr>
          <a:xfrm>
            <a:off x="6565392" y="3456432"/>
            <a:ext cx="4434840" cy="2308324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문제 정의에서 화면 설계까지 이어지는 제품 사고</a:t>
            </a:r>
          </a:p>
          <a:p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ERP 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유지보수 경험에서 나온 상태</a:t>
            </a:r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예외</a:t>
            </a:r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설계</a:t>
            </a:r>
          </a:p>
          <a:p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도메인 경계와 상태 전이를 코드</a:t>
            </a:r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화면으로 구현</a:t>
            </a:r>
          </a:p>
          <a:p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Web/API/DB/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</a:t>
            </a:r>
            <a:r>
              <a:rPr lang="en-US" altLang="ko-KR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14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배포를 연결한 완성도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514A7F-4242-87E9-2A06-A969BA984B85}"/>
              </a:ext>
            </a:extLst>
          </p:cNvPr>
          <p:cNvSpPr/>
          <p:nvPr/>
        </p:nvSpPr>
        <p:spPr>
          <a:xfrm>
            <a:off x="6473952" y="4645152"/>
            <a:ext cx="1143000" cy="6400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4886A53-9429-321E-E792-8D3B30E51C94}"/>
              </a:ext>
            </a:extLst>
          </p:cNvPr>
          <p:cNvSpPr/>
          <p:nvPr/>
        </p:nvSpPr>
        <p:spPr>
          <a:xfrm>
            <a:off x="7772400" y="4645152"/>
            <a:ext cx="1143000" cy="640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30E732E-1242-0294-E49A-25F1B35B9F05}"/>
              </a:ext>
            </a:extLst>
          </p:cNvPr>
          <p:cNvSpPr/>
          <p:nvPr/>
        </p:nvSpPr>
        <p:spPr>
          <a:xfrm>
            <a:off x="9070848" y="4645152"/>
            <a:ext cx="1143000" cy="640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D1C3FE-DB3E-D919-0F93-7FFBFC6B7E89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4A9DEE-F081-401C-C418-6430D51CB0CA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02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7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0A4359-0C07-1ED2-DA6C-C546C106FC0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20F2AF-4B92-ADBC-03BF-0CF656889C9D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34B2E5C-83AF-1716-9903-F6ACED9D1D96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56A10-CF7F-03AF-71B3-933C5174C6CA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PROBLEM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2DC4C-6046-4E16-4CF1-7C60A37BCF5C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해결하려는 문제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596A39A-617F-136A-78CE-60CD033090ED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580C70-7D99-EA4B-71EF-068C689BE5D0}"/>
              </a:ext>
            </a:extLst>
          </p:cNvPr>
          <p:cNvSpPr txBox="1"/>
          <p:nvPr/>
        </p:nvSpPr>
        <p:spPr>
          <a:xfrm>
            <a:off x="713232" y="1298448"/>
            <a:ext cx="4389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Pain point</a:t>
            </a:r>
            <a:endParaRPr lang="ko-KR" altLang="en-US" sz="100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C20AF-2028-B81A-AC22-ADA3500B0AB4}"/>
              </a:ext>
            </a:extLst>
          </p:cNvPr>
          <p:cNvSpPr txBox="1"/>
          <p:nvPr/>
        </p:nvSpPr>
        <p:spPr>
          <a:xfrm>
            <a:off x="4526280" y="1298448"/>
            <a:ext cx="4389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Product response</a:t>
            </a:r>
            <a:endParaRPr lang="ko-KR" altLang="en-US" sz="100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5031F0-F2FB-624A-1544-A9971C0A5EDA}"/>
              </a:ext>
            </a:extLst>
          </p:cNvPr>
          <p:cNvSpPr/>
          <p:nvPr/>
        </p:nvSpPr>
        <p:spPr>
          <a:xfrm>
            <a:off x="658368" y="1645920"/>
            <a:ext cx="3154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29269D-4773-D637-C685-F489D4974D93}"/>
              </a:ext>
            </a:extLst>
          </p:cNvPr>
          <p:cNvSpPr/>
          <p:nvPr/>
        </p:nvSpPr>
        <p:spPr>
          <a:xfrm>
            <a:off x="658368" y="1645920"/>
            <a:ext cx="64008" cy="7498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70848-2300-9947-6C43-0B031ED0AC7B}"/>
              </a:ext>
            </a:extLst>
          </p:cNvPr>
          <p:cNvSpPr txBox="1"/>
          <p:nvPr/>
        </p:nvSpPr>
        <p:spPr>
          <a:xfrm>
            <a:off x="822960" y="1737360"/>
            <a:ext cx="286207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거래가 흩어짐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3100E-4723-75A6-9B87-512D65C76D51}"/>
              </a:ext>
            </a:extLst>
          </p:cNvPr>
          <p:cNvSpPr txBox="1"/>
          <p:nvPr/>
        </p:nvSpPr>
        <p:spPr>
          <a:xfrm>
            <a:off x="822960" y="1975104"/>
            <a:ext cx="286207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통장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카드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수기 입력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파일이 따로 움직임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DA057FE-A193-C0ED-DEB2-26FBD1F61012}"/>
              </a:ext>
            </a:extLst>
          </p:cNvPr>
          <p:cNvCxnSpPr/>
          <p:nvPr/>
        </p:nvCxnSpPr>
        <p:spPr>
          <a:xfrm>
            <a:off x="3913632" y="2020824"/>
            <a:ext cx="365760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2E854D-76F7-F097-D089-966F3D7127A1}"/>
              </a:ext>
            </a:extLst>
          </p:cNvPr>
          <p:cNvSpPr/>
          <p:nvPr/>
        </p:nvSpPr>
        <p:spPr>
          <a:xfrm>
            <a:off x="4443984" y="1645920"/>
            <a:ext cx="6720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E867D98-FCE6-0C77-1709-8056940DCBBE}"/>
              </a:ext>
            </a:extLst>
          </p:cNvPr>
          <p:cNvSpPr/>
          <p:nvPr/>
        </p:nvSpPr>
        <p:spPr>
          <a:xfrm>
            <a:off x="4443984" y="1645920"/>
            <a:ext cx="64008" cy="7498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A355DA-C536-F4B0-859F-689D24BF2EDB}"/>
              </a:ext>
            </a:extLst>
          </p:cNvPr>
          <p:cNvSpPr txBox="1"/>
          <p:nvPr/>
        </p:nvSpPr>
        <p:spPr>
          <a:xfrm>
            <a:off x="4608576" y="1737360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9DC62-C10E-58AB-DD2F-569CC3C0E5FF}"/>
              </a:ext>
            </a:extLst>
          </p:cNvPr>
          <p:cNvSpPr txBox="1"/>
          <p:nvPr/>
        </p:nvSpPr>
        <p:spPr>
          <a:xfrm>
            <a:off x="4608576" y="1975104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배치와 수집 거래로 입력을 모음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6B09A3-D29A-CEFE-AE85-CF99E2333C7D}"/>
              </a:ext>
            </a:extLst>
          </p:cNvPr>
          <p:cNvSpPr/>
          <p:nvPr/>
        </p:nvSpPr>
        <p:spPr>
          <a:xfrm>
            <a:off x="658368" y="2578608"/>
            <a:ext cx="3154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79E448-B527-4E5B-CAD7-6312E72312EC}"/>
              </a:ext>
            </a:extLst>
          </p:cNvPr>
          <p:cNvSpPr/>
          <p:nvPr/>
        </p:nvSpPr>
        <p:spPr>
          <a:xfrm>
            <a:off x="658368" y="2578608"/>
            <a:ext cx="64008" cy="7498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5EFD2-917B-96A8-67F5-957511F818CC}"/>
              </a:ext>
            </a:extLst>
          </p:cNvPr>
          <p:cNvSpPr txBox="1"/>
          <p:nvPr/>
        </p:nvSpPr>
        <p:spPr>
          <a:xfrm>
            <a:off x="822960" y="2670048"/>
            <a:ext cx="286207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계획과 실제가 끊김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46687F-60B7-A536-3C22-AD00E2B3F35A}"/>
              </a:ext>
            </a:extLst>
          </p:cNvPr>
          <p:cNvSpPr txBox="1"/>
          <p:nvPr/>
        </p:nvSpPr>
        <p:spPr>
          <a:xfrm>
            <a:off x="822960" y="2907792"/>
            <a:ext cx="286207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예정 거래가 실제 거래와 이어지지 않음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B484760-5FCB-84ED-A09E-E6ACA5885129}"/>
              </a:ext>
            </a:extLst>
          </p:cNvPr>
          <p:cNvCxnSpPr/>
          <p:nvPr/>
        </p:nvCxnSpPr>
        <p:spPr>
          <a:xfrm>
            <a:off x="3913632" y="2953512"/>
            <a:ext cx="365760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D424E3-92E9-DB2C-262C-9345AEA582C6}"/>
              </a:ext>
            </a:extLst>
          </p:cNvPr>
          <p:cNvSpPr/>
          <p:nvPr/>
        </p:nvSpPr>
        <p:spPr>
          <a:xfrm>
            <a:off x="4443984" y="2578608"/>
            <a:ext cx="6720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D3F0A2-46EC-D7BD-8232-3795641CD402}"/>
              </a:ext>
            </a:extLst>
          </p:cNvPr>
          <p:cNvSpPr/>
          <p:nvPr/>
        </p:nvSpPr>
        <p:spPr>
          <a:xfrm>
            <a:off x="4443984" y="2578608"/>
            <a:ext cx="64008" cy="7498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63AAC4-AC0F-2F00-03B0-A70ED2DF6B78}"/>
              </a:ext>
            </a:extLst>
          </p:cNvPr>
          <p:cNvSpPr txBox="1"/>
          <p:nvPr/>
        </p:nvSpPr>
        <p:spPr>
          <a:xfrm>
            <a:off x="4608576" y="2670048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14B807-5017-1780-D6BA-06BDDDD0EB8C}"/>
              </a:ext>
            </a:extLst>
          </p:cNvPr>
          <p:cNvSpPr txBox="1"/>
          <p:nvPr/>
        </p:nvSpPr>
        <p:spPr>
          <a:xfrm>
            <a:off x="4608576" y="2907792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규칙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항목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거래를 연결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EB8C5A-61AF-B0ED-5B09-A02978E5767B}"/>
              </a:ext>
            </a:extLst>
          </p:cNvPr>
          <p:cNvSpPr/>
          <p:nvPr/>
        </p:nvSpPr>
        <p:spPr>
          <a:xfrm>
            <a:off x="658368" y="3511296"/>
            <a:ext cx="3154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646959-5809-ACB0-DD90-E98F22ED02DF}"/>
              </a:ext>
            </a:extLst>
          </p:cNvPr>
          <p:cNvSpPr/>
          <p:nvPr/>
        </p:nvSpPr>
        <p:spPr>
          <a:xfrm>
            <a:off x="658368" y="3511296"/>
            <a:ext cx="64008" cy="7498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2D5926-F14E-7338-607E-B089CCA87B1E}"/>
              </a:ext>
            </a:extLst>
          </p:cNvPr>
          <p:cNvSpPr txBox="1"/>
          <p:nvPr/>
        </p:nvSpPr>
        <p:spPr>
          <a:xfrm>
            <a:off x="822960" y="3602736"/>
            <a:ext cx="286207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숫자가 불명확함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2D17C-299B-E05F-86D9-344A24CC0546}"/>
              </a:ext>
            </a:extLst>
          </p:cNvPr>
          <p:cNvSpPr txBox="1"/>
          <p:nvPr/>
        </p:nvSpPr>
        <p:spPr>
          <a:xfrm>
            <a:off x="822960" y="3840480"/>
            <a:ext cx="286207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 중 거래와 확정 기록이 섞임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37169EC-2824-0963-D065-9C11DDE76DBA}"/>
              </a:ext>
            </a:extLst>
          </p:cNvPr>
          <p:cNvCxnSpPr/>
          <p:nvPr/>
        </p:nvCxnSpPr>
        <p:spPr>
          <a:xfrm>
            <a:off x="3913632" y="3886200"/>
            <a:ext cx="365760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35E1D3-09A3-537D-F78E-22837C86B3E6}"/>
              </a:ext>
            </a:extLst>
          </p:cNvPr>
          <p:cNvSpPr/>
          <p:nvPr/>
        </p:nvSpPr>
        <p:spPr>
          <a:xfrm>
            <a:off x="4443984" y="3511296"/>
            <a:ext cx="6720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29AD4F-6053-783B-61EE-DE0559C756DE}"/>
              </a:ext>
            </a:extLst>
          </p:cNvPr>
          <p:cNvSpPr/>
          <p:nvPr/>
        </p:nvSpPr>
        <p:spPr>
          <a:xfrm>
            <a:off x="4443984" y="3511296"/>
            <a:ext cx="64008" cy="7498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193800-BE33-E34E-83D4-1D3357519818}"/>
              </a:ext>
            </a:extLst>
          </p:cNvPr>
          <p:cNvSpPr txBox="1"/>
          <p:nvPr/>
        </p:nvSpPr>
        <p:spPr>
          <a:xfrm>
            <a:off x="4608576" y="3602736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대응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22A3A6-A6CB-7A3A-0526-B72B982CF578}"/>
              </a:ext>
            </a:extLst>
          </p:cNvPr>
          <p:cNvSpPr txBox="1"/>
          <p:nvPr/>
        </p:nvSpPr>
        <p:spPr>
          <a:xfrm>
            <a:off x="4608576" y="3840480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전표와 마감 스냅샷으로 공식 기록 분리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312252-6B52-B517-6569-44794007418E}"/>
              </a:ext>
            </a:extLst>
          </p:cNvPr>
          <p:cNvSpPr/>
          <p:nvPr/>
        </p:nvSpPr>
        <p:spPr>
          <a:xfrm>
            <a:off x="658368" y="4443984"/>
            <a:ext cx="3154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F85F9BF-EA80-727C-2F5B-F49BD245CB4F}"/>
              </a:ext>
            </a:extLst>
          </p:cNvPr>
          <p:cNvSpPr/>
          <p:nvPr/>
        </p:nvSpPr>
        <p:spPr>
          <a:xfrm>
            <a:off x="658368" y="4443984"/>
            <a:ext cx="64008" cy="7498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CBDE77-2484-568B-B96C-E51D70838D01}"/>
              </a:ext>
            </a:extLst>
          </p:cNvPr>
          <p:cNvSpPr txBox="1"/>
          <p:nvPr/>
        </p:nvSpPr>
        <p:spPr>
          <a:xfrm>
            <a:off x="822960" y="4535424"/>
            <a:ext cx="286207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다음 달 준비가 수동적임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017E5C-3616-ADA2-711E-B023B626C9FD}"/>
              </a:ext>
            </a:extLst>
          </p:cNvPr>
          <p:cNvSpPr txBox="1"/>
          <p:nvPr/>
        </p:nvSpPr>
        <p:spPr>
          <a:xfrm>
            <a:off x="822960" y="4773168"/>
            <a:ext cx="286207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이후 이월과 전망이 따로 관리됨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28F173-45FA-6473-083C-07769B4AC880}"/>
              </a:ext>
            </a:extLst>
          </p:cNvPr>
          <p:cNvCxnSpPr/>
          <p:nvPr/>
        </p:nvCxnSpPr>
        <p:spPr>
          <a:xfrm>
            <a:off x="3913632" y="4818888"/>
            <a:ext cx="365760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1BBDBB-BA49-EF25-0112-0BFAE10A9E32}"/>
              </a:ext>
            </a:extLst>
          </p:cNvPr>
          <p:cNvSpPr/>
          <p:nvPr/>
        </p:nvSpPr>
        <p:spPr>
          <a:xfrm>
            <a:off x="4443984" y="4443984"/>
            <a:ext cx="6720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6D25E17-A673-CD5D-80F0-1DFF6E68F224}"/>
              </a:ext>
            </a:extLst>
          </p:cNvPr>
          <p:cNvSpPr/>
          <p:nvPr/>
        </p:nvSpPr>
        <p:spPr>
          <a:xfrm>
            <a:off x="4443984" y="4443984"/>
            <a:ext cx="64008" cy="7498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2153BC-30D3-D3B8-367F-24F4AA209147}"/>
              </a:ext>
            </a:extLst>
          </p:cNvPr>
          <p:cNvSpPr txBox="1"/>
          <p:nvPr/>
        </p:nvSpPr>
        <p:spPr>
          <a:xfrm>
            <a:off x="4608576" y="4535424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15932D-AC58-13FF-0647-DFE3CDACCBA6}"/>
              </a:ext>
            </a:extLst>
          </p:cNvPr>
          <p:cNvSpPr txBox="1"/>
          <p:nvPr/>
        </p:nvSpPr>
        <p:spPr>
          <a:xfrm>
            <a:off x="4608576" y="4773168"/>
            <a:ext cx="64282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차기 이월과 전망으로 다음 월 운영 연결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151125-2539-66A9-44F7-C3F5492D0C1F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65BB58-263D-1535-EC2C-13114E97E656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03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318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1E02D15-F355-3093-0ECC-0F09BA3011A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E26383-5CC5-4369-7EBD-466D6637DD46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0247761-CCC5-D58A-BF0E-DEBF7946270C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11915-0A90-0676-7AA1-24FC4CC0475D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USER FLOW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D0C76-987A-5880-2B50-D82AC6053372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 시나리오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312A2B-1A83-5582-C9A3-D2B59FEB67F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9F4A88-D0C9-B8A5-0FD3-C4CBBD984982}"/>
              </a:ext>
            </a:extLst>
          </p:cNvPr>
          <p:cNvSpPr/>
          <p:nvPr/>
        </p:nvSpPr>
        <p:spPr>
          <a:xfrm>
            <a:off x="713232" y="1417320"/>
            <a:ext cx="4297680" cy="3749040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2E439-831E-D39A-12C4-ED18ACA5A483}"/>
              </a:ext>
            </a:extLst>
          </p:cNvPr>
          <p:cNvSpPr txBox="1"/>
          <p:nvPr/>
        </p:nvSpPr>
        <p:spPr>
          <a:xfrm>
            <a:off x="960120" y="1700784"/>
            <a:ext cx="36118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5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한 달 운영에서 사용자가 해야 하는 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956600-7929-2442-009A-9A3F5F2A508A}"/>
              </a:ext>
            </a:extLst>
          </p:cNvPr>
          <p:cNvSpPr txBox="1"/>
          <p:nvPr/>
        </p:nvSpPr>
        <p:spPr>
          <a:xfrm>
            <a:off x="987552" y="2240280"/>
            <a:ext cx="3520440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 데이터 확인
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이번 달 예정 거래 생성
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통장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카드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수기 입력 정리
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전표 확정
</a:t>
            </a:r>
            <a:r>
              <a:rPr lang="en-US" altLang="ko-KR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22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보고서와 다음 달 기준 생성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F80C2A9-0F97-5C8E-B2CA-8BBD0FB644C6}"/>
              </a:ext>
            </a:extLst>
          </p:cNvPr>
          <p:cNvCxnSpPr/>
          <p:nvPr/>
        </p:nvCxnSpPr>
        <p:spPr>
          <a:xfrm>
            <a:off x="5596128" y="1682496"/>
            <a:ext cx="0" cy="3200400"/>
          </a:xfrm>
          <a:prstGeom prst="line">
            <a:avLst/>
          </a:prstGeom>
          <a:ln w="15240">
            <a:solidFill>
              <a:srgbClr val="D8D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7401904D-CB37-576C-9A2E-56DEDAB1D40F}"/>
              </a:ext>
            </a:extLst>
          </p:cNvPr>
          <p:cNvSpPr/>
          <p:nvPr/>
        </p:nvSpPr>
        <p:spPr>
          <a:xfrm>
            <a:off x="5376672" y="1627632"/>
            <a:ext cx="438912" cy="438912"/>
          </a:xfrm>
          <a:prstGeom prst="ellipse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E3C8DC-962F-BBA6-DAD9-629A01274C53}"/>
              </a:ext>
            </a:extLst>
          </p:cNvPr>
          <p:cNvSpPr txBox="1"/>
          <p:nvPr/>
        </p:nvSpPr>
        <p:spPr>
          <a:xfrm>
            <a:off x="5468112" y="1737360"/>
            <a:ext cx="256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</a:t>
            </a:r>
            <a:endParaRPr lang="ko-KR" altLang="en-US" sz="85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CB51DD-A206-598F-6EA8-7A05565EBF0D}"/>
              </a:ext>
            </a:extLst>
          </p:cNvPr>
          <p:cNvSpPr/>
          <p:nvPr/>
        </p:nvSpPr>
        <p:spPr>
          <a:xfrm>
            <a:off x="6080760" y="1417320"/>
            <a:ext cx="5120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DFE667-3DCA-E96B-F7B7-214DA36D614F}"/>
              </a:ext>
            </a:extLst>
          </p:cNvPr>
          <p:cNvSpPr/>
          <p:nvPr/>
        </p:nvSpPr>
        <p:spPr>
          <a:xfrm>
            <a:off x="6080760" y="1417320"/>
            <a:ext cx="64008" cy="74980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D74B9E-FD2A-D796-9E1F-7A82D54596DC}"/>
              </a:ext>
            </a:extLst>
          </p:cNvPr>
          <p:cNvSpPr txBox="1"/>
          <p:nvPr/>
        </p:nvSpPr>
        <p:spPr>
          <a:xfrm>
            <a:off x="6245352" y="1508760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허브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CABA2-9943-D749-0F05-CE65761C0C7F}"/>
              </a:ext>
            </a:extLst>
          </p:cNvPr>
          <p:cNvSpPr txBox="1"/>
          <p:nvPr/>
        </p:nvSpPr>
        <p:spPr>
          <a:xfrm>
            <a:off x="6245352" y="1746504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우선 작업과 마감 차단 사유 확인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2C8008D-7962-1186-D273-750B5D99895C}"/>
              </a:ext>
            </a:extLst>
          </p:cNvPr>
          <p:cNvSpPr/>
          <p:nvPr/>
        </p:nvSpPr>
        <p:spPr>
          <a:xfrm>
            <a:off x="5376672" y="2587752"/>
            <a:ext cx="438912" cy="438912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B16127-2443-6849-9C04-D6F2FD504105}"/>
              </a:ext>
            </a:extLst>
          </p:cNvPr>
          <p:cNvSpPr txBox="1"/>
          <p:nvPr/>
        </p:nvSpPr>
        <p:spPr>
          <a:xfrm>
            <a:off x="5468112" y="2697480"/>
            <a:ext cx="256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</a:t>
            </a:r>
            <a:endParaRPr lang="ko-KR" altLang="en-US" sz="85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36B435-F804-5FB5-EB22-C6A9326F323D}"/>
              </a:ext>
            </a:extLst>
          </p:cNvPr>
          <p:cNvSpPr/>
          <p:nvPr/>
        </p:nvSpPr>
        <p:spPr>
          <a:xfrm>
            <a:off x="6080760" y="2377440"/>
            <a:ext cx="5120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61EB9E-A733-4D54-B3BF-9855BF641B9F}"/>
              </a:ext>
            </a:extLst>
          </p:cNvPr>
          <p:cNvSpPr/>
          <p:nvPr/>
        </p:nvSpPr>
        <p:spPr>
          <a:xfrm>
            <a:off x="6080760" y="2377440"/>
            <a:ext cx="64008" cy="74980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6179D-19C6-AE9C-CF0F-7766A8904D0B}"/>
              </a:ext>
            </a:extLst>
          </p:cNvPr>
          <p:cNvSpPr txBox="1"/>
          <p:nvPr/>
        </p:nvSpPr>
        <p:spPr>
          <a:xfrm>
            <a:off x="6245352" y="2468880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</a:t>
            </a:r>
            <a:r>
              <a:rPr lang="en-US" altLang="ko-KR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D79F8B-CA09-37F1-8218-56745B1EF85B}"/>
              </a:ext>
            </a:extLst>
          </p:cNvPr>
          <p:cNvSpPr txBox="1"/>
          <p:nvPr/>
        </p:nvSpPr>
        <p:spPr>
          <a:xfrm>
            <a:off x="6245352" y="2706624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입력 후보를 수집 거래로 정리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8389B0A-4C39-761C-9086-2B98856D29DC}"/>
              </a:ext>
            </a:extLst>
          </p:cNvPr>
          <p:cNvSpPr/>
          <p:nvPr/>
        </p:nvSpPr>
        <p:spPr>
          <a:xfrm>
            <a:off x="5376672" y="3547872"/>
            <a:ext cx="438912" cy="438912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72D43F-8413-8FBE-CC3E-C1F4EC48316F}"/>
              </a:ext>
            </a:extLst>
          </p:cNvPr>
          <p:cNvSpPr txBox="1"/>
          <p:nvPr/>
        </p:nvSpPr>
        <p:spPr>
          <a:xfrm>
            <a:off x="5468112" y="3657600"/>
            <a:ext cx="256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</a:t>
            </a:r>
            <a:endParaRPr lang="ko-KR" altLang="en-US" sz="85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3708E7-7764-28D9-8C3B-61917BB7CE63}"/>
              </a:ext>
            </a:extLst>
          </p:cNvPr>
          <p:cNvSpPr/>
          <p:nvPr/>
        </p:nvSpPr>
        <p:spPr>
          <a:xfrm>
            <a:off x="6080760" y="3337560"/>
            <a:ext cx="5120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026C31-DF6F-A432-39EB-9E464850CDDE}"/>
              </a:ext>
            </a:extLst>
          </p:cNvPr>
          <p:cNvSpPr/>
          <p:nvPr/>
        </p:nvSpPr>
        <p:spPr>
          <a:xfrm>
            <a:off x="6080760" y="3337560"/>
            <a:ext cx="64008" cy="74980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6601B5-94EA-2169-F898-FE4E07A4142E}"/>
              </a:ext>
            </a:extLst>
          </p:cNvPr>
          <p:cNvSpPr txBox="1"/>
          <p:nvPr/>
        </p:nvSpPr>
        <p:spPr>
          <a:xfrm>
            <a:off x="6245352" y="3429000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2B8845-4AE4-A631-C8D5-DE1382705C78}"/>
              </a:ext>
            </a:extLst>
          </p:cNvPr>
          <p:cNvSpPr txBox="1"/>
          <p:nvPr/>
        </p:nvSpPr>
        <p:spPr>
          <a:xfrm>
            <a:off x="6245352" y="3666744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기록으로 확정하고 월 마감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3E055A7-F52D-9235-77C3-F92864D3D2F3}"/>
              </a:ext>
            </a:extLst>
          </p:cNvPr>
          <p:cNvSpPr/>
          <p:nvPr/>
        </p:nvSpPr>
        <p:spPr>
          <a:xfrm>
            <a:off x="5376672" y="4507992"/>
            <a:ext cx="438912" cy="438912"/>
          </a:xfrm>
          <a:prstGeom prst="ellipse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BC104F-CC95-B287-C958-DCF3DD00D076}"/>
              </a:ext>
            </a:extLst>
          </p:cNvPr>
          <p:cNvSpPr txBox="1"/>
          <p:nvPr/>
        </p:nvSpPr>
        <p:spPr>
          <a:xfrm>
            <a:off x="5468112" y="4617720"/>
            <a:ext cx="256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85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4</a:t>
            </a:r>
            <a:endParaRPr lang="ko-KR" altLang="en-US" sz="85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626E4F0-D445-B9E8-90AE-925673D07801}"/>
              </a:ext>
            </a:extLst>
          </p:cNvPr>
          <p:cNvSpPr/>
          <p:nvPr/>
        </p:nvSpPr>
        <p:spPr>
          <a:xfrm>
            <a:off x="6080760" y="4297680"/>
            <a:ext cx="5120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5AB1CB9-6F3E-B966-1EE1-70FAC8B4317A}"/>
              </a:ext>
            </a:extLst>
          </p:cNvPr>
          <p:cNvSpPr/>
          <p:nvPr/>
        </p:nvSpPr>
        <p:spPr>
          <a:xfrm>
            <a:off x="6080760" y="4297680"/>
            <a:ext cx="64008" cy="74980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AC1DC4-D479-CE26-231D-BC090020412F}"/>
              </a:ext>
            </a:extLst>
          </p:cNvPr>
          <p:cNvSpPr txBox="1"/>
          <p:nvPr/>
        </p:nvSpPr>
        <p:spPr>
          <a:xfrm>
            <a:off x="6245352" y="4389120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</a:t>
            </a:r>
            <a:r>
              <a:rPr lang="en-US" altLang="ko-KR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D368FE-86BD-3A8B-8042-605384CE1BA5}"/>
              </a:ext>
            </a:extLst>
          </p:cNvPr>
          <p:cNvSpPr txBox="1"/>
          <p:nvPr/>
        </p:nvSpPr>
        <p:spPr>
          <a:xfrm>
            <a:off x="6245352" y="4626864"/>
            <a:ext cx="4828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결과를 다음 달 운영으로 연결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AC83C2-1E7F-C6EA-740A-053D3167AB86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7E7FD1-A981-EBC1-CEDF-F8558A1F4F30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04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833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E3BB23-7DA0-B6B2-2666-AC92304C13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38778C-DC6F-98BE-5C70-7606D57241A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0622688-B37B-2C2B-9AEF-BE0EEC805725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82063-5346-ADC6-F1A7-92809D21E97C}"/>
              </a:ext>
            </a:extLst>
          </p:cNvPr>
          <p:cNvSpPr txBox="1"/>
          <p:nvPr/>
        </p:nvSpPr>
        <p:spPr>
          <a:xfrm>
            <a:off x="630936" y="338328"/>
            <a:ext cx="960120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 LESSONS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4BD4C-B047-0E8D-A7E9-576876C37503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유지보수 경험을 반영한 설계 기준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4F710A-8BBF-0365-7E61-8F2859DA62B2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9CD8C2-39D9-C22B-F31D-28FAC54BEB97}"/>
              </a:ext>
            </a:extLst>
          </p:cNvPr>
          <p:cNvSpPr/>
          <p:nvPr/>
        </p:nvSpPr>
        <p:spPr>
          <a:xfrm>
            <a:off x="640080" y="1243584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0A7011-4861-42BD-0F1F-4BCC655ECA04}"/>
              </a:ext>
            </a:extLst>
          </p:cNvPr>
          <p:cNvSpPr/>
          <p:nvPr/>
        </p:nvSpPr>
        <p:spPr>
          <a:xfrm>
            <a:off x="640080" y="1243584"/>
            <a:ext cx="64008" cy="107899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D4A03-B37B-10C4-E6E9-D0B867E5E754}"/>
              </a:ext>
            </a:extLst>
          </p:cNvPr>
          <p:cNvSpPr txBox="1"/>
          <p:nvPr/>
        </p:nvSpPr>
        <p:spPr>
          <a:xfrm>
            <a:off x="804672" y="1353312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기준정보 우선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3CA80-E2CA-91B9-711B-547A0AA609EF}"/>
              </a:ext>
            </a:extLst>
          </p:cNvPr>
          <p:cNvSpPr txBox="1"/>
          <p:nvPr/>
        </p:nvSpPr>
        <p:spPr>
          <a:xfrm>
            <a:off x="804672" y="1609344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현업 오류는 잘못된 계정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자금수단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카테고리 기준에서 시작되는 경우가 많았습니다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6CF81C-209F-1A40-6BDB-BD1278D75708}"/>
              </a:ext>
            </a:extLst>
          </p:cNvPr>
          <p:cNvSpPr/>
          <p:nvPr/>
        </p:nvSpPr>
        <p:spPr>
          <a:xfrm>
            <a:off x="4343400" y="1243584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41A38B-C26C-FCF8-D753-F8B9C0FF6C05}"/>
              </a:ext>
            </a:extLst>
          </p:cNvPr>
          <p:cNvSpPr/>
          <p:nvPr/>
        </p:nvSpPr>
        <p:spPr>
          <a:xfrm>
            <a:off x="4343400" y="1243584"/>
            <a:ext cx="64008" cy="107899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522D5-29A0-C8D2-57B0-38EB2BF757AB}"/>
              </a:ext>
            </a:extLst>
          </p:cNvPr>
          <p:cNvSpPr txBox="1"/>
          <p:nvPr/>
        </p:nvSpPr>
        <p:spPr>
          <a:xfrm>
            <a:off x="4507992" y="1353312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상태가 보여야 운영 가능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8B9A2-5AE1-82CE-71DA-9C99C175CA92}"/>
              </a:ext>
            </a:extLst>
          </p:cNvPr>
          <p:cNvSpPr txBox="1"/>
          <p:nvPr/>
        </p:nvSpPr>
        <p:spPr>
          <a:xfrm>
            <a:off x="4507992" y="1609344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처리 중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 필요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상태가 보여야 문의와 장애 대응이 가능합니다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0DFC2A-7CED-3512-37FA-18B3C2E17BE4}"/>
              </a:ext>
            </a:extLst>
          </p:cNvPr>
          <p:cNvSpPr/>
          <p:nvPr/>
        </p:nvSpPr>
        <p:spPr>
          <a:xfrm>
            <a:off x="8046720" y="1243584"/>
            <a:ext cx="3246119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5AAA48-D64A-1927-FD8E-CA15FE62C166}"/>
              </a:ext>
            </a:extLst>
          </p:cNvPr>
          <p:cNvSpPr/>
          <p:nvPr/>
        </p:nvSpPr>
        <p:spPr>
          <a:xfrm>
            <a:off x="8046720" y="1243584"/>
            <a:ext cx="64007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3D7A6-6E73-746D-CDD5-76FA06140365}"/>
              </a:ext>
            </a:extLst>
          </p:cNvPr>
          <p:cNvSpPr txBox="1"/>
          <p:nvPr/>
        </p:nvSpPr>
        <p:spPr>
          <a:xfrm>
            <a:off x="8211312" y="1353312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원본 덮어쓰기 금지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BF86BB-4868-39CB-621B-DC8E81E55640}"/>
              </a:ext>
            </a:extLst>
          </p:cNvPr>
          <p:cNvSpPr txBox="1"/>
          <p:nvPr/>
        </p:nvSpPr>
        <p:spPr>
          <a:xfrm>
            <a:off x="8211312" y="1609344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 이후에는 반전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로그로 이력을 남기는 쪽이 실무에 맞습니다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F61CD1-3726-D893-A9C5-5D38180530EE}"/>
              </a:ext>
            </a:extLst>
          </p:cNvPr>
          <p:cNvSpPr/>
          <p:nvPr/>
        </p:nvSpPr>
        <p:spPr>
          <a:xfrm>
            <a:off x="640080" y="2724912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DA483C-7CAE-0043-762A-0E76E21395A7}"/>
              </a:ext>
            </a:extLst>
          </p:cNvPr>
          <p:cNvSpPr/>
          <p:nvPr/>
        </p:nvSpPr>
        <p:spPr>
          <a:xfrm>
            <a:off x="640080" y="2724912"/>
            <a:ext cx="64008" cy="107899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01FAD-24B1-249E-0C90-0886A6E833C7}"/>
              </a:ext>
            </a:extLst>
          </p:cNvPr>
          <p:cNvSpPr txBox="1"/>
          <p:nvPr/>
        </p:nvSpPr>
        <p:spPr>
          <a:xfrm>
            <a:off x="804672" y="2834640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기준 고정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0D2E0-8EB5-6794-B401-D319D10F123E}"/>
              </a:ext>
            </a:extLst>
          </p:cNvPr>
          <p:cNvSpPr txBox="1"/>
          <p:nvPr/>
        </p:nvSpPr>
        <p:spPr>
          <a:xfrm>
            <a:off x="804672" y="3090672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기준이 잠기지 않으면 보고 숫자와 운영 숫자가 계속 흔들립니다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8A4D63-FB21-EF52-9E7F-3B8722794F25}"/>
              </a:ext>
            </a:extLst>
          </p:cNvPr>
          <p:cNvSpPr/>
          <p:nvPr/>
        </p:nvSpPr>
        <p:spPr>
          <a:xfrm>
            <a:off x="4343400" y="2724912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D442E2-BE06-4E9A-F828-CFA74FE94AE8}"/>
              </a:ext>
            </a:extLst>
          </p:cNvPr>
          <p:cNvSpPr/>
          <p:nvPr/>
        </p:nvSpPr>
        <p:spPr>
          <a:xfrm>
            <a:off x="4343400" y="2724912"/>
            <a:ext cx="64008" cy="107899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A5F6BB-1E61-700F-98F5-A485EDF5F779}"/>
              </a:ext>
            </a:extLst>
          </p:cNvPr>
          <p:cNvSpPr txBox="1"/>
          <p:nvPr/>
        </p:nvSpPr>
        <p:spPr>
          <a:xfrm>
            <a:off x="4507992" y="2834640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예외를 먼저 보여주기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B57A7-289B-70E9-7CC7-C3A2A938ACB7}"/>
              </a:ext>
            </a:extLst>
          </p:cNvPr>
          <p:cNvSpPr txBox="1"/>
          <p:nvPr/>
        </p:nvSpPr>
        <p:spPr>
          <a:xfrm>
            <a:off x="4507992" y="3090672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성공 결과만이 아니라 막힌 이유와 다음 조치까지 보여줘야 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B44D64-3BDC-5AC9-381D-78160659E3D8}"/>
              </a:ext>
            </a:extLst>
          </p:cNvPr>
          <p:cNvSpPr/>
          <p:nvPr/>
        </p:nvSpPr>
        <p:spPr>
          <a:xfrm>
            <a:off x="8046720" y="2724912"/>
            <a:ext cx="3246119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27EF24-93D6-7CCC-FEF2-F370B8473B50}"/>
              </a:ext>
            </a:extLst>
          </p:cNvPr>
          <p:cNvSpPr/>
          <p:nvPr/>
        </p:nvSpPr>
        <p:spPr>
          <a:xfrm>
            <a:off x="8046720" y="2724912"/>
            <a:ext cx="64007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50916A-74F5-ED7A-DB85-59FEDAE1999F}"/>
              </a:ext>
            </a:extLst>
          </p:cNvPr>
          <p:cNvSpPr txBox="1"/>
          <p:nvPr/>
        </p:nvSpPr>
        <p:spPr>
          <a:xfrm>
            <a:off x="8211312" y="2834640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권한과 감사는 기본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7D949-662F-2B64-9368-12A7D4972D9A}"/>
              </a:ext>
            </a:extLst>
          </p:cNvPr>
          <p:cNvSpPr txBox="1"/>
          <p:nvPr/>
        </p:nvSpPr>
        <p:spPr>
          <a:xfrm>
            <a:off x="8211312" y="3090672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누가 어떤 작업을 했는지 남기고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역할별 가능 작업을 제한해야 운영 제품이 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3098A5-E908-007B-6C41-6B4C3351B7A7}"/>
              </a:ext>
            </a:extLst>
          </p:cNvPr>
          <p:cNvSpPr/>
          <p:nvPr/>
        </p:nvSpPr>
        <p:spPr>
          <a:xfrm>
            <a:off x="640080" y="4663440"/>
            <a:ext cx="1065276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C6C886-71DD-F43D-E4DB-67CF8924BC31}"/>
              </a:ext>
            </a:extLst>
          </p:cNvPr>
          <p:cNvSpPr/>
          <p:nvPr/>
        </p:nvSpPr>
        <p:spPr>
          <a:xfrm>
            <a:off x="640080" y="4663440"/>
            <a:ext cx="64008" cy="932688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BEF0ED-2946-2D78-7A57-437851AFB7FE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7D5B83-FF69-958B-EAFC-673070F62F3D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의 흐름과 화면은 기능 나열이 아니라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ERP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유지보수에서 마주친 데이터 품질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 추적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문제를 제품 구조로 풀어낸 결과입니다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94962E-B7CB-9BA5-88D2-A354AC5378CC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BEB08-728F-9A76-9531-9B3AD98B9018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05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277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5FA4E7-C247-AA0A-803D-AD02E09D839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7A8AC7-D0A2-375E-8DF3-8DB7553D4630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E0D35A2-ED9A-F7A5-6DF5-DA97FDC830C9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A7EF2-2881-4530-5ACF-80D53E84534E}"/>
              </a:ext>
            </a:extLst>
          </p:cNvPr>
          <p:cNvSpPr txBox="1"/>
          <p:nvPr/>
        </p:nvSpPr>
        <p:spPr>
          <a:xfrm>
            <a:off x="630936" y="338328"/>
            <a:ext cx="960120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BUSINESS FLOW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08F87-40C6-FA26-E713-75E69469B903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전체 흐름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6B208A-9775-1926-C0A2-5CECB4C3EFF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68AFA9-C2E2-ABC8-0D24-D3982C025000}"/>
              </a:ext>
            </a:extLst>
          </p:cNvPr>
          <p:cNvSpPr/>
          <p:nvPr/>
        </p:nvSpPr>
        <p:spPr>
          <a:xfrm>
            <a:off x="713232" y="1664208"/>
            <a:ext cx="1536192" cy="804672"/>
          </a:xfrm>
          <a:prstGeom prst="rect">
            <a:avLst/>
          </a:prstGeom>
          <a:solidFill>
            <a:srgbClr val="EEF4FF"/>
          </a:solidFill>
          <a:ln w="10160">
            <a:solidFill>
              <a:srgbClr val="245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1B083-5DC7-7D7A-B5DD-1C35C41C52A7}"/>
              </a:ext>
            </a:extLst>
          </p:cNvPr>
          <p:cNvSpPr txBox="1"/>
          <p:nvPr/>
        </p:nvSpPr>
        <p:spPr>
          <a:xfrm>
            <a:off x="877824" y="1901952"/>
            <a:ext cx="11887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2BC5-7F2C-EE06-147D-6FBF663DBDE9}"/>
              </a:ext>
            </a:extLst>
          </p:cNvPr>
          <p:cNvSpPr txBox="1"/>
          <p:nvPr/>
        </p:nvSpPr>
        <p:spPr>
          <a:xfrm>
            <a:off x="786384" y="137160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01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F2AD7E-BCB2-3712-CBB5-8BD666C00A60}"/>
              </a:ext>
            </a:extLst>
          </p:cNvPr>
          <p:cNvCxnSpPr/>
          <p:nvPr/>
        </p:nvCxnSpPr>
        <p:spPr>
          <a:xfrm>
            <a:off x="2322576" y="206654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A44ADD-5A79-3707-DD20-7AEBBF876485}"/>
              </a:ext>
            </a:extLst>
          </p:cNvPr>
          <p:cNvSpPr/>
          <p:nvPr/>
        </p:nvSpPr>
        <p:spPr>
          <a:xfrm>
            <a:off x="2706624" y="1664208"/>
            <a:ext cx="1536192" cy="804672"/>
          </a:xfrm>
          <a:prstGeom prst="rect">
            <a:avLst/>
          </a:prstGeom>
          <a:solidFill>
            <a:srgbClr val="EEF4FF"/>
          </a:solidFill>
          <a:ln w="10160">
            <a:solidFill>
              <a:srgbClr val="245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30833-B25A-7BD3-88B1-5C9E29B21D21}"/>
              </a:ext>
            </a:extLst>
          </p:cNvPr>
          <p:cNvSpPr txBox="1"/>
          <p:nvPr/>
        </p:nvSpPr>
        <p:spPr>
          <a:xfrm>
            <a:off x="2871216" y="1901952"/>
            <a:ext cx="11887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시작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2EB926-AE3F-1615-16F3-F57A401FEA07}"/>
              </a:ext>
            </a:extLst>
          </p:cNvPr>
          <p:cNvSpPr txBox="1"/>
          <p:nvPr/>
        </p:nvSpPr>
        <p:spPr>
          <a:xfrm>
            <a:off x="2779776" y="137160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02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8F922E5-FBC8-F633-C172-9B71DB196E02}"/>
              </a:ext>
            </a:extLst>
          </p:cNvPr>
          <p:cNvCxnSpPr/>
          <p:nvPr/>
        </p:nvCxnSpPr>
        <p:spPr>
          <a:xfrm>
            <a:off x="4315968" y="206654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9795CA-128D-079F-A03B-CAA13524EC5B}"/>
              </a:ext>
            </a:extLst>
          </p:cNvPr>
          <p:cNvSpPr/>
          <p:nvPr/>
        </p:nvSpPr>
        <p:spPr>
          <a:xfrm>
            <a:off x="4700016" y="1664208"/>
            <a:ext cx="1536192" cy="804672"/>
          </a:xfrm>
          <a:prstGeom prst="rect">
            <a:avLst/>
          </a:prstGeom>
          <a:solidFill>
            <a:srgbClr val="EEF4FF"/>
          </a:solidFill>
          <a:ln w="10160">
            <a:solidFill>
              <a:srgbClr val="245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EA484-ADEC-0CE9-C025-011DBDAA06B9}"/>
              </a:ext>
            </a:extLst>
          </p:cNvPr>
          <p:cNvSpPr txBox="1"/>
          <p:nvPr/>
        </p:nvSpPr>
        <p:spPr>
          <a:xfrm>
            <a:off x="4864608" y="1901952"/>
            <a:ext cx="11887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생성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B7538-F69A-B6FF-D3E2-68755C22D919}"/>
              </a:ext>
            </a:extLst>
          </p:cNvPr>
          <p:cNvSpPr txBox="1"/>
          <p:nvPr/>
        </p:nvSpPr>
        <p:spPr>
          <a:xfrm>
            <a:off x="4773168" y="137160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03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A20B527-0B46-6CCA-3166-9031E5D3DD7B}"/>
              </a:ext>
            </a:extLst>
          </p:cNvPr>
          <p:cNvCxnSpPr/>
          <p:nvPr/>
        </p:nvCxnSpPr>
        <p:spPr>
          <a:xfrm>
            <a:off x="6309360" y="206654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FFBC1F-BDF7-EEE1-8291-18E46F337D4D}"/>
              </a:ext>
            </a:extLst>
          </p:cNvPr>
          <p:cNvSpPr/>
          <p:nvPr/>
        </p:nvSpPr>
        <p:spPr>
          <a:xfrm>
            <a:off x="6693408" y="1664208"/>
            <a:ext cx="1536192" cy="804672"/>
          </a:xfrm>
          <a:prstGeom prst="rect">
            <a:avLst/>
          </a:prstGeom>
          <a:solidFill>
            <a:srgbClr val="EAFBF8"/>
          </a:solidFill>
          <a:ln w="10160">
            <a:solidFill>
              <a:srgbClr val="00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9FCCC1-2E4E-AF49-136D-3EA2C528F941}"/>
              </a:ext>
            </a:extLst>
          </p:cNvPr>
          <p:cNvSpPr txBox="1"/>
          <p:nvPr/>
        </p:nvSpPr>
        <p:spPr>
          <a:xfrm>
            <a:off x="6858000" y="1901952"/>
            <a:ext cx="11887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거래 수집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6C8B73-ADE5-94FC-91FB-CEF420C6FD48}"/>
              </a:ext>
            </a:extLst>
          </p:cNvPr>
          <p:cNvSpPr txBox="1"/>
          <p:nvPr/>
        </p:nvSpPr>
        <p:spPr>
          <a:xfrm>
            <a:off x="6766560" y="137160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04</a:t>
            </a:r>
            <a:endParaRPr lang="ko-KR" altLang="en-US" sz="8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98E163F-2874-A938-F023-71A7AB04F298}"/>
              </a:ext>
            </a:extLst>
          </p:cNvPr>
          <p:cNvCxnSpPr/>
          <p:nvPr/>
        </p:nvCxnSpPr>
        <p:spPr>
          <a:xfrm>
            <a:off x="8302752" y="206654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FABBAB-ED01-71B2-9AB4-D07DA1DEA238}"/>
              </a:ext>
            </a:extLst>
          </p:cNvPr>
          <p:cNvSpPr/>
          <p:nvPr/>
        </p:nvSpPr>
        <p:spPr>
          <a:xfrm>
            <a:off x="8686800" y="1664208"/>
            <a:ext cx="1536192" cy="804672"/>
          </a:xfrm>
          <a:prstGeom prst="rect">
            <a:avLst/>
          </a:prstGeom>
          <a:solidFill>
            <a:srgbClr val="EAFBF8"/>
          </a:solidFill>
          <a:ln w="10160">
            <a:solidFill>
              <a:srgbClr val="00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A53015-AF9A-B885-B18C-70A2D30BD174}"/>
              </a:ext>
            </a:extLst>
          </p:cNvPr>
          <p:cNvSpPr txBox="1"/>
          <p:nvPr/>
        </p:nvSpPr>
        <p:spPr>
          <a:xfrm>
            <a:off x="8851392" y="1901952"/>
            <a:ext cx="11887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확정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1320F1-FA83-9E3F-F5FC-8FE876B33FB8}"/>
              </a:ext>
            </a:extLst>
          </p:cNvPr>
          <p:cNvSpPr txBox="1"/>
          <p:nvPr/>
        </p:nvSpPr>
        <p:spPr>
          <a:xfrm>
            <a:off x="8759952" y="137160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05</a:t>
            </a:r>
            <a:endParaRPr lang="ko-KR" altLang="en-US" sz="8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6C38127-5607-0E62-B931-AC86BE2E979E}"/>
              </a:ext>
            </a:extLst>
          </p:cNvPr>
          <p:cNvCxnSpPr/>
          <p:nvPr/>
        </p:nvCxnSpPr>
        <p:spPr>
          <a:xfrm>
            <a:off x="9454896" y="2542032"/>
            <a:ext cx="0" cy="292608"/>
          </a:xfrm>
          <a:prstGeom prst="line">
            <a:avLst/>
          </a:prstGeom>
          <a:ln w="15240">
            <a:solidFill>
              <a:srgbClr val="D8D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49E739C-9B1B-3614-1EE1-EB198F0B3EAA}"/>
              </a:ext>
            </a:extLst>
          </p:cNvPr>
          <p:cNvCxnSpPr/>
          <p:nvPr/>
        </p:nvCxnSpPr>
        <p:spPr>
          <a:xfrm flipH="1">
            <a:off x="4544568" y="2834640"/>
            <a:ext cx="4910328" cy="0"/>
          </a:xfrm>
          <a:prstGeom prst="line">
            <a:avLst/>
          </a:prstGeom>
          <a:ln w="15240">
            <a:solidFill>
              <a:srgbClr val="D8D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786C9CF-BB26-FA3D-BC98-B2C38E0CE22D}"/>
              </a:ext>
            </a:extLst>
          </p:cNvPr>
          <p:cNvCxnSpPr/>
          <p:nvPr/>
        </p:nvCxnSpPr>
        <p:spPr>
          <a:xfrm>
            <a:off x="4544568" y="2834640"/>
            <a:ext cx="0" cy="310896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8AF59F-7CAB-BD1B-F5C4-09ED5BBDAADD}"/>
              </a:ext>
            </a:extLst>
          </p:cNvPr>
          <p:cNvSpPr/>
          <p:nvPr/>
        </p:nvSpPr>
        <p:spPr>
          <a:xfrm>
            <a:off x="3776472" y="3218688"/>
            <a:ext cx="1664208" cy="804672"/>
          </a:xfrm>
          <a:prstGeom prst="rect">
            <a:avLst/>
          </a:prstGeom>
          <a:solidFill>
            <a:srgbClr val="EAFBF8"/>
          </a:solidFill>
          <a:ln w="10160">
            <a:solidFill>
              <a:srgbClr val="00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6AF975-7DB8-92FC-D3F1-ECCE02EE6A98}"/>
              </a:ext>
            </a:extLst>
          </p:cNvPr>
          <p:cNvSpPr txBox="1"/>
          <p:nvPr/>
        </p:nvSpPr>
        <p:spPr>
          <a:xfrm>
            <a:off x="3941064" y="3456432"/>
            <a:ext cx="13350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마감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0637FA-B0B9-24BD-F992-C0C18AE8E3C4}"/>
              </a:ext>
            </a:extLst>
          </p:cNvPr>
          <p:cNvSpPr txBox="1"/>
          <p:nvPr/>
        </p:nvSpPr>
        <p:spPr>
          <a:xfrm>
            <a:off x="3849624" y="292608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06</a:t>
            </a:r>
            <a:endParaRPr lang="ko-KR" altLang="en-US" sz="8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1E3B3F-A5C1-DD27-6763-B64358BD9765}"/>
              </a:ext>
            </a:extLst>
          </p:cNvPr>
          <p:cNvCxnSpPr/>
          <p:nvPr/>
        </p:nvCxnSpPr>
        <p:spPr>
          <a:xfrm>
            <a:off x="5385816" y="362102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B5ECEB-8085-EC7F-EC85-90702B16072B}"/>
              </a:ext>
            </a:extLst>
          </p:cNvPr>
          <p:cNvSpPr/>
          <p:nvPr/>
        </p:nvSpPr>
        <p:spPr>
          <a:xfrm>
            <a:off x="5769864" y="3218688"/>
            <a:ext cx="1664208" cy="804672"/>
          </a:xfrm>
          <a:prstGeom prst="rect">
            <a:avLst/>
          </a:prstGeom>
          <a:solidFill>
            <a:srgbClr val="FFF7E6"/>
          </a:solidFill>
          <a:ln w="1016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69207B-669E-5A36-2C4E-63B3ECA9DD7C}"/>
              </a:ext>
            </a:extLst>
          </p:cNvPr>
          <p:cNvSpPr txBox="1"/>
          <p:nvPr/>
        </p:nvSpPr>
        <p:spPr>
          <a:xfrm>
            <a:off x="5934456" y="3456432"/>
            <a:ext cx="13350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재무제표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5BF3F1-0661-3074-AF79-2BB296ED6F51}"/>
              </a:ext>
            </a:extLst>
          </p:cNvPr>
          <p:cNvSpPr txBox="1"/>
          <p:nvPr/>
        </p:nvSpPr>
        <p:spPr>
          <a:xfrm>
            <a:off x="5843016" y="292608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07</a:t>
            </a:r>
            <a:endParaRPr lang="ko-KR" altLang="en-US" sz="85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25E014D-1CDC-E795-31CB-0ACE6126D862}"/>
              </a:ext>
            </a:extLst>
          </p:cNvPr>
          <p:cNvCxnSpPr/>
          <p:nvPr/>
        </p:nvCxnSpPr>
        <p:spPr>
          <a:xfrm>
            <a:off x="7379208" y="362102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2BF412-6616-9669-0F4F-5ACEC96E4A2E}"/>
              </a:ext>
            </a:extLst>
          </p:cNvPr>
          <p:cNvSpPr/>
          <p:nvPr/>
        </p:nvSpPr>
        <p:spPr>
          <a:xfrm>
            <a:off x="7763256" y="3218688"/>
            <a:ext cx="1664208" cy="804672"/>
          </a:xfrm>
          <a:prstGeom prst="rect">
            <a:avLst/>
          </a:prstGeom>
          <a:solidFill>
            <a:srgbClr val="FFF7E6"/>
          </a:solidFill>
          <a:ln w="1016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89262D-4DE0-EF34-3146-CED48D76377E}"/>
              </a:ext>
            </a:extLst>
          </p:cNvPr>
          <p:cNvSpPr txBox="1"/>
          <p:nvPr/>
        </p:nvSpPr>
        <p:spPr>
          <a:xfrm>
            <a:off x="7927848" y="3456432"/>
            <a:ext cx="13350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차기 이월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2650C2-3D99-4FDD-FB9B-BE901A4BFCC8}"/>
              </a:ext>
            </a:extLst>
          </p:cNvPr>
          <p:cNvSpPr txBox="1"/>
          <p:nvPr/>
        </p:nvSpPr>
        <p:spPr>
          <a:xfrm>
            <a:off x="7836408" y="292608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08</a:t>
            </a:r>
            <a:endParaRPr lang="ko-KR" altLang="en-US" sz="85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C64BEE12-431E-3A9E-CCCB-9B79C7F26F3A}"/>
              </a:ext>
            </a:extLst>
          </p:cNvPr>
          <p:cNvCxnSpPr/>
          <p:nvPr/>
        </p:nvCxnSpPr>
        <p:spPr>
          <a:xfrm>
            <a:off x="9372600" y="3621024"/>
            <a:ext cx="237744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C05194-42CD-355A-4AFE-5B5C243BB9A8}"/>
              </a:ext>
            </a:extLst>
          </p:cNvPr>
          <p:cNvSpPr/>
          <p:nvPr/>
        </p:nvSpPr>
        <p:spPr>
          <a:xfrm>
            <a:off x="9756648" y="3218688"/>
            <a:ext cx="1664208" cy="804672"/>
          </a:xfrm>
          <a:prstGeom prst="rect">
            <a:avLst/>
          </a:prstGeom>
          <a:solidFill>
            <a:srgbClr val="FFF7E6"/>
          </a:solidFill>
          <a:ln w="1016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EC78CF-24DE-68AD-AE9E-44321BBAC2BA}"/>
              </a:ext>
            </a:extLst>
          </p:cNvPr>
          <p:cNvSpPr txBox="1"/>
          <p:nvPr/>
        </p:nvSpPr>
        <p:spPr>
          <a:xfrm>
            <a:off x="9921240" y="3456432"/>
            <a:ext cx="13350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4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FA5209-EB7C-D999-0679-C17C06026A0A}"/>
              </a:ext>
            </a:extLst>
          </p:cNvPr>
          <p:cNvSpPr txBox="1"/>
          <p:nvPr/>
        </p:nvSpPr>
        <p:spPr>
          <a:xfrm>
            <a:off x="9829800" y="2926080"/>
            <a:ext cx="5486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09</a:t>
            </a:r>
            <a:endParaRPr lang="ko-KR" altLang="en-US" sz="85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2FA9D1-3E11-55B4-C49F-63A457B9CA5B}"/>
              </a:ext>
            </a:extLst>
          </p:cNvPr>
          <p:cNvSpPr/>
          <p:nvPr/>
        </p:nvSpPr>
        <p:spPr>
          <a:xfrm>
            <a:off x="1078992" y="4681728"/>
            <a:ext cx="982980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7918D45-F699-58B8-9D41-EA4D04AA8153}"/>
              </a:ext>
            </a:extLst>
          </p:cNvPr>
          <p:cNvSpPr/>
          <p:nvPr/>
        </p:nvSpPr>
        <p:spPr>
          <a:xfrm>
            <a:off x="1078992" y="4681728"/>
            <a:ext cx="73152" cy="877824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00756-D141-9886-509E-725594187CDC}"/>
              </a:ext>
            </a:extLst>
          </p:cNvPr>
          <p:cNvSpPr txBox="1"/>
          <p:nvPr/>
        </p:nvSpPr>
        <p:spPr>
          <a:xfrm>
            <a:off x="1325880" y="4846320"/>
            <a:ext cx="2011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2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핵심 메시지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394C69-F04D-A4D3-889B-EB1F17730EBC}"/>
              </a:ext>
            </a:extLst>
          </p:cNvPr>
          <p:cNvSpPr txBox="1"/>
          <p:nvPr/>
        </p:nvSpPr>
        <p:spPr>
          <a:xfrm>
            <a:off x="1325880" y="5184648"/>
            <a:ext cx="88696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단순 기능 나열이 아니라 한 달을 열고</a:t>
            </a:r>
            <a:r>
              <a:rPr lang="en-US" altLang="ko-KR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수집하고</a:t>
            </a:r>
            <a:r>
              <a:rPr lang="en-US" altLang="ko-KR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확정하고</a:t>
            </a:r>
            <a:r>
              <a:rPr lang="en-US" altLang="ko-KR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닫고</a:t>
            </a:r>
            <a:r>
              <a:rPr lang="en-US" altLang="ko-KR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다음 달로 넘기는 업무 사이클입니다</a:t>
            </a:r>
            <a:r>
              <a:rPr lang="en-US" altLang="ko-KR" sz="125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25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DE19F1-4E87-490D-3422-EB8A83AF1276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4B5456-3372-AE3E-ED6D-4F393BA5C0C4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06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22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1CCD51-FBBC-C303-7F83-250271F4433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19F902-50C1-C648-164D-E2D17C6CB974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3017BF5-148A-B14D-6B93-242BCC5945EA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00E5E-926D-1F47-0876-2324D948019A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DOMAIN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256C1-8574-C8B5-2BC1-944221AC53D1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핵심 도메인 설계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거래와 전표 분리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A61A5C-4047-F73F-77ED-0BEF243B87FE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7CA97C-7F49-6942-9D26-647A08079D13}"/>
              </a:ext>
            </a:extLst>
          </p:cNvPr>
          <p:cNvSpPr/>
          <p:nvPr/>
        </p:nvSpPr>
        <p:spPr>
          <a:xfrm>
            <a:off x="987552" y="1444752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C49AE8-C9E8-9329-3330-EDEC5E7F7BAC}"/>
              </a:ext>
            </a:extLst>
          </p:cNvPr>
          <p:cNvSpPr/>
          <p:nvPr/>
        </p:nvSpPr>
        <p:spPr>
          <a:xfrm>
            <a:off x="987552" y="1444752"/>
            <a:ext cx="2103120" cy="7315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FA1CF-766F-1365-AE01-952771BDFA2B}"/>
              </a:ext>
            </a:extLst>
          </p:cNvPr>
          <p:cNvSpPr txBox="1"/>
          <p:nvPr/>
        </p:nvSpPr>
        <p:spPr>
          <a:xfrm>
            <a:off x="1152144" y="1664208"/>
            <a:ext cx="177393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행 </a:t>
            </a:r>
            <a:r>
              <a:rPr lang="en-US" altLang="ko-KR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 </a:t>
            </a:r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수기 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015F9-519D-BCA6-F2C9-2D3703A59434}"/>
              </a:ext>
            </a:extLst>
          </p:cNvPr>
          <p:cNvSpPr txBox="1"/>
          <p:nvPr/>
        </p:nvSpPr>
        <p:spPr>
          <a:xfrm>
            <a:off x="1152144" y="2011680"/>
            <a:ext cx="1773936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입력 후보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0A1816F-A27A-DD18-6110-962C2E466D77}"/>
              </a:ext>
            </a:extLst>
          </p:cNvPr>
          <p:cNvCxnSpPr/>
          <p:nvPr/>
        </p:nvCxnSpPr>
        <p:spPr>
          <a:xfrm>
            <a:off x="3163824" y="1883664"/>
            <a:ext cx="25603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AF5306-0D91-2716-E80E-F0711E0F8A6D}"/>
              </a:ext>
            </a:extLst>
          </p:cNvPr>
          <p:cNvSpPr/>
          <p:nvPr/>
        </p:nvSpPr>
        <p:spPr>
          <a:xfrm>
            <a:off x="3785616" y="1444752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5A2BB1-C221-6734-3118-E7ED172C4E63}"/>
              </a:ext>
            </a:extLst>
          </p:cNvPr>
          <p:cNvSpPr/>
          <p:nvPr/>
        </p:nvSpPr>
        <p:spPr>
          <a:xfrm>
            <a:off x="3785616" y="1444752"/>
            <a:ext cx="2103120" cy="7315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B6086-74A9-E699-EC3C-8DDB189313C8}"/>
              </a:ext>
            </a:extLst>
          </p:cNvPr>
          <p:cNvSpPr txBox="1"/>
          <p:nvPr/>
        </p:nvSpPr>
        <p:spPr>
          <a:xfrm>
            <a:off x="3950208" y="1664208"/>
            <a:ext cx="1773936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014CB-3028-D032-0A43-E3654D66B71B}"/>
              </a:ext>
            </a:extLst>
          </p:cNvPr>
          <p:cNvSpPr txBox="1"/>
          <p:nvPr/>
        </p:nvSpPr>
        <p:spPr>
          <a:xfrm>
            <a:off x="3950208" y="2011680"/>
            <a:ext cx="177393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 가능한 거래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F7817CD-AB5A-86FE-2C47-F5BFAAE0998E}"/>
              </a:ext>
            </a:extLst>
          </p:cNvPr>
          <p:cNvCxnSpPr/>
          <p:nvPr/>
        </p:nvCxnSpPr>
        <p:spPr>
          <a:xfrm>
            <a:off x="5961888" y="1883664"/>
            <a:ext cx="25603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76D017-2E4D-1B9E-BE4C-059E244A7BC9}"/>
              </a:ext>
            </a:extLst>
          </p:cNvPr>
          <p:cNvSpPr/>
          <p:nvPr/>
        </p:nvSpPr>
        <p:spPr>
          <a:xfrm>
            <a:off x="6583680" y="1444752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FF1C35-8900-C5AE-0E53-D01239DCCA48}"/>
              </a:ext>
            </a:extLst>
          </p:cNvPr>
          <p:cNvSpPr/>
          <p:nvPr/>
        </p:nvSpPr>
        <p:spPr>
          <a:xfrm>
            <a:off x="6583680" y="1444752"/>
            <a:ext cx="2103120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65FDE0-B48E-9EA5-21A7-DA68125A39DA}"/>
              </a:ext>
            </a:extLst>
          </p:cNvPr>
          <p:cNvSpPr txBox="1"/>
          <p:nvPr/>
        </p:nvSpPr>
        <p:spPr>
          <a:xfrm>
            <a:off x="6748272" y="1664208"/>
            <a:ext cx="1773936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9716D-F696-EF7D-0F4D-936A3249D61E}"/>
              </a:ext>
            </a:extLst>
          </p:cNvPr>
          <p:cNvSpPr txBox="1"/>
          <p:nvPr/>
        </p:nvSpPr>
        <p:spPr>
          <a:xfrm>
            <a:off x="6748272" y="2011680"/>
            <a:ext cx="1773936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회계 기록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2BB3044-9EB8-F267-5913-DA82F73C50A0}"/>
              </a:ext>
            </a:extLst>
          </p:cNvPr>
          <p:cNvCxnSpPr/>
          <p:nvPr/>
        </p:nvCxnSpPr>
        <p:spPr>
          <a:xfrm>
            <a:off x="7635240" y="2395728"/>
            <a:ext cx="0" cy="365760"/>
          </a:xfrm>
          <a:prstGeom prst="line">
            <a:avLst/>
          </a:prstGeom>
          <a:ln w="15240">
            <a:solidFill>
              <a:srgbClr val="D8D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14C4E82-8DF7-76C6-E4EA-24345A2B0DFE}"/>
              </a:ext>
            </a:extLst>
          </p:cNvPr>
          <p:cNvCxnSpPr/>
          <p:nvPr/>
        </p:nvCxnSpPr>
        <p:spPr>
          <a:xfrm flipH="1">
            <a:off x="7443216" y="2761488"/>
            <a:ext cx="192024" cy="0"/>
          </a:xfrm>
          <a:prstGeom prst="line">
            <a:avLst/>
          </a:prstGeom>
          <a:ln w="15240">
            <a:solidFill>
              <a:srgbClr val="D8DE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FE60387-8B5D-E79B-3000-CBFCB1F71E72}"/>
              </a:ext>
            </a:extLst>
          </p:cNvPr>
          <p:cNvCxnSpPr/>
          <p:nvPr/>
        </p:nvCxnSpPr>
        <p:spPr>
          <a:xfrm>
            <a:off x="7443216" y="2761488"/>
            <a:ext cx="0" cy="329184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125B0A1-53A5-2F8E-AEED-8D3F538E8EA9}"/>
              </a:ext>
            </a:extLst>
          </p:cNvPr>
          <p:cNvSpPr/>
          <p:nvPr/>
        </p:nvSpPr>
        <p:spPr>
          <a:xfrm>
            <a:off x="6391656" y="3163824"/>
            <a:ext cx="217627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4EEFBA-A9E2-D90A-A952-D47B2796B74A}"/>
              </a:ext>
            </a:extLst>
          </p:cNvPr>
          <p:cNvSpPr/>
          <p:nvPr/>
        </p:nvSpPr>
        <p:spPr>
          <a:xfrm>
            <a:off x="6391656" y="3163824"/>
            <a:ext cx="2176272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16D13-42D2-961B-7493-D415BA5023B2}"/>
              </a:ext>
            </a:extLst>
          </p:cNvPr>
          <p:cNvSpPr txBox="1"/>
          <p:nvPr/>
        </p:nvSpPr>
        <p:spPr>
          <a:xfrm>
            <a:off x="6556248" y="3383280"/>
            <a:ext cx="1847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스냅샷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14F71-C8EA-AAF7-3B87-00138D988B75}"/>
              </a:ext>
            </a:extLst>
          </p:cNvPr>
          <p:cNvSpPr txBox="1"/>
          <p:nvPr/>
        </p:nvSpPr>
        <p:spPr>
          <a:xfrm>
            <a:off x="6556248" y="3730752"/>
            <a:ext cx="1847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기준 잠금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1AB02C3-5CC8-47E2-B9F0-5845DFC27995}"/>
              </a:ext>
            </a:extLst>
          </p:cNvPr>
          <p:cNvCxnSpPr/>
          <p:nvPr/>
        </p:nvCxnSpPr>
        <p:spPr>
          <a:xfrm>
            <a:off x="8641080" y="3602736"/>
            <a:ext cx="25603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201491-8388-4748-54F1-9047A4DE8F37}"/>
              </a:ext>
            </a:extLst>
          </p:cNvPr>
          <p:cNvSpPr/>
          <p:nvPr/>
        </p:nvSpPr>
        <p:spPr>
          <a:xfrm>
            <a:off x="9189720" y="3163824"/>
            <a:ext cx="217627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28E747C-FEA1-BDB1-B95B-BF49C4ED8E59}"/>
              </a:ext>
            </a:extLst>
          </p:cNvPr>
          <p:cNvSpPr/>
          <p:nvPr/>
        </p:nvSpPr>
        <p:spPr>
          <a:xfrm>
            <a:off x="9189720" y="3163824"/>
            <a:ext cx="2176272" cy="7315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1262F7-BE34-C2E6-3DBD-F9E19AD93F6D}"/>
              </a:ext>
            </a:extLst>
          </p:cNvPr>
          <p:cNvSpPr txBox="1"/>
          <p:nvPr/>
        </p:nvSpPr>
        <p:spPr>
          <a:xfrm>
            <a:off x="9354312" y="3383280"/>
            <a:ext cx="1847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재무제표 </a:t>
            </a:r>
            <a:r>
              <a:rPr lang="en-US" altLang="ko-KR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 </a:t>
            </a:r>
            <a:r>
              <a:rPr lang="ko-KR" altLang="en-US" sz="118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185B5-19DB-A42C-224D-21D0F58CF820}"/>
              </a:ext>
            </a:extLst>
          </p:cNvPr>
          <p:cNvSpPr txBox="1"/>
          <p:nvPr/>
        </p:nvSpPr>
        <p:spPr>
          <a:xfrm>
            <a:off x="9354312" y="3730752"/>
            <a:ext cx="1847088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보고와 다음 월 연결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C39CFC-76C2-87CD-F0ED-9D9B538DC299}"/>
              </a:ext>
            </a:extLst>
          </p:cNvPr>
          <p:cNvSpPr/>
          <p:nvPr/>
        </p:nvSpPr>
        <p:spPr>
          <a:xfrm>
            <a:off x="804672" y="4681728"/>
            <a:ext cx="480060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E06D049-EAE5-3EC6-66B1-E1A4FAF70730}"/>
              </a:ext>
            </a:extLst>
          </p:cNvPr>
          <p:cNvSpPr/>
          <p:nvPr/>
        </p:nvSpPr>
        <p:spPr>
          <a:xfrm>
            <a:off x="804672" y="468172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4A5E02-E230-A683-F337-37BA546E1BEC}"/>
              </a:ext>
            </a:extLst>
          </p:cNvPr>
          <p:cNvSpPr txBox="1"/>
          <p:nvPr/>
        </p:nvSpPr>
        <p:spPr>
          <a:xfrm>
            <a:off x="969264" y="4782312"/>
            <a:ext cx="450799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설계 의도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DB3BA5-A78E-4177-AFA8-48FDFADEE8BC}"/>
              </a:ext>
            </a:extLst>
          </p:cNvPr>
          <p:cNvSpPr txBox="1"/>
          <p:nvPr/>
        </p:nvSpPr>
        <p:spPr>
          <a:xfrm>
            <a:off x="969264" y="5029200"/>
            <a:ext cx="450799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거래는 운영 입력이고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전표는 공식 기록입니다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 이후 수정은 반전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 흐름으로 추적성을 유지합니다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871B2F-165B-100F-55D1-173B9C3A395D}"/>
              </a:ext>
            </a:extLst>
          </p:cNvPr>
          <p:cNvSpPr/>
          <p:nvPr/>
        </p:nvSpPr>
        <p:spPr>
          <a:xfrm>
            <a:off x="6263640" y="4681728"/>
            <a:ext cx="4617721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BCAD0E8-863A-79AA-FC1A-581B6AFECD98}"/>
              </a:ext>
            </a:extLst>
          </p:cNvPr>
          <p:cNvSpPr/>
          <p:nvPr/>
        </p:nvSpPr>
        <p:spPr>
          <a:xfrm>
            <a:off x="6263640" y="4681728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A1E910-7C39-7F6E-E367-5B615B3D521B}"/>
              </a:ext>
            </a:extLst>
          </p:cNvPr>
          <p:cNvSpPr txBox="1"/>
          <p:nvPr/>
        </p:nvSpPr>
        <p:spPr>
          <a:xfrm>
            <a:off x="6428232" y="4782312"/>
            <a:ext cx="43251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FE6454-0906-F93C-AB54-E66A07CF8669}"/>
              </a:ext>
            </a:extLst>
          </p:cNvPr>
          <p:cNvSpPr txBox="1"/>
          <p:nvPr/>
        </p:nvSpPr>
        <p:spPr>
          <a:xfrm>
            <a:off x="6428232" y="5029200"/>
            <a:ext cx="43251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프로젝트의 설계 수준은 회계 흐름의 경계를 어떻게 나눴는지에서 드러납니다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BBD746-4B65-6BD8-9D68-748F4D710D35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E9F918-AC08-869E-0290-FB0A8AE63D8F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07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80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F9E4AB-7290-2D68-2C68-DAAE39E53B3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269446-9247-02F7-C058-BEC11E8450D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F0115C-C39E-EBE4-5AA3-DB92E7D915EB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ACE75-0FEC-95BD-D7F6-3B35A1921450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CONSISTENCY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02B0F-0375-5DE5-8BEA-E7A602E633AF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정합성과 트랜잭션 처리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24C0E5-5393-3F20-136F-8EE48E168EB9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005620-5497-1598-9EB8-C6FBA3FC0E8E}"/>
              </a:ext>
            </a:extLst>
          </p:cNvPr>
          <p:cNvSpPr/>
          <p:nvPr/>
        </p:nvSpPr>
        <p:spPr>
          <a:xfrm>
            <a:off x="777240" y="1417320"/>
            <a:ext cx="2148840" cy="932688"/>
          </a:xfrm>
          <a:prstGeom prst="rect">
            <a:avLst/>
          </a:prstGeom>
          <a:solidFill>
            <a:srgbClr val="EEF4FF"/>
          </a:solidFill>
          <a:ln w="10160">
            <a:solidFill>
              <a:srgbClr val="2454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44A1C-AB52-24C7-0CD0-7E37A66BADF6}"/>
              </a:ext>
            </a:extLst>
          </p:cNvPr>
          <p:cNvSpPr txBox="1"/>
          <p:nvPr/>
        </p:nvSpPr>
        <p:spPr>
          <a:xfrm>
            <a:off x="941832" y="1627632"/>
            <a:ext cx="1810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47009-9A6A-01BA-7703-EADD4D947C7B}"/>
              </a:ext>
            </a:extLst>
          </p:cNvPr>
          <p:cNvSpPr txBox="1"/>
          <p:nvPr/>
        </p:nvSpPr>
        <p:spPr>
          <a:xfrm>
            <a:off x="941832" y="1984248"/>
            <a:ext cx="1810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 입력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BE3D374-25DB-9A22-5984-5617C053BAF7}"/>
              </a:ext>
            </a:extLst>
          </p:cNvPr>
          <p:cNvCxnSpPr/>
          <p:nvPr/>
        </p:nvCxnSpPr>
        <p:spPr>
          <a:xfrm>
            <a:off x="3017520" y="1883664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48B0D7-EC26-2930-626D-9FE273FF8E18}"/>
              </a:ext>
            </a:extLst>
          </p:cNvPr>
          <p:cNvSpPr/>
          <p:nvPr/>
        </p:nvSpPr>
        <p:spPr>
          <a:xfrm>
            <a:off x="3337560" y="1417320"/>
            <a:ext cx="2148840" cy="932688"/>
          </a:xfrm>
          <a:prstGeom prst="rect">
            <a:avLst/>
          </a:prstGeom>
          <a:solidFill>
            <a:srgbClr val="EAFBF8"/>
          </a:solidFill>
          <a:ln w="10160">
            <a:solidFill>
              <a:srgbClr val="00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874DC-48AD-01FA-D1DC-E145132EBE21}"/>
              </a:ext>
            </a:extLst>
          </p:cNvPr>
          <p:cNvSpPr txBox="1"/>
          <p:nvPr/>
        </p:nvSpPr>
        <p:spPr>
          <a:xfrm>
            <a:off x="3502152" y="1627632"/>
            <a:ext cx="1810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트랜잭션 경계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87CD3-BB02-469E-3690-7AF2878CEC79}"/>
              </a:ext>
            </a:extLst>
          </p:cNvPr>
          <p:cNvSpPr txBox="1"/>
          <p:nvPr/>
        </p:nvSpPr>
        <p:spPr>
          <a:xfrm>
            <a:off x="3502152" y="1984248"/>
            <a:ext cx="18105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기간</a:t>
            </a:r>
            <a:r>
              <a:rPr lang="en-US" altLang="ko-KR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</a:t>
            </a:r>
            <a:r>
              <a:rPr lang="en-US" altLang="ko-KR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참조 재검증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BC76CB-DFE1-DD96-36A1-ADFAB97D3CDD}"/>
              </a:ext>
            </a:extLst>
          </p:cNvPr>
          <p:cNvCxnSpPr/>
          <p:nvPr/>
        </p:nvCxnSpPr>
        <p:spPr>
          <a:xfrm>
            <a:off x="5577840" y="1883664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43110F-E9EF-E526-4E54-66B185F59EAC}"/>
              </a:ext>
            </a:extLst>
          </p:cNvPr>
          <p:cNvSpPr/>
          <p:nvPr/>
        </p:nvSpPr>
        <p:spPr>
          <a:xfrm>
            <a:off x="5897880" y="1417320"/>
            <a:ext cx="2148840" cy="932688"/>
          </a:xfrm>
          <a:prstGeom prst="rect">
            <a:avLst/>
          </a:prstGeom>
          <a:solidFill>
            <a:srgbClr val="FFF7E6"/>
          </a:solidFill>
          <a:ln w="1016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B67DF-259A-DA34-DD91-BAC167EFC5E6}"/>
              </a:ext>
            </a:extLst>
          </p:cNvPr>
          <p:cNvSpPr txBox="1"/>
          <p:nvPr/>
        </p:nvSpPr>
        <p:spPr>
          <a:xfrm>
            <a:off x="6062472" y="1627632"/>
            <a:ext cx="1810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확정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79E298-4559-4A1D-74A6-18D655C7F5A4}"/>
              </a:ext>
            </a:extLst>
          </p:cNvPr>
          <p:cNvSpPr txBox="1"/>
          <p:nvPr/>
        </p:nvSpPr>
        <p:spPr>
          <a:xfrm>
            <a:off x="6062472" y="1984248"/>
            <a:ext cx="18105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월별 전표번호와 라인 생성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12E45A8-1185-5B71-9279-06110DBEE2D6}"/>
              </a:ext>
            </a:extLst>
          </p:cNvPr>
          <p:cNvCxnSpPr/>
          <p:nvPr/>
        </p:nvCxnSpPr>
        <p:spPr>
          <a:xfrm>
            <a:off x="8138160" y="1883664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4A6448-F40E-931D-A2D4-1806424984AD}"/>
              </a:ext>
            </a:extLst>
          </p:cNvPr>
          <p:cNvSpPr/>
          <p:nvPr/>
        </p:nvSpPr>
        <p:spPr>
          <a:xfrm>
            <a:off x="8458200" y="1417320"/>
            <a:ext cx="2148840" cy="932688"/>
          </a:xfrm>
          <a:prstGeom prst="rect">
            <a:avLst/>
          </a:prstGeom>
          <a:solidFill>
            <a:srgbClr val="FFF1F3"/>
          </a:solidFill>
          <a:ln w="10160">
            <a:solidFill>
              <a:srgbClr val="E11D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224177-E06E-1EE4-A2D4-CFEBCA3C0BF1}"/>
              </a:ext>
            </a:extLst>
          </p:cNvPr>
          <p:cNvSpPr txBox="1"/>
          <p:nvPr/>
        </p:nvSpPr>
        <p:spPr>
          <a:xfrm>
            <a:off x="8622792" y="1627632"/>
            <a:ext cx="1810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잠금</a:t>
            </a:r>
            <a:r>
              <a:rPr lang="en-US" altLang="ko-KR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스냅샷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AF16C-DBD9-CF6F-EE5A-44029ABAE38D}"/>
              </a:ext>
            </a:extLst>
          </p:cNvPr>
          <p:cNvSpPr txBox="1"/>
          <p:nvPr/>
        </p:nvSpPr>
        <p:spPr>
          <a:xfrm>
            <a:off x="8622792" y="1984248"/>
            <a:ext cx="18105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</a:t>
            </a:r>
            <a:r>
              <a:rPr lang="en-US" altLang="ko-KR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5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 기준 고정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50E77-E6A8-1F31-8BF1-A14435150D23}"/>
              </a:ext>
            </a:extLst>
          </p:cNvPr>
          <p:cNvSpPr txBox="1"/>
          <p:nvPr/>
        </p:nvSpPr>
        <p:spPr>
          <a:xfrm>
            <a:off x="777240" y="2761488"/>
            <a:ext cx="3108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엔지니어링 강점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3620A9-8299-A0D0-97AB-22EB9F6F9DCD}"/>
              </a:ext>
            </a:extLst>
          </p:cNvPr>
          <p:cNvSpPr/>
          <p:nvPr/>
        </p:nvSpPr>
        <p:spPr>
          <a:xfrm>
            <a:off x="777240" y="3127248"/>
            <a:ext cx="25786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AEA9A1-76B0-EE9C-3782-D5C3459EC000}"/>
              </a:ext>
            </a:extLst>
          </p:cNvPr>
          <p:cNvSpPr/>
          <p:nvPr/>
        </p:nvSpPr>
        <p:spPr>
          <a:xfrm>
            <a:off x="777240" y="3127248"/>
            <a:ext cx="64008" cy="786384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457F8-83BA-C0DA-8D8A-0EDD4E3AF145}"/>
              </a:ext>
            </a:extLst>
          </p:cNvPr>
          <p:cNvSpPr txBox="1"/>
          <p:nvPr/>
        </p:nvSpPr>
        <p:spPr>
          <a:xfrm>
            <a:off x="941832" y="3218688"/>
            <a:ext cx="22860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확정 경계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A8E081-3E56-D334-9B5B-5F9BB7206381}"/>
              </a:ext>
            </a:extLst>
          </p:cNvPr>
          <p:cNvSpPr txBox="1"/>
          <p:nvPr/>
        </p:nvSpPr>
        <p:spPr>
          <a:xfrm>
            <a:off x="941832" y="3456432"/>
            <a:ext cx="228600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 시 하나의 트랜잭션 안에서 기간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참조를 다시 검증합니다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0BBE7B-C31A-7064-BA76-3085D9AEFE50}"/>
              </a:ext>
            </a:extLst>
          </p:cNvPr>
          <p:cNvSpPr/>
          <p:nvPr/>
        </p:nvSpPr>
        <p:spPr>
          <a:xfrm>
            <a:off x="3611880" y="3127248"/>
            <a:ext cx="25786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9BAC9FD-C361-C452-3B8E-85F85E136314}"/>
              </a:ext>
            </a:extLst>
          </p:cNvPr>
          <p:cNvSpPr/>
          <p:nvPr/>
        </p:nvSpPr>
        <p:spPr>
          <a:xfrm>
            <a:off x="3611880" y="3127248"/>
            <a:ext cx="64008" cy="786384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00EE0-F3D9-FAFA-CFDC-B3399C7C2ECB}"/>
              </a:ext>
            </a:extLst>
          </p:cNvPr>
          <p:cNvSpPr txBox="1"/>
          <p:nvPr/>
        </p:nvSpPr>
        <p:spPr>
          <a:xfrm>
            <a:off x="3776472" y="3218688"/>
            <a:ext cx="22860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번호 정합성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CBE0C-DF1D-78E0-EE4D-3E2065787F30}"/>
              </a:ext>
            </a:extLst>
          </p:cNvPr>
          <p:cNvSpPr txBox="1"/>
          <p:nvPr/>
        </p:nvSpPr>
        <p:spPr>
          <a:xfrm>
            <a:off x="3776472" y="3456432"/>
            <a:ext cx="228600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운영월별 전표 순번을 별도로 관리해 월 안의 번호 중복을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5F142D-742C-3EC4-7DC5-7E51FB547326}"/>
              </a:ext>
            </a:extLst>
          </p:cNvPr>
          <p:cNvSpPr/>
          <p:nvPr/>
        </p:nvSpPr>
        <p:spPr>
          <a:xfrm>
            <a:off x="777240" y="4187952"/>
            <a:ext cx="25786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017F3C5-2324-6DAD-5D30-3F2B952FB01C}"/>
              </a:ext>
            </a:extLst>
          </p:cNvPr>
          <p:cNvSpPr/>
          <p:nvPr/>
        </p:nvSpPr>
        <p:spPr>
          <a:xfrm>
            <a:off x="777240" y="4187952"/>
            <a:ext cx="64008" cy="786384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34EEEE-B0C5-D0BE-D95F-DC6EC6456899}"/>
              </a:ext>
            </a:extLst>
          </p:cNvPr>
          <p:cNvSpPr txBox="1"/>
          <p:nvPr/>
        </p:nvSpPr>
        <p:spPr>
          <a:xfrm>
            <a:off x="941832" y="4279392"/>
            <a:ext cx="22860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동시성 방어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895EB1-97A1-2EDD-02D4-BDB306CCBF18}"/>
              </a:ext>
            </a:extLst>
          </p:cNvPr>
          <p:cNvSpPr txBox="1"/>
          <p:nvPr/>
        </p:nvSpPr>
        <p:spPr>
          <a:xfrm>
            <a:off x="941832" y="4517136"/>
            <a:ext cx="228600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기대 상태 조건 갱신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DB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제약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일괄 등록 잠금으로 중복 확정을 차단합니다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9C8DE2F-E331-DA4E-171F-4EE322ADCCF4}"/>
              </a:ext>
            </a:extLst>
          </p:cNvPr>
          <p:cNvSpPr/>
          <p:nvPr/>
        </p:nvSpPr>
        <p:spPr>
          <a:xfrm>
            <a:off x="3611880" y="4187952"/>
            <a:ext cx="25786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EA9B71-92F6-9C8B-04D3-5D74302CA58C}"/>
              </a:ext>
            </a:extLst>
          </p:cNvPr>
          <p:cNvSpPr/>
          <p:nvPr/>
        </p:nvSpPr>
        <p:spPr>
          <a:xfrm>
            <a:off x="3611880" y="4187952"/>
            <a:ext cx="64008" cy="786384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790620-3F20-0451-9C49-28F9C01B6685}"/>
              </a:ext>
            </a:extLst>
          </p:cNvPr>
          <p:cNvSpPr txBox="1"/>
          <p:nvPr/>
        </p:nvSpPr>
        <p:spPr>
          <a:xfrm>
            <a:off x="3776472" y="4279392"/>
            <a:ext cx="22860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격리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D43E7-3124-888A-7928-ED2ED86F727F}"/>
              </a:ext>
            </a:extLst>
          </p:cNvPr>
          <p:cNvSpPr txBox="1"/>
          <p:nvPr/>
        </p:nvSpPr>
        <p:spPr>
          <a:xfrm>
            <a:off x="3776472" y="4517136"/>
            <a:ext cx="228600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기록 저장 실패는 핵심 회계 트랜잭션과 분리해 처리합니다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442441A-8B86-D050-308A-1D8D40A4F044}"/>
              </a:ext>
            </a:extLst>
          </p:cNvPr>
          <p:cNvSpPr/>
          <p:nvPr/>
        </p:nvSpPr>
        <p:spPr>
          <a:xfrm>
            <a:off x="6629400" y="2788920"/>
            <a:ext cx="4800600" cy="2395728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7044F9-24DB-349F-B626-6FF2B415AB62}"/>
              </a:ext>
            </a:extLst>
          </p:cNvPr>
          <p:cNvSpPr txBox="1"/>
          <p:nvPr/>
        </p:nvSpPr>
        <p:spPr>
          <a:xfrm>
            <a:off x="6903720" y="3035808"/>
            <a:ext cx="41605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32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검증으로 확인한 시나리오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D027F8-FF68-3D91-6021-81EB7B065A7D}"/>
              </a:ext>
            </a:extLst>
          </p:cNvPr>
          <p:cNvSpPr txBox="1"/>
          <p:nvPr/>
        </p:nvSpPr>
        <p:spPr>
          <a:xfrm>
            <a:off x="6967728" y="3493008"/>
            <a:ext cx="4023360" cy="1754326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시작 → 업로드 → 수집 → 전표 확정 → 월 마감</a:t>
            </a:r>
          </a:p>
          <a:p>
            <a:r>
              <a:rPr lang="en-US" altLang="ko-KR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→ 재무제표 → 재오픈 → 반전</a:t>
            </a:r>
            <a:r>
              <a:rPr lang="en-US" altLang="ko-KR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</a:t>
            </a:r>
          </a:p>
          <a:p>
            <a:r>
              <a:rPr lang="en-US" altLang="ko-KR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</a:t>
            </a:r>
            <a:r>
              <a:rPr lang="ko-KR" altLang="en-US" sz="109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차기 이월 생성 후 원천 월 재오픈 차단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CEA27AE-5BAE-887F-F043-C8A0FD0E4D96}"/>
              </a:ext>
            </a:extLst>
          </p:cNvPr>
          <p:cNvSpPr/>
          <p:nvPr/>
        </p:nvSpPr>
        <p:spPr>
          <a:xfrm>
            <a:off x="6903720" y="4645152"/>
            <a:ext cx="4096512" cy="54864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797F30-D119-A49C-887C-60C4DBAB1395}"/>
              </a:ext>
            </a:extLst>
          </p:cNvPr>
          <p:cNvSpPr txBox="1"/>
          <p:nvPr/>
        </p:nvSpPr>
        <p:spPr>
          <a:xfrm>
            <a:off x="6903720" y="4791456"/>
            <a:ext cx="4096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실무에서 겪은 중복 처리 위험을 바탕으로</a:t>
            </a:r>
            <a:r>
              <a:rPr lang="en-US" altLang="ko-KR" sz="110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처리 전 선점과 기대 상태 갱신을 핵심 쓰기 경로에 적용했습니다</a:t>
            </a:r>
            <a:r>
              <a:rPr lang="en-US" altLang="ko-KR" sz="110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D4D4D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41B964-64C4-0B10-1868-CCDECA90CDEB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63B6F7-4C84-FC22-A0BD-C1DE53E44A95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08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265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741BC7-0169-5985-E4E5-312A0AB47BB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FE2A5F-4370-0DE7-2D85-F16DDF0854C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6C634A-DC51-5E6A-F22A-621174F5E776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43E87-B09A-4394-B5B4-FADB66A77EFA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FIELD CASE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F9181-B096-9352-CF86-D1FBA89D76A4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 경험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자동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수동 인터페이스 중복 처리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4FD6262-8740-5171-2C55-6A0867AF6877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0DAA64-3E3D-C81B-E326-FEF169797492}"/>
              </a:ext>
            </a:extLst>
          </p:cNvPr>
          <p:cNvSpPr/>
          <p:nvPr/>
        </p:nvSpPr>
        <p:spPr>
          <a:xfrm>
            <a:off x="640080" y="1325880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D7B7AE-CF91-E47C-0C7D-8D59989B3308}"/>
              </a:ext>
            </a:extLst>
          </p:cNvPr>
          <p:cNvSpPr/>
          <p:nvPr/>
        </p:nvSpPr>
        <p:spPr>
          <a:xfrm>
            <a:off x="640080" y="1325880"/>
            <a:ext cx="64008" cy="107899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50C41-4EE2-6443-AD06-7F49AF881C93}"/>
              </a:ext>
            </a:extLst>
          </p:cNvPr>
          <p:cNvSpPr txBox="1"/>
          <p:nvPr/>
        </p:nvSpPr>
        <p:spPr>
          <a:xfrm>
            <a:off x="804672" y="143560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16C7DB-11EF-D6C2-7349-D111A45A9932}"/>
              </a:ext>
            </a:extLst>
          </p:cNvPr>
          <p:cNvSpPr txBox="1"/>
          <p:nvPr/>
        </p:nvSpPr>
        <p:spPr>
          <a:xfrm>
            <a:off x="804672" y="1691640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스케줄러와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 수동 실행이 같은 인터페이스 작업 데이터를 동시에 집을 수 있었습니다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AC1AC-881E-511B-3AE4-E8B511A3A77A}"/>
              </a:ext>
            </a:extLst>
          </p:cNvPr>
          <p:cNvSpPr/>
          <p:nvPr/>
        </p:nvSpPr>
        <p:spPr>
          <a:xfrm>
            <a:off x="4343400" y="1325880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30E289-5ED1-03D2-ACA5-A8909A9C7790}"/>
              </a:ext>
            </a:extLst>
          </p:cNvPr>
          <p:cNvSpPr/>
          <p:nvPr/>
        </p:nvSpPr>
        <p:spPr>
          <a:xfrm>
            <a:off x="4343400" y="1325880"/>
            <a:ext cx="64008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BABAF-BF9F-7D50-B51F-BD2575FAE5E6}"/>
              </a:ext>
            </a:extLst>
          </p:cNvPr>
          <p:cNvSpPr txBox="1"/>
          <p:nvPr/>
        </p:nvSpPr>
        <p:spPr>
          <a:xfrm>
            <a:off x="4507992" y="143560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위험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96CB1-023D-1329-59BE-99D7A36552FE}"/>
              </a:ext>
            </a:extLst>
          </p:cNvPr>
          <p:cNvSpPr txBox="1"/>
          <p:nvPr/>
        </p:nvSpPr>
        <p:spPr>
          <a:xfrm>
            <a:off x="4507992" y="169164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처리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 덮어쓰기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처리 이력 불일치가 발생할 수 있는 구조였습니다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066C37-E27C-0A91-F6D1-4CD77E20ED5A}"/>
              </a:ext>
            </a:extLst>
          </p:cNvPr>
          <p:cNvSpPr/>
          <p:nvPr/>
        </p:nvSpPr>
        <p:spPr>
          <a:xfrm>
            <a:off x="8046720" y="1325880"/>
            <a:ext cx="3246119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AA162B-98E6-5261-CBE2-FDB67BB305B7}"/>
              </a:ext>
            </a:extLst>
          </p:cNvPr>
          <p:cNvSpPr/>
          <p:nvPr/>
        </p:nvSpPr>
        <p:spPr>
          <a:xfrm>
            <a:off x="8046720" y="1325880"/>
            <a:ext cx="64007" cy="107899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8339A-A2B5-AD4A-5D72-6EEE50C2F5BB}"/>
              </a:ext>
            </a:extLst>
          </p:cNvPr>
          <p:cNvSpPr txBox="1"/>
          <p:nvPr/>
        </p:nvSpPr>
        <p:spPr>
          <a:xfrm>
            <a:off x="8211312" y="143560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판단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ACB5C8-C9EA-BB39-6543-AC7421B62F35}"/>
              </a:ext>
            </a:extLst>
          </p:cNvPr>
          <p:cNvSpPr txBox="1"/>
          <p:nvPr/>
        </p:nvSpPr>
        <p:spPr>
          <a:xfrm>
            <a:off x="8211312" y="169164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실제 처리 전에 먼저 선점 상태를 확정해 같은 데이터의 재진입을 막았습니다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62BB3A-A73C-B3A9-3071-35CE25A53838}"/>
              </a:ext>
            </a:extLst>
          </p:cNvPr>
          <p:cNvSpPr/>
          <p:nvPr/>
        </p:nvSpPr>
        <p:spPr>
          <a:xfrm>
            <a:off x="640080" y="2816352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1982FF-E7E8-E087-6964-9DB438A41EBA}"/>
              </a:ext>
            </a:extLst>
          </p:cNvPr>
          <p:cNvSpPr/>
          <p:nvPr/>
        </p:nvSpPr>
        <p:spPr>
          <a:xfrm>
            <a:off x="640080" y="2816352"/>
            <a:ext cx="64008" cy="84124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8ABEC2-5CA5-2BED-A71A-A808A35CA977}"/>
              </a:ext>
            </a:extLst>
          </p:cNvPr>
          <p:cNvSpPr txBox="1"/>
          <p:nvPr/>
        </p:nvSpPr>
        <p:spPr>
          <a:xfrm>
            <a:off x="804672" y="2916936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자동 경로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D85C2B-E0E5-31D4-81A2-F3D3862B364D}"/>
              </a:ext>
            </a:extLst>
          </p:cNvPr>
          <p:cNvSpPr txBox="1"/>
          <p:nvPr/>
        </p:nvSpPr>
        <p:spPr>
          <a:xfrm>
            <a:off x="804672" y="316382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조건에 맞는 미처리 작업을 주기적으로 탐색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CEE4279-42B1-EF2B-4731-6FF3F33E8B3C}"/>
              </a:ext>
            </a:extLst>
          </p:cNvPr>
          <p:cNvSpPr/>
          <p:nvPr/>
        </p:nvSpPr>
        <p:spPr>
          <a:xfrm>
            <a:off x="3410712" y="2816352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4D8311-CE22-FC31-A24F-DB154A6F2546}"/>
              </a:ext>
            </a:extLst>
          </p:cNvPr>
          <p:cNvSpPr/>
          <p:nvPr/>
        </p:nvSpPr>
        <p:spPr>
          <a:xfrm>
            <a:off x="3410712" y="2816352"/>
            <a:ext cx="64008" cy="84124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F9F13-A697-ADE4-6825-C40E849FCC12}"/>
              </a:ext>
            </a:extLst>
          </p:cNvPr>
          <p:cNvSpPr txBox="1"/>
          <p:nvPr/>
        </p:nvSpPr>
        <p:spPr>
          <a:xfrm>
            <a:off x="3575304" y="2916936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수동 경로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123118-A2D8-05CA-5156-BDDCD0CA7A97}"/>
              </a:ext>
            </a:extLst>
          </p:cNvPr>
          <p:cNvSpPr txBox="1"/>
          <p:nvPr/>
        </p:nvSpPr>
        <p:spPr>
          <a:xfrm>
            <a:off x="3575304" y="316382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담당자가 화면에서 선택한 작업만 실행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272191-2D99-D038-4189-32236A856417}"/>
              </a:ext>
            </a:extLst>
          </p:cNvPr>
          <p:cNvSpPr/>
          <p:nvPr/>
        </p:nvSpPr>
        <p:spPr>
          <a:xfrm>
            <a:off x="6181344" y="2816352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84748D-D425-B67A-C09C-6DE65C4F4350}"/>
              </a:ext>
            </a:extLst>
          </p:cNvPr>
          <p:cNvSpPr/>
          <p:nvPr/>
        </p:nvSpPr>
        <p:spPr>
          <a:xfrm>
            <a:off x="6181344" y="2816352"/>
            <a:ext cx="64008" cy="84124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FB536C-D4EC-AB5C-96C8-FC62240499C3}"/>
              </a:ext>
            </a:extLst>
          </p:cNvPr>
          <p:cNvSpPr txBox="1"/>
          <p:nvPr/>
        </p:nvSpPr>
        <p:spPr>
          <a:xfrm>
            <a:off x="6345936" y="2916936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공통 정책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5FC54D-A5CD-920A-9B40-E2D7AC41BC66}"/>
              </a:ext>
            </a:extLst>
          </p:cNvPr>
          <p:cNvSpPr txBox="1"/>
          <p:nvPr/>
        </p:nvSpPr>
        <p:spPr>
          <a:xfrm>
            <a:off x="6345936" y="316382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대상 선정 방식은 달라도 선점 규칙은 동일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C6A60B-9DBE-2C1F-EE35-D3E916290806}"/>
              </a:ext>
            </a:extLst>
          </p:cNvPr>
          <p:cNvSpPr/>
          <p:nvPr/>
        </p:nvSpPr>
        <p:spPr>
          <a:xfrm>
            <a:off x="8951976" y="2816352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3593CA-96F8-AB9A-0487-2D8B196C7AE6}"/>
              </a:ext>
            </a:extLst>
          </p:cNvPr>
          <p:cNvSpPr/>
          <p:nvPr/>
        </p:nvSpPr>
        <p:spPr>
          <a:xfrm>
            <a:off x="8951976" y="2816352"/>
            <a:ext cx="64008" cy="84124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AA05F5-3821-7F12-4FA0-1B729E4A02C9}"/>
              </a:ext>
            </a:extLst>
          </p:cNvPr>
          <p:cNvSpPr txBox="1"/>
          <p:nvPr/>
        </p:nvSpPr>
        <p:spPr>
          <a:xfrm>
            <a:off x="9116568" y="2916936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결과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7E3C0F-241B-E31E-B9FE-4C351B81B616}"/>
              </a:ext>
            </a:extLst>
          </p:cNvPr>
          <p:cNvSpPr txBox="1"/>
          <p:nvPr/>
        </p:nvSpPr>
        <p:spPr>
          <a:xfrm>
            <a:off x="9116568" y="316382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실행을 줄이고 실패 후 재시도 가능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A1B33E-C796-1772-3F90-928A02C3197F}"/>
              </a:ext>
            </a:extLst>
          </p:cNvPr>
          <p:cNvSpPr/>
          <p:nvPr/>
        </p:nvSpPr>
        <p:spPr>
          <a:xfrm>
            <a:off x="640080" y="4663440"/>
            <a:ext cx="1065276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13F66E-5642-AE6E-64C2-31F76E5B6107}"/>
              </a:ext>
            </a:extLst>
          </p:cNvPr>
          <p:cNvSpPr/>
          <p:nvPr/>
        </p:nvSpPr>
        <p:spPr>
          <a:xfrm>
            <a:off x="640080" y="4663440"/>
            <a:ext cx="64008" cy="932688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5E22E0-C2CC-4755-C987-62276B36081B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9477E6-97C8-3D66-3962-FC8E30C2967D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서로 다른 실행 경로가 같은 자원을 공유할 때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실행 진입점보다 데이터 선점 정책을 먼저 통일해야 한다는 실무 판단을 경험했습니다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83BE5B-29F6-0318-2CAC-54EBEA206A3F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7D7D76-93DF-476C-0F95-01268407DAF8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09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82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698959-81B7-ADB3-92A3-FD6C4FF393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3A2AD9-EAFA-30BF-2EAE-B403993ACA56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09D923-931C-3604-55F2-F29247C8A178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BF1D0-605E-B2FB-E2FE-BAD28B836E24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CLAIM FIRST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D5686-B628-6CE2-99A4-00C5C588EC82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선점 기반 트랜잭션 설계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C72C693-3F62-160D-4F24-DA681C508EF6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2C3DB8-9C4F-8D40-7AD8-7B6693B22A1A}"/>
              </a:ext>
            </a:extLst>
          </p:cNvPr>
          <p:cNvSpPr/>
          <p:nvPr/>
        </p:nvSpPr>
        <p:spPr>
          <a:xfrm>
            <a:off x="640080" y="1298448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A20267-FB2A-F3CA-DAF6-B44D0894C092}"/>
              </a:ext>
            </a:extLst>
          </p:cNvPr>
          <p:cNvSpPr/>
          <p:nvPr/>
        </p:nvSpPr>
        <p:spPr>
          <a:xfrm>
            <a:off x="640080" y="1298448"/>
            <a:ext cx="64008" cy="84124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8AA81-C9F7-BCD3-3277-7D11C7590C50}"/>
              </a:ext>
            </a:extLst>
          </p:cNvPr>
          <p:cNvSpPr txBox="1"/>
          <p:nvPr/>
        </p:nvSpPr>
        <p:spPr>
          <a:xfrm>
            <a:off x="804672" y="139903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1. </a:t>
            </a:r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처리 가능 대상 조회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47B39-536A-1F4D-FE75-F316905E0021}"/>
              </a:ext>
            </a:extLst>
          </p:cNvPr>
          <p:cNvSpPr txBox="1"/>
          <p:nvPr/>
        </p:nvSpPr>
        <p:spPr>
          <a:xfrm>
            <a:off x="804672" y="1645920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상태뿐 아니라 업무 조건과 선후행 관계까지 반영해 선별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22B9D4-7EB6-C6D1-3263-04FE1D36DBF5}"/>
              </a:ext>
            </a:extLst>
          </p:cNvPr>
          <p:cNvSpPr/>
          <p:nvPr/>
        </p:nvSpPr>
        <p:spPr>
          <a:xfrm>
            <a:off x="3410712" y="1298448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45E248-9A50-864D-2B1F-1E3945C03CE7}"/>
              </a:ext>
            </a:extLst>
          </p:cNvPr>
          <p:cNvSpPr/>
          <p:nvPr/>
        </p:nvSpPr>
        <p:spPr>
          <a:xfrm>
            <a:off x="3410712" y="1298448"/>
            <a:ext cx="64008" cy="84124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FFCDD-CDE7-F876-AAB0-84C078B7239B}"/>
              </a:ext>
            </a:extLst>
          </p:cNvPr>
          <p:cNvSpPr txBox="1"/>
          <p:nvPr/>
        </p:nvSpPr>
        <p:spPr>
          <a:xfrm>
            <a:off x="3575304" y="139903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2. </a:t>
            </a:r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선점 상태 기록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015B5-71A3-EB0C-6C03-C7F5AE8591A2}"/>
              </a:ext>
            </a:extLst>
          </p:cNvPr>
          <p:cNvSpPr txBox="1"/>
          <p:nvPr/>
        </p:nvSpPr>
        <p:spPr>
          <a:xfrm>
            <a:off x="3575304" y="1645920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미처리 대상을 즉시 처리 중 상태로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C9B91E-3903-144B-5147-DD688255ACCA}"/>
              </a:ext>
            </a:extLst>
          </p:cNvPr>
          <p:cNvSpPr/>
          <p:nvPr/>
        </p:nvSpPr>
        <p:spPr>
          <a:xfrm>
            <a:off x="6181344" y="1298448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8A97D5-D034-393D-DCA5-0BE1B3DBD8F7}"/>
              </a:ext>
            </a:extLst>
          </p:cNvPr>
          <p:cNvSpPr/>
          <p:nvPr/>
        </p:nvSpPr>
        <p:spPr>
          <a:xfrm>
            <a:off x="6181344" y="1298448"/>
            <a:ext cx="64008" cy="84124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56130-C6D4-191A-47CA-93FA9B7D1186}"/>
              </a:ext>
            </a:extLst>
          </p:cNvPr>
          <p:cNvSpPr txBox="1"/>
          <p:nvPr/>
        </p:nvSpPr>
        <p:spPr>
          <a:xfrm>
            <a:off x="6345936" y="139903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3. </a:t>
            </a:r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동일 집합 전달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CC6F9-3CF9-4264-B9AA-35671CAD79ED}"/>
              </a:ext>
            </a:extLst>
          </p:cNvPr>
          <p:cNvSpPr txBox="1"/>
          <p:nvPr/>
        </p:nvSpPr>
        <p:spPr>
          <a:xfrm>
            <a:off x="6345936" y="1645920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선점한 집합을 후속 처리 대상으로 고정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979FF9-E0ED-B07C-FA4F-B96AE40C9B7F}"/>
              </a:ext>
            </a:extLst>
          </p:cNvPr>
          <p:cNvSpPr/>
          <p:nvPr/>
        </p:nvSpPr>
        <p:spPr>
          <a:xfrm>
            <a:off x="8951976" y="1298448"/>
            <a:ext cx="231343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96EF31-84BF-628A-7FC1-46C1EE0AC511}"/>
              </a:ext>
            </a:extLst>
          </p:cNvPr>
          <p:cNvSpPr/>
          <p:nvPr/>
        </p:nvSpPr>
        <p:spPr>
          <a:xfrm>
            <a:off x="8951976" y="1298448"/>
            <a:ext cx="64008" cy="841248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925001-AD15-791F-2152-D9CC4C4D85DD}"/>
              </a:ext>
            </a:extLst>
          </p:cNvPr>
          <p:cNvSpPr txBox="1"/>
          <p:nvPr/>
        </p:nvSpPr>
        <p:spPr>
          <a:xfrm>
            <a:off x="9116568" y="139903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4. </a:t>
            </a:r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성공</a:t>
            </a:r>
            <a:r>
              <a:rPr lang="en-US" altLang="ko-KR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정리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C5BA5-E15F-1890-713A-31B0AC0ECCAA}"/>
              </a:ext>
            </a:extLst>
          </p:cNvPr>
          <p:cNvSpPr txBox="1"/>
          <p:nvPr/>
        </p:nvSpPr>
        <p:spPr>
          <a:xfrm>
            <a:off x="9116568" y="1645920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성공 시 완료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시 미처리로 복구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6776C3D-5AFC-3725-ACC6-FF431E6AB0B9}"/>
              </a:ext>
            </a:extLst>
          </p:cNvPr>
          <p:cNvSpPr/>
          <p:nvPr/>
        </p:nvSpPr>
        <p:spPr>
          <a:xfrm>
            <a:off x="640080" y="2880360"/>
            <a:ext cx="5102352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C52519A-AD2A-A372-B67F-3FBE6866236E}"/>
              </a:ext>
            </a:extLst>
          </p:cNvPr>
          <p:cNvSpPr/>
          <p:nvPr/>
        </p:nvSpPr>
        <p:spPr>
          <a:xfrm>
            <a:off x="640080" y="2880360"/>
            <a:ext cx="64008" cy="1143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400034-8AC2-F073-98C0-D0B538A9EA60}"/>
              </a:ext>
            </a:extLst>
          </p:cNvPr>
          <p:cNvSpPr txBox="1"/>
          <p:nvPr/>
        </p:nvSpPr>
        <p:spPr>
          <a:xfrm>
            <a:off x="804672" y="2990088"/>
            <a:ext cx="480974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트랜잭션의 초점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A8E219-34CF-5BC2-E4EA-4794DD0FD8C9}"/>
              </a:ext>
            </a:extLst>
          </p:cNvPr>
          <p:cNvSpPr txBox="1"/>
          <p:nvPr/>
        </p:nvSpPr>
        <p:spPr>
          <a:xfrm>
            <a:off x="804672" y="3246120"/>
            <a:ext cx="480974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후속 비즈니스 전체를 하나로 묶기보다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조회와 선점 상태 변경을 짧고 강하게 보장하는 구조에 집중했습니다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C8D537-98A0-FC94-E039-E976B63EF197}"/>
              </a:ext>
            </a:extLst>
          </p:cNvPr>
          <p:cNvSpPr/>
          <p:nvPr/>
        </p:nvSpPr>
        <p:spPr>
          <a:xfrm>
            <a:off x="6181344" y="2880360"/>
            <a:ext cx="5111496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6E8AB7-2FF2-C0A0-EC34-7754740C57FF}"/>
              </a:ext>
            </a:extLst>
          </p:cNvPr>
          <p:cNvSpPr/>
          <p:nvPr/>
        </p:nvSpPr>
        <p:spPr>
          <a:xfrm>
            <a:off x="6181344" y="2880360"/>
            <a:ext cx="64008" cy="1143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63AD7A-F027-E1E9-01C7-99E46A24C33C}"/>
              </a:ext>
            </a:extLst>
          </p:cNvPr>
          <p:cNvSpPr txBox="1"/>
          <p:nvPr/>
        </p:nvSpPr>
        <p:spPr>
          <a:xfrm>
            <a:off x="6345936" y="2990088"/>
            <a:ext cx="4818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오류 해석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06113-E3DB-9602-46FB-08AE59066139}"/>
              </a:ext>
            </a:extLst>
          </p:cNvPr>
          <p:cNvSpPr txBox="1"/>
          <p:nvPr/>
        </p:nvSpPr>
        <p:spPr>
          <a:xfrm>
            <a:off x="6345936" y="3246120"/>
            <a:ext cx="4818888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잠금 대기 시간 초과와 일반 오류를 구분해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원인을 운영자가 해석할 수 있게 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728A61-D5B1-CC67-1129-0AF2D6AF3AC0}"/>
              </a:ext>
            </a:extLst>
          </p:cNvPr>
          <p:cNvSpPr/>
          <p:nvPr/>
        </p:nvSpPr>
        <p:spPr>
          <a:xfrm>
            <a:off x="640080" y="4663440"/>
            <a:ext cx="1065276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C11DC0-0835-6D17-E524-582184AB04A2}"/>
              </a:ext>
            </a:extLst>
          </p:cNvPr>
          <p:cNvSpPr/>
          <p:nvPr/>
        </p:nvSpPr>
        <p:spPr>
          <a:xfrm>
            <a:off x="640080" y="4663440"/>
            <a:ext cx="64008" cy="877824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4CD3BB-5D96-0348-1AE4-D3ABECAE9642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가장 중요한 규칙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394859-CCFC-BE34-A312-CA5E61801881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선점된 작업은 완료 또는 미처리 상태로 종료되어야 하며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잔존 선점 상태는 운영 리스크로 관리해야 합니다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6595FE-31F7-3095-8D5F-32012CB480AD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B86207-CB33-238C-F191-70D3024D77E8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10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684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A6CCBC4-645B-BCF5-921A-30149898218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04D33E-8A31-610C-8B1A-2FFC29A1807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9FEB9F5-189D-D3FB-3A88-DB82B9258E10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7B6B3-722F-2685-7CA3-F7F47380382B}"/>
              </a:ext>
            </a:extLst>
          </p:cNvPr>
          <p:cNvSpPr txBox="1"/>
          <p:nvPr/>
        </p:nvSpPr>
        <p:spPr>
          <a:xfrm>
            <a:off x="630936" y="338328"/>
            <a:ext cx="960120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APPLIED DESIGN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D8B1A-2AC3-6F4E-E342-2A2EF598062E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프로젝트에 반영된 정합성 사고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DB4B1C5-2414-37EA-4550-CDAF0B8E1F57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815920-E48D-1FB0-F2A1-3A25CF53A687}"/>
              </a:ext>
            </a:extLst>
          </p:cNvPr>
          <p:cNvSpPr/>
          <p:nvPr/>
        </p:nvSpPr>
        <p:spPr>
          <a:xfrm>
            <a:off x="640080" y="1225296"/>
            <a:ext cx="32461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D72E86-8AF8-A434-62CF-BB6A531C67A8}"/>
              </a:ext>
            </a:extLst>
          </p:cNvPr>
          <p:cNvSpPr/>
          <p:nvPr/>
        </p:nvSpPr>
        <p:spPr>
          <a:xfrm>
            <a:off x="640080" y="1225296"/>
            <a:ext cx="64008" cy="104241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73600-BC7A-0724-B8F9-B45223D94EFF}"/>
              </a:ext>
            </a:extLst>
          </p:cNvPr>
          <p:cNvSpPr txBox="1"/>
          <p:nvPr/>
        </p:nvSpPr>
        <p:spPr>
          <a:xfrm>
            <a:off x="804672" y="133502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 원칙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871722-FF72-4DF3-0BBC-F2034FF006C3}"/>
              </a:ext>
            </a:extLst>
          </p:cNvPr>
          <p:cNvSpPr txBox="1"/>
          <p:nvPr/>
        </p:nvSpPr>
        <p:spPr>
          <a:xfrm>
            <a:off x="804672" y="1591056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먼저 선점하고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기대 상태 조건으로 갱신해 동시 실행을 감지합니다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5495CF-E5EE-C7AE-3BF0-340533E09D59}"/>
              </a:ext>
            </a:extLst>
          </p:cNvPr>
          <p:cNvSpPr/>
          <p:nvPr/>
        </p:nvSpPr>
        <p:spPr>
          <a:xfrm>
            <a:off x="4343400" y="1225296"/>
            <a:ext cx="32461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C139D9-9F98-72EC-7F63-636B76613DB6}"/>
              </a:ext>
            </a:extLst>
          </p:cNvPr>
          <p:cNvSpPr/>
          <p:nvPr/>
        </p:nvSpPr>
        <p:spPr>
          <a:xfrm>
            <a:off x="4343400" y="1225296"/>
            <a:ext cx="64008" cy="104241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2407FE-FB06-95BC-D4FB-1E9B05614435}"/>
              </a:ext>
            </a:extLst>
          </p:cNvPr>
          <p:cNvSpPr txBox="1"/>
          <p:nvPr/>
        </p:nvSpPr>
        <p:spPr>
          <a:xfrm>
            <a:off x="4507992" y="133502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확정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8DC48-DF36-18D9-7518-B9EF654F4204}"/>
              </a:ext>
            </a:extLst>
          </p:cNvPr>
          <p:cNvSpPr txBox="1"/>
          <p:nvPr/>
        </p:nvSpPr>
        <p:spPr>
          <a:xfrm>
            <a:off x="4507992" y="1591056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트랜잭션 안에서 최신 수집 거래를 재조회하고 전표번호 할당 후 선점합니다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34216F-B942-15BA-E293-37FC5784A420}"/>
              </a:ext>
            </a:extLst>
          </p:cNvPr>
          <p:cNvSpPr/>
          <p:nvPr/>
        </p:nvSpPr>
        <p:spPr>
          <a:xfrm>
            <a:off x="8046720" y="1225296"/>
            <a:ext cx="3246119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C82272-3380-23BE-3B2D-DAF288F8109F}"/>
              </a:ext>
            </a:extLst>
          </p:cNvPr>
          <p:cNvSpPr/>
          <p:nvPr/>
        </p:nvSpPr>
        <p:spPr>
          <a:xfrm>
            <a:off x="8046720" y="1225296"/>
            <a:ext cx="64007" cy="104241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87F515-23C9-6B7E-D999-939843EA6378}"/>
              </a:ext>
            </a:extLst>
          </p:cNvPr>
          <p:cNvSpPr txBox="1"/>
          <p:nvPr/>
        </p:nvSpPr>
        <p:spPr>
          <a:xfrm>
            <a:off x="8211312" y="133502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일괄 등록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B7A510-82FD-94E1-8A67-1F1A692F713A}"/>
              </a:ext>
            </a:extLst>
          </p:cNvPr>
          <p:cNvSpPr txBox="1"/>
          <p:nvPr/>
        </p:nvSpPr>
        <p:spPr>
          <a:xfrm>
            <a:off x="8211312" y="1591056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작업공간 단위 잠금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진행 중 갱신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만료 잠금 정리로 등록 충돌을 막습니다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FF17B0-E4D2-A282-85CF-2E9C6CC4C254}"/>
              </a:ext>
            </a:extLst>
          </p:cNvPr>
          <p:cNvSpPr/>
          <p:nvPr/>
        </p:nvSpPr>
        <p:spPr>
          <a:xfrm>
            <a:off x="640080" y="2670048"/>
            <a:ext cx="32461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59668A-FD2A-E9FA-1EDC-3A98E3C651EE}"/>
              </a:ext>
            </a:extLst>
          </p:cNvPr>
          <p:cNvSpPr/>
          <p:nvPr/>
        </p:nvSpPr>
        <p:spPr>
          <a:xfrm>
            <a:off x="640080" y="2670048"/>
            <a:ext cx="64008" cy="104241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7ABF0C-04AD-E882-F352-9DEECE837D51}"/>
              </a:ext>
            </a:extLst>
          </p:cNvPr>
          <p:cNvSpPr txBox="1"/>
          <p:nvPr/>
        </p:nvSpPr>
        <p:spPr>
          <a:xfrm>
            <a:off x="804672" y="277977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역분개</a:t>
            </a:r>
            <a:r>
              <a:rPr lang="en-US" altLang="ko-KR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96E8C-13F8-D896-BD88-0D28E1ADB0D3}"/>
              </a:ext>
            </a:extLst>
          </p:cNvPr>
          <p:cNvSpPr txBox="1"/>
          <p:nvPr/>
        </p:nvSpPr>
        <p:spPr>
          <a:xfrm>
            <a:off x="804672" y="303580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원전표와 원수집거래를 기대 상태 조건으로 갱신해 조정 충돌을 감지합니다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E20182C-696F-5B7C-12B2-3F0C0C82F0A2}"/>
              </a:ext>
            </a:extLst>
          </p:cNvPr>
          <p:cNvSpPr/>
          <p:nvPr/>
        </p:nvSpPr>
        <p:spPr>
          <a:xfrm>
            <a:off x="4343400" y="2670048"/>
            <a:ext cx="32461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DC2617-52AF-EE7B-F382-98B90B702777}"/>
              </a:ext>
            </a:extLst>
          </p:cNvPr>
          <p:cNvSpPr/>
          <p:nvPr/>
        </p:nvSpPr>
        <p:spPr>
          <a:xfrm>
            <a:off x="4343400" y="2670048"/>
            <a:ext cx="64008" cy="104241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3F7A0C-08B6-0563-9779-6F6075B10881}"/>
              </a:ext>
            </a:extLst>
          </p:cNvPr>
          <p:cNvSpPr txBox="1"/>
          <p:nvPr/>
        </p:nvSpPr>
        <p:spPr>
          <a:xfrm>
            <a:off x="4507992" y="277977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제약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2E2850-9238-5A90-C150-94DF7076DEFD}"/>
              </a:ext>
            </a:extLst>
          </p:cNvPr>
          <p:cNvSpPr txBox="1"/>
          <p:nvPr/>
        </p:nvSpPr>
        <p:spPr>
          <a:xfrm>
            <a:off x="4507992" y="303580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전표번호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행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매칭은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DB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제약과 충돌 응답으로 방어합니다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5FC44FD-9455-C092-F7EB-22D3C162CCC1}"/>
              </a:ext>
            </a:extLst>
          </p:cNvPr>
          <p:cNvSpPr/>
          <p:nvPr/>
        </p:nvSpPr>
        <p:spPr>
          <a:xfrm>
            <a:off x="8046720" y="2670048"/>
            <a:ext cx="3246119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80C324B-3947-966D-CEF5-11D35365941C}"/>
              </a:ext>
            </a:extLst>
          </p:cNvPr>
          <p:cNvSpPr/>
          <p:nvPr/>
        </p:nvSpPr>
        <p:spPr>
          <a:xfrm>
            <a:off x="8046720" y="2670048"/>
            <a:ext cx="64007" cy="104241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237E9B-3917-37B2-5D93-B84E1F3A32CF}"/>
              </a:ext>
            </a:extLst>
          </p:cNvPr>
          <p:cNvSpPr txBox="1"/>
          <p:nvPr/>
        </p:nvSpPr>
        <p:spPr>
          <a:xfrm>
            <a:off x="8211312" y="277977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격리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8DDB6F-7B9A-59EE-50C0-2A26430EFDEE}"/>
              </a:ext>
            </a:extLst>
          </p:cNvPr>
          <p:cNvSpPr txBox="1"/>
          <p:nvPr/>
        </p:nvSpPr>
        <p:spPr>
          <a:xfrm>
            <a:off x="8211312" y="303580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이벤트 실패가 핵심 회계 트랜잭션을 깨지 않도록 분리했습니다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B0C6A4-B5A3-7E8D-4103-03C61F81B568}"/>
              </a:ext>
            </a:extLst>
          </p:cNvPr>
          <p:cNvSpPr/>
          <p:nvPr/>
        </p:nvSpPr>
        <p:spPr>
          <a:xfrm>
            <a:off x="640080" y="4663440"/>
            <a:ext cx="106527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DACDC7-0803-083D-DF96-A83433C4B1B0}"/>
              </a:ext>
            </a:extLst>
          </p:cNvPr>
          <p:cNvSpPr/>
          <p:nvPr/>
        </p:nvSpPr>
        <p:spPr>
          <a:xfrm>
            <a:off x="640080" y="4663440"/>
            <a:ext cx="64008" cy="96012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1A2A24-DFDB-5581-1E2A-3F444E1B94E4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발표 포인트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2A5A39-0FB4-A0E4-E3A5-7266B1B8F031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기능 구현을 넘어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실무에서 겪은 동시 처리 리스크를 회계 도메인의 핵심 쓰기 경로에 적용한 사례로 설명할 수 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B92B0-A0EA-83C8-C4AE-3BA7D91B150B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3BE35-B8C8-4969-D4EA-F513FFA863A1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11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8174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68501-0250-C844-A544-4150854FF63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03F4D8-37CC-0C78-4140-F061F34579A3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31647B8-5A33-8135-122C-70298827010A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10CD7-4952-3842-0659-798EFD379863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ARCHITECTURE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9F02D-A531-F0CD-2FC5-2DC425F23A7F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구조가 이렇게 된 이유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의 압력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18DA2EA-4248-008B-8683-11306AE369F9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D7BDB4-EBD3-74D8-6DBD-80C08C7EA3DC}"/>
              </a:ext>
            </a:extLst>
          </p:cNvPr>
          <p:cNvSpPr/>
          <p:nvPr/>
        </p:nvSpPr>
        <p:spPr>
          <a:xfrm>
            <a:off x="822960" y="1444752"/>
            <a:ext cx="2057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6982A5-54E7-828C-BBEC-327BC8B12CC8}"/>
              </a:ext>
            </a:extLst>
          </p:cNvPr>
          <p:cNvSpPr/>
          <p:nvPr/>
        </p:nvSpPr>
        <p:spPr>
          <a:xfrm>
            <a:off x="822960" y="1444752"/>
            <a:ext cx="64008" cy="96012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FAD90-A143-1631-F386-4DC06DF4B595}"/>
              </a:ext>
            </a:extLst>
          </p:cNvPr>
          <p:cNvSpPr txBox="1"/>
          <p:nvPr/>
        </p:nvSpPr>
        <p:spPr>
          <a:xfrm>
            <a:off x="987552" y="1545336"/>
            <a:ext cx="176479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월은 상태를 가진다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B188A-51F3-94FD-7ECE-9F5D5CFDA177}"/>
              </a:ext>
            </a:extLst>
          </p:cNvPr>
          <p:cNvSpPr txBox="1"/>
          <p:nvPr/>
        </p:nvSpPr>
        <p:spPr>
          <a:xfrm>
            <a:off x="987552" y="1792224"/>
            <a:ext cx="1764792" cy="1754326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열림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이월이 순서대로 이어져 단순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CRUD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보기 어렵습니다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B32ACAF-AAC7-7A74-70DD-1C212A541B95}"/>
              </a:ext>
            </a:extLst>
          </p:cNvPr>
          <p:cNvCxnSpPr/>
          <p:nvPr/>
        </p:nvCxnSpPr>
        <p:spPr>
          <a:xfrm>
            <a:off x="2971800" y="1920240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1C7E02-54DB-E327-F00E-A9224B2A45C2}"/>
              </a:ext>
            </a:extLst>
          </p:cNvPr>
          <p:cNvSpPr/>
          <p:nvPr/>
        </p:nvSpPr>
        <p:spPr>
          <a:xfrm>
            <a:off x="3456432" y="1444752"/>
            <a:ext cx="2057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2855D4-379A-8E45-F4AE-BD4839472A59}"/>
              </a:ext>
            </a:extLst>
          </p:cNvPr>
          <p:cNvSpPr/>
          <p:nvPr/>
        </p:nvSpPr>
        <p:spPr>
          <a:xfrm>
            <a:off x="3456432" y="1444752"/>
            <a:ext cx="64008" cy="96012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25106-DFC4-8648-3F1F-EE1E2C2BAC7D}"/>
              </a:ext>
            </a:extLst>
          </p:cNvPr>
          <p:cNvSpPr txBox="1"/>
          <p:nvPr/>
        </p:nvSpPr>
        <p:spPr>
          <a:xfrm>
            <a:off x="3621024" y="1545336"/>
            <a:ext cx="176479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숫자는 흔들리면 안 된다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F04E9-68E1-9049-23BB-DEDA2001E5B4}"/>
              </a:ext>
            </a:extLst>
          </p:cNvPr>
          <p:cNvSpPr txBox="1"/>
          <p:nvPr/>
        </p:nvSpPr>
        <p:spPr>
          <a:xfrm>
            <a:off x="3621024" y="1792224"/>
            <a:ext cx="1764792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전표와 마감 이후 숫자가 바뀌면 보고와 다음 달 기준이 모두 흔들립니다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8633C8F-7977-4A34-4632-468511156309}"/>
              </a:ext>
            </a:extLst>
          </p:cNvPr>
          <p:cNvCxnSpPr/>
          <p:nvPr/>
        </p:nvCxnSpPr>
        <p:spPr>
          <a:xfrm>
            <a:off x="5605272" y="1920240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CCDFD8-47DD-9D69-FDF4-95732C050119}"/>
              </a:ext>
            </a:extLst>
          </p:cNvPr>
          <p:cNvSpPr/>
          <p:nvPr/>
        </p:nvSpPr>
        <p:spPr>
          <a:xfrm>
            <a:off x="6089904" y="1444752"/>
            <a:ext cx="2057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AC25DA-0333-A182-21F1-F95DC01524C8}"/>
              </a:ext>
            </a:extLst>
          </p:cNvPr>
          <p:cNvSpPr/>
          <p:nvPr/>
        </p:nvSpPr>
        <p:spPr>
          <a:xfrm>
            <a:off x="6089904" y="1444752"/>
            <a:ext cx="64008" cy="96012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21A421-767D-1C3D-C024-8664F2AFCB4C}"/>
              </a:ext>
            </a:extLst>
          </p:cNvPr>
          <p:cNvSpPr txBox="1"/>
          <p:nvPr/>
        </p:nvSpPr>
        <p:spPr>
          <a:xfrm>
            <a:off x="6254496" y="1545336"/>
            <a:ext cx="176479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입력 경로가 여러 개다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A9C79-9063-915C-F50E-940C3DF4141F}"/>
              </a:ext>
            </a:extLst>
          </p:cNvPr>
          <p:cNvSpPr txBox="1"/>
          <p:nvPr/>
        </p:nvSpPr>
        <p:spPr>
          <a:xfrm>
            <a:off x="6254496" y="1792224"/>
            <a:ext cx="1764792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수기 입력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계획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차량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부채 비용이 하나의 원장으로 모입니다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C8E4CCB-6EC7-7F42-9FD4-852CD7B2B7CA}"/>
              </a:ext>
            </a:extLst>
          </p:cNvPr>
          <p:cNvCxnSpPr/>
          <p:nvPr/>
        </p:nvCxnSpPr>
        <p:spPr>
          <a:xfrm>
            <a:off x="8238744" y="1920240"/>
            <a:ext cx="246888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85F11B-C0AB-3688-1ECA-8E52AB6384EF}"/>
              </a:ext>
            </a:extLst>
          </p:cNvPr>
          <p:cNvSpPr/>
          <p:nvPr/>
        </p:nvSpPr>
        <p:spPr>
          <a:xfrm>
            <a:off x="8723376" y="1444752"/>
            <a:ext cx="2057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4ED4B0-4F82-DA23-322F-60579C70C758}"/>
              </a:ext>
            </a:extLst>
          </p:cNvPr>
          <p:cNvSpPr/>
          <p:nvPr/>
        </p:nvSpPr>
        <p:spPr>
          <a:xfrm>
            <a:off x="8723376" y="1444752"/>
            <a:ext cx="64008" cy="96012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E6EB6C-00A1-84AD-B142-55EFFBD750CB}"/>
              </a:ext>
            </a:extLst>
          </p:cNvPr>
          <p:cNvSpPr txBox="1"/>
          <p:nvPr/>
        </p:nvSpPr>
        <p:spPr>
          <a:xfrm>
            <a:off x="8887968" y="1545336"/>
            <a:ext cx="176479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그래서 원장을 보호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6B1E21-B216-A295-86EB-9CB58B8F6C30}"/>
              </a:ext>
            </a:extLst>
          </p:cNvPr>
          <p:cNvSpPr txBox="1"/>
          <p:nvPr/>
        </p:nvSpPr>
        <p:spPr>
          <a:xfrm>
            <a:off x="8887968" y="1792224"/>
            <a:ext cx="1764792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재무제표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이월은 강한 쓰기 경계로 분리했습니다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4DC962-6D4E-3843-8AAC-7ADB96809F39}"/>
              </a:ext>
            </a:extLst>
          </p:cNvPr>
          <p:cNvSpPr/>
          <p:nvPr/>
        </p:nvSpPr>
        <p:spPr>
          <a:xfrm>
            <a:off x="1234440" y="2971800"/>
            <a:ext cx="9646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CB2B3A-29FC-3BAC-800A-F729853F93FC}"/>
              </a:ext>
            </a:extLst>
          </p:cNvPr>
          <p:cNvSpPr txBox="1"/>
          <p:nvPr/>
        </p:nvSpPr>
        <p:spPr>
          <a:xfrm>
            <a:off x="1554480" y="3218688"/>
            <a:ext cx="21488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그래서 읽기는 분리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C7CE79-89BD-8601-5E31-1954F19854C1}"/>
              </a:ext>
            </a:extLst>
          </p:cNvPr>
          <p:cNvSpPr txBox="1"/>
          <p:nvPr/>
        </p:nvSpPr>
        <p:spPr>
          <a:xfrm>
            <a:off x="1554480" y="3593592"/>
            <a:ext cx="2148840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대시보드와 전망은 규칙을 바꾸지 않고 여러 근거를 읽어 판단 화면을 만듭니다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F5297D-7634-2EDB-008C-402594EB47FD}"/>
              </a:ext>
            </a:extLst>
          </p:cNvPr>
          <p:cNvSpPr txBox="1"/>
          <p:nvPr/>
        </p:nvSpPr>
        <p:spPr>
          <a:xfrm>
            <a:off x="4617720" y="3218688"/>
            <a:ext cx="214884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그래서 공통 기준을 고정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9EB95C-3836-5B85-AE98-8BD15FC42C35}"/>
              </a:ext>
            </a:extLst>
          </p:cNvPr>
          <p:cNvSpPr txBox="1"/>
          <p:nvPr/>
        </p:nvSpPr>
        <p:spPr>
          <a:xfrm>
            <a:off x="4617720" y="3593592"/>
            <a:ext cx="2148840" cy="1754326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계약과 금액 처리는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packages/contracts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와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packages/money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흔들리지 않게 했습니다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5C50D9-4206-5F44-FE98-CC6C0E6CD942}"/>
              </a:ext>
            </a:extLst>
          </p:cNvPr>
          <p:cNvSpPr txBox="1"/>
          <p:nvPr/>
        </p:nvSpPr>
        <p:spPr>
          <a:xfrm>
            <a:off x="7680960" y="3218688"/>
            <a:ext cx="214884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1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한 문장 결론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885E50-6B58-11A5-7801-FF784DB3DF6F}"/>
              </a:ext>
            </a:extLst>
          </p:cNvPr>
          <p:cNvSpPr txBox="1"/>
          <p:nvPr/>
        </p:nvSpPr>
        <p:spPr>
          <a:xfrm>
            <a:off x="7680960" y="3593592"/>
            <a:ext cx="2148840" cy="2308324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구조는 기술 패턴에서 출발한 것이 아니라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운영에서 숫자를 확정하고 다음 달로 넘기는 업무 압력에서 나온 실무형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modular monolith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입니다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873FF6-1E2C-7669-726C-7A3998F474E6}"/>
              </a:ext>
            </a:extLst>
          </p:cNvPr>
          <p:cNvSpPr/>
          <p:nvPr/>
        </p:nvSpPr>
        <p:spPr>
          <a:xfrm>
            <a:off x="1188720" y="4800600"/>
            <a:ext cx="97383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E50BBE1-EC85-0A23-E8BD-27B612AA2FF8}"/>
              </a:ext>
            </a:extLst>
          </p:cNvPr>
          <p:cNvSpPr/>
          <p:nvPr/>
        </p:nvSpPr>
        <p:spPr>
          <a:xfrm>
            <a:off x="1188720" y="4800600"/>
            <a:ext cx="64008" cy="65836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4AE3CE-424A-7D30-8848-5A1A18BCE6C9}"/>
              </a:ext>
            </a:extLst>
          </p:cNvPr>
          <p:cNvSpPr txBox="1"/>
          <p:nvPr/>
        </p:nvSpPr>
        <p:spPr>
          <a:xfrm>
            <a:off x="1353312" y="4946904"/>
            <a:ext cx="94457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endParaRPr lang="ko-KR" altLang="en-US" sz="112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AB1E1F-22AA-1793-0731-07E2026E34C8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285FCE-461C-9DF7-F86A-3C1C777F0E52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12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27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50091B-7F28-CA52-19E4-6C62282D248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D89DA9-7342-3765-EF48-0DE4A07FF44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EDF5738-5311-654D-075F-DE95F090BDDF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A7FC4-5D24-D12A-618C-E3C8BED6A507}"/>
              </a:ext>
            </a:extLst>
          </p:cNvPr>
          <p:cNvSpPr txBox="1"/>
          <p:nvPr/>
        </p:nvSpPr>
        <p:spPr>
          <a:xfrm>
            <a:off x="630936" y="338328"/>
            <a:ext cx="960120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ARCHITECTURE WHY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41317-4B57-4F7D-6B44-E3442C1B794D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제약 조건이 만든 선택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Modular Monolith</a:t>
            </a:r>
            <a:endParaRPr lang="ko-KR" altLang="en-US" sz="235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9811B9B-E913-6298-40BD-7F29D2207AE2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2A9F04-535F-F41A-B64A-D8EFE003831A}"/>
              </a:ext>
            </a:extLst>
          </p:cNvPr>
          <p:cNvSpPr/>
          <p:nvPr/>
        </p:nvSpPr>
        <p:spPr>
          <a:xfrm>
            <a:off x="640080" y="1207008"/>
            <a:ext cx="32461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18392D-235E-46C0-6D9E-E80F82BF436B}"/>
              </a:ext>
            </a:extLst>
          </p:cNvPr>
          <p:cNvSpPr/>
          <p:nvPr/>
        </p:nvSpPr>
        <p:spPr>
          <a:xfrm>
            <a:off x="640080" y="1207008"/>
            <a:ext cx="64008" cy="102412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E2181-6289-85E4-C6FD-EE2EC231B9AF}"/>
              </a:ext>
            </a:extLst>
          </p:cNvPr>
          <p:cNvSpPr txBox="1"/>
          <p:nvPr/>
        </p:nvSpPr>
        <p:spPr>
          <a:xfrm>
            <a:off x="804672" y="131673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완성이 우선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19DB1-8156-9A77-02E3-0D5090A81576}"/>
              </a:ext>
            </a:extLst>
          </p:cNvPr>
          <p:cNvSpPr txBox="1"/>
          <p:nvPr/>
        </p:nvSpPr>
        <p:spPr>
          <a:xfrm>
            <a:off x="804672" y="1572768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인 개발에서는 서비스 분산보다 기능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배포를 끝까지 닫는 것이 먼저였습니다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5C796D-F1E5-CB2A-5A1F-AF308DF9210E}"/>
              </a:ext>
            </a:extLst>
          </p:cNvPr>
          <p:cNvSpPr/>
          <p:nvPr/>
        </p:nvSpPr>
        <p:spPr>
          <a:xfrm>
            <a:off x="4343400" y="1207008"/>
            <a:ext cx="32461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D452B4-2B5B-BFFF-CFEE-9A24D75B80C0}"/>
              </a:ext>
            </a:extLst>
          </p:cNvPr>
          <p:cNvSpPr/>
          <p:nvPr/>
        </p:nvSpPr>
        <p:spPr>
          <a:xfrm>
            <a:off x="4343400" y="1207008"/>
            <a:ext cx="64008" cy="102412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25202-A2B3-347F-A4ED-571602417F5B}"/>
              </a:ext>
            </a:extLst>
          </p:cNvPr>
          <p:cNvSpPr txBox="1"/>
          <p:nvPr/>
        </p:nvSpPr>
        <p:spPr>
          <a:xfrm>
            <a:off x="4507992" y="131673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회계 흐름은 함께 잠긴다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28812-041E-9878-436E-2EC7127F03AF}"/>
              </a:ext>
            </a:extLst>
          </p:cNvPr>
          <p:cNvSpPr txBox="1"/>
          <p:nvPr/>
        </p:nvSpPr>
        <p:spPr>
          <a:xfrm>
            <a:off x="4507992" y="1572768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기간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스냅샷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이월은 같은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DB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트랜잭션 사고 안에서 다루는 편이 안전합니다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044AE3-FBEB-A851-D1B9-136A27BB47DA}"/>
              </a:ext>
            </a:extLst>
          </p:cNvPr>
          <p:cNvSpPr/>
          <p:nvPr/>
        </p:nvSpPr>
        <p:spPr>
          <a:xfrm>
            <a:off x="8046720" y="1207008"/>
            <a:ext cx="3246119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290048-C52A-2251-1BE6-5CC73FA603E0}"/>
              </a:ext>
            </a:extLst>
          </p:cNvPr>
          <p:cNvSpPr/>
          <p:nvPr/>
        </p:nvSpPr>
        <p:spPr>
          <a:xfrm>
            <a:off x="8046720" y="1207008"/>
            <a:ext cx="64007" cy="102412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39E15F-6462-C8C0-A4F2-AC0D4119E990}"/>
              </a:ext>
            </a:extLst>
          </p:cNvPr>
          <p:cNvSpPr txBox="1"/>
          <p:nvPr/>
        </p:nvSpPr>
        <p:spPr>
          <a:xfrm>
            <a:off x="8211312" y="131673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비용을 줄인다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3A66C-333C-F40F-FE87-0284502F2079}"/>
              </a:ext>
            </a:extLst>
          </p:cNvPr>
          <p:cNvSpPr txBox="1"/>
          <p:nvPr/>
        </p:nvSpPr>
        <p:spPr>
          <a:xfrm>
            <a:off x="8211312" y="157276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broker, service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별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DB, outbox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지금 단계에서 장애 지점을 더 늘립니다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8A6447-380B-21F0-DD90-E29AD70AC035}"/>
              </a:ext>
            </a:extLst>
          </p:cNvPr>
          <p:cNvSpPr/>
          <p:nvPr/>
        </p:nvSpPr>
        <p:spPr>
          <a:xfrm>
            <a:off x="640080" y="2743200"/>
            <a:ext cx="32461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39C807-DA9D-0429-C52E-1F390FD287CF}"/>
              </a:ext>
            </a:extLst>
          </p:cNvPr>
          <p:cNvSpPr/>
          <p:nvPr/>
        </p:nvSpPr>
        <p:spPr>
          <a:xfrm>
            <a:off x="640080" y="2743200"/>
            <a:ext cx="64008" cy="102412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5D668B-679F-78CD-ACD5-D4B8F0A69E39}"/>
              </a:ext>
            </a:extLst>
          </p:cNvPr>
          <p:cNvSpPr txBox="1"/>
          <p:nvPr/>
        </p:nvSpPr>
        <p:spPr>
          <a:xfrm>
            <a:off x="804672" y="285292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하지만 책임은 섞지 않는다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DE9F6-18A0-879D-CD38-FA622B4FC5FA}"/>
              </a:ext>
            </a:extLst>
          </p:cNvPr>
          <p:cNvSpPr txBox="1"/>
          <p:nvPr/>
        </p:nvSpPr>
        <p:spPr>
          <a:xfrm>
            <a:off x="804672" y="310896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분산하지 않아도 원장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자동화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지원 책임은 나눴습니다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A7E179-A1F5-CBCA-B51E-A0FC0E7DEA3C}"/>
              </a:ext>
            </a:extLst>
          </p:cNvPr>
          <p:cNvSpPr/>
          <p:nvPr/>
        </p:nvSpPr>
        <p:spPr>
          <a:xfrm>
            <a:off x="4343400" y="2743200"/>
            <a:ext cx="32461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8A0097-4E5A-FB5F-AA1D-C086A9AF4726}"/>
              </a:ext>
            </a:extLst>
          </p:cNvPr>
          <p:cNvSpPr/>
          <p:nvPr/>
        </p:nvSpPr>
        <p:spPr>
          <a:xfrm>
            <a:off x="4343400" y="2743200"/>
            <a:ext cx="64008" cy="102412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A24E2-733F-0D38-61E0-CFDE803E0BDE}"/>
              </a:ext>
            </a:extLst>
          </p:cNvPr>
          <p:cNvSpPr txBox="1"/>
          <p:nvPr/>
        </p:nvSpPr>
        <p:spPr>
          <a:xfrm>
            <a:off x="4507992" y="285292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분리 후보는 보인다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54ED0E-A346-B58F-1050-E0DBF074B59E}"/>
              </a:ext>
            </a:extLst>
          </p:cNvPr>
          <p:cNvSpPr txBox="1"/>
          <p:nvPr/>
        </p:nvSpPr>
        <p:spPr>
          <a:xfrm>
            <a:off x="4507992" y="310896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나중에 나눈다면 원장이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순위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read service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후보입니다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1A094FF-8FB1-33B0-98C8-190C34AD8F3C}"/>
              </a:ext>
            </a:extLst>
          </p:cNvPr>
          <p:cNvSpPr/>
          <p:nvPr/>
        </p:nvSpPr>
        <p:spPr>
          <a:xfrm>
            <a:off x="8046720" y="2743200"/>
            <a:ext cx="3246119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3855F96-CFEF-7E21-3132-7734E35B4E8A}"/>
              </a:ext>
            </a:extLst>
          </p:cNvPr>
          <p:cNvSpPr/>
          <p:nvPr/>
        </p:nvSpPr>
        <p:spPr>
          <a:xfrm>
            <a:off x="8046720" y="2743200"/>
            <a:ext cx="64007" cy="1024128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85606D-E838-446E-E9BA-203AF16D5CCF}"/>
              </a:ext>
            </a:extLst>
          </p:cNvPr>
          <p:cNvSpPr txBox="1"/>
          <p:nvPr/>
        </p:nvSpPr>
        <p:spPr>
          <a:xfrm>
            <a:off x="8211312" y="285292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면접에서의 답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29E179-D2EC-8843-3ABC-0F2C87FCCEF5}"/>
              </a:ext>
            </a:extLst>
          </p:cNvPr>
          <p:cNvSpPr txBox="1"/>
          <p:nvPr/>
        </p:nvSpPr>
        <p:spPr>
          <a:xfrm>
            <a:off x="8211312" y="310896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“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MSA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흉내”가 아니라 제품 규모에 맞는 배포 단위와 책임 지도를 선택했습니다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5CB6FB-4D58-D9B2-EF04-4BD502D78AA0}"/>
              </a:ext>
            </a:extLst>
          </p:cNvPr>
          <p:cNvSpPr/>
          <p:nvPr/>
        </p:nvSpPr>
        <p:spPr>
          <a:xfrm>
            <a:off x="640080" y="4663440"/>
            <a:ext cx="1065276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D05CD8A-59BE-8AA4-8557-763191ED30DE}"/>
              </a:ext>
            </a:extLst>
          </p:cNvPr>
          <p:cNvSpPr/>
          <p:nvPr/>
        </p:nvSpPr>
        <p:spPr>
          <a:xfrm>
            <a:off x="640080" y="4663440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6042C9-77AC-F761-8165-CCDA80508480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결론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9FD501-AB06-AC8A-8D00-9BBA26363C9D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하나의 배포 단위 안에 두되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나중에 분리할 수 있는 경계가 코드와 문서에서 읽히게 만든 선택입니다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9FF7D0-B4CC-E0C9-DCE7-8E63BE22C01E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1D0C5A-3175-A1CD-E1D4-09C3BD87B689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13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125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21AAB73-66C7-DCFD-96DA-A09AE46A66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29C52D-AC49-6E00-8C2A-2582E30E1BB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A483A3B-88CC-0E5D-EA9D-3134E8ECF3CB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34B1C-F03C-D59A-EB77-88D9230FBEDC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DESIGN RULE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97FF0-8680-DDF3-5753-0D887FD4F8F9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복잡도 배치 원칙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비용이 구조를 결정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BE804DC-55BD-FDE5-DA85-352ED44967A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E81987-6F96-D789-333A-C0CE185EE139}"/>
              </a:ext>
            </a:extLst>
          </p:cNvPr>
          <p:cNvSpPr/>
          <p:nvPr/>
        </p:nvSpPr>
        <p:spPr>
          <a:xfrm>
            <a:off x="640080" y="1207008"/>
            <a:ext cx="28346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4D472E-9CB6-3820-6A62-3B3FC9F7AAFD}"/>
              </a:ext>
            </a:extLst>
          </p:cNvPr>
          <p:cNvSpPr/>
          <p:nvPr/>
        </p:nvSpPr>
        <p:spPr>
          <a:xfrm>
            <a:off x="640080" y="1207008"/>
            <a:ext cx="64008" cy="9144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61D613-A3EF-FC82-D63F-7CCD1B575BFD}"/>
              </a:ext>
            </a:extLst>
          </p:cNvPr>
          <p:cNvSpPr txBox="1"/>
          <p:nvPr/>
        </p:nvSpPr>
        <p:spPr>
          <a:xfrm>
            <a:off x="804672" y="1307592"/>
            <a:ext cx="25420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틀리면 장부 신뢰가 깨짐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7E932-734B-46E5-8AAC-8A49D5D43ABD}"/>
              </a:ext>
            </a:extLst>
          </p:cNvPr>
          <p:cNvSpPr txBox="1"/>
          <p:nvPr/>
        </p:nvSpPr>
        <p:spPr>
          <a:xfrm>
            <a:off x="804672" y="1554480"/>
            <a:ext cx="254203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돈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이월은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use case/port/adapter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격리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FF5774-46A6-9E0F-7E1A-C9D1E89798D3}"/>
              </a:ext>
            </a:extLst>
          </p:cNvPr>
          <p:cNvSpPr/>
          <p:nvPr/>
        </p:nvSpPr>
        <p:spPr>
          <a:xfrm>
            <a:off x="3703320" y="1207008"/>
            <a:ext cx="28346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94D00E-F8B6-E314-94FB-E1BCD3E8038D}"/>
              </a:ext>
            </a:extLst>
          </p:cNvPr>
          <p:cNvSpPr/>
          <p:nvPr/>
        </p:nvSpPr>
        <p:spPr>
          <a:xfrm>
            <a:off x="3703320" y="1207008"/>
            <a:ext cx="64008" cy="91440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33251C-CDCC-3798-0FB7-0788BE8398D4}"/>
              </a:ext>
            </a:extLst>
          </p:cNvPr>
          <p:cNvSpPr txBox="1"/>
          <p:nvPr/>
        </p:nvSpPr>
        <p:spPr>
          <a:xfrm>
            <a:off x="3867912" y="1307592"/>
            <a:ext cx="25420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틀려도 수정 영향이 작음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09DD9-4C11-796C-3A61-E15A77F5FF92}"/>
              </a:ext>
            </a:extLst>
          </p:cNvPr>
          <p:cNvSpPr txBox="1"/>
          <p:nvPr/>
        </p:nvSpPr>
        <p:spPr>
          <a:xfrm>
            <a:off x="3867912" y="1554480"/>
            <a:ext cx="254203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참조 데이터와 설정성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CRUD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service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중심으로 유지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7EF47D-02C2-516B-2679-5DC8535D9F97}"/>
              </a:ext>
            </a:extLst>
          </p:cNvPr>
          <p:cNvSpPr/>
          <p:nvPr/>
        </p:nvSpPr>
        <p:spPr>
          <a:xfrm>
            <a:off x="6766560" y="1207008"/>
            <a:ext cx="28346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B310CA-42B9-1A41-AF69-C47E5F3AE5D2}"/>
              </a:ext>
            </a:extLst>
          </p:cNvPr>
          <p:cNvSpPr/>
          <p:nvPr/>
        </p:nvSpPr>
        <p:spPr>
          <a:xfrm>
            <a:off x="6766560" y="1207008"/>
            <a:ext cx="64008" cy="9144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CC1DA-4974-F3CA-78C0-85BD9B63F76F}"/>
              </a:ext>
            </a:extLst>
          </p:cNvPr>
          <p:cNvSpPr txBox="1"/>
          <p:nvPr/>
        </p:nvSpPr>
        <p:spPr>
          <a:xfrm>
            <a:off x="6931152" y="1307592"/>
            <a:ext cx="25420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결정을 하지 않고 읽음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7D4AC-0A50-FB59-E4F9-1784AF996CA8}"/>
              </a:ext>
            </a:extLst>
          </p:cNvPr>
          <p:cNvSpPr txBox="1"/>
          <p:nvPr/>
        </p:nvSpPr>
        <p:spPr>
          <a:xfrm>
            <a:off x="6931152" y="1554480"/>
            <a:ext cx="254203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대시보드와 전망은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read model/projection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으로 분리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6F6E49-250E-C900-7AEE-D350260C2C43}"/>
              </a:ext>
            </a:extLst>
          </p:cNvPr>
          <p:cNvSpPr/>
          <p:nvPr/>
        </p:nvSpPr>
        <p:spPr>
          <a:xfrm>
            <a:off x="640080" y="2578608"/>
            <a:ext cx="231343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AFCA4B-8731-E92C-8157-C6D1C286D82E}"/>
              </a:ext>
            </a:extLst>
          </p:cNvPr>
          <p:cNvSpPr/>
          <p:nvPr/>
        </p:nvSpPr>
        <p:spPr>
          <a:xfrm>
            <a:off x="640080" y="2578608"/>
            <a:ext cx="64008" cy="9144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74908-B50B-C00F-A4F4-FC10E671BBF9}"/>
              </a:ext>
            </a:extLst>
          </p:cNvPr>
          <p:cNvSpPr txBox="1"/>
          <p:nvPr/>
        </p:nvSpPr>
        <p:spPr>
          <a:xfrm>
            <a:off x="804672" y="267919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상태 전이가 깊다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965E5-01C5-6897-A1CC-30A5A19BBE1D}"/>
              </a:ext>
            </a:extLst>
          </p:cNvPr>
          <p:cNvSpPr txBox="1"/>
          <p:nvPr/>
        </p:nvSpPr>
        <p:spPr>
          <a:xfrm>
            <a:off x="804672" y="2926080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open/close/reopen, confirm/reverse/correct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승격 대상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48C3DA-E943-CBBD-46E9-FA0F65A9CE1A}"/>
              </a:ext>
            </a:extLst>
          </p:cNvPr>
          <p:cNvSpPr/>
          <p:nvPr/>
        </p:nvSpPr>
        <p:spPr>
          <a:xfrm>
            <a:off x="3410712" y="2578608"/>
            <a:ext cx="231343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7F7856-12E1-5560-4C8D-4DC1FB60B59E}"/>
              </a:ext>
            </a:extLst>
          </p:cNvPr>
          <p:cNvSpPr/>
          <p:nvPr/>
        </p:nvSpPr>
        <p:spPr>
          <a:xfrm>
            <a:off x="3410712" y="2578608"/>
            <a:ext cx="64008" cy="91440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53229B-F096-A4B1-8C48-84FED19A6025}"/>
              </a:ext>
            </a:extLst>
          </p:cNvPr>
          <p:cNvSpPr txBox="1"/>
          <p:nvPr/>
        </p:nvSpPr>
        <p:spPr>
          <a:xfrm>
            <a:off x="3575304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증빙이 남아야 한다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40182B-ACB6-A101-BD2A-75E59ED922DA}"/>
              </a:ext>
            </a:extLst>
          </p:cNvPr>
          <p:cNvSpPr txBox="1"/>
          <p:nvPr/>
        </p:nvSpPr>
        <p:spPr>
          <a:xfrm>
            <a:off x="3575304" y="2926080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이벤트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스냅샷은 원본 덮어쓰기 금지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67CCE85-C8B7-B404-B420-17EA240F3B26}"/>
              </a:ext>
            </a:extLst>
          </p:cNvPr>
          <p:cNvSpPr/>
          <p:nvPr/>
        </p:nvSpPr>
        <p:spPr>
          <a:xfrm>
            <a:off x="6181344" y="2578608"/>
            <a:ext cx="231343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C26A34-BD8E-E45B-FA79-3FBDAAD57774}"/>
              </a:ext>
            </a:extLst>
          </p:cNvPr>
          <p:cNvSpPr/>
          <p:nvPr/>
        </p:nvSpPr>
        <p:spPr>
          <a:xfrm>
            <a:off x="6181344" y="2578608"/>
            <a:ext cx="64008" cy="9144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6BDA0C-9ADB-D884-2624-DE86BE9E6DEA}"/>
              </a:ext>
            </a:extLst>
          </p:cNvPr>
          <p:cNvSpPr txBox="1"/>
          <p:nvPr/>
        </p:nvSpPr>
        <p:spPr>
          <a:xfrm>
            <a:off x="6345936" y="267919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경합이 생긴다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7F479B-9DCF-2408-0464-324D465BFE4B}"/>
              </a:ext>
            </a:extLst>
          </p:cNvPr>
          <p:cNvSpPr txBox="1"/>
          <p:nvPr/>
        </p:nvSpPr>
        <p:spPr>
          <a:xfrm>
            <a:off x="6345936" y="2926080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일괄 등록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번호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생성은 중복 방어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48807-3518-3C3B-8E15-1FFCFD2A8952}"/>
              </a:ext>
            </a:extLst>
          </p:cNvPr>
          <p:cNvSpPr/>
          <p:nvPr/>
        </p:nvSpPr>
        <p:spPr>
          <a:xfrm>
            <a:off x="8951976" y="2578608"/>
            <a:ext cx="231343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6D7C3C-8542-4FE4-4533-A89DC104630D}"/>
              </a:ext>
            </a:extLst>
          </p:cNvPr>
          <p:cNvSpPr/>
          <p:nvPr/>
        </p:nvSpPr>
        <p:spPr>
          <a:xfrm>
            <a:off x="8951976" y="2578608"/>
            <a:ext cx="64008" cy="91440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6FD2C3-BBD7-33FC-0616-F7BFD5F63442}"/>
              </a:ext>
            </a:extLst>
          </p:cNvPr>
          <p:cNvSpPr txBox="1"/>
          <p:nvPr/>
        </p:nvSpPr>
        <p:spPr>
          <a:xfrm>
            <a:off x="9116568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외부 기술과 만난다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8368F4-2661-DC95-168F-08AD1BE712A5}"/>
              </a:ext>
            </a:extLst>
          </p:cNvPr>
          <p:cNvSpPr txBox="1"/>
          <p:nvPr/>
        </p:nvSpPr>
        <p:spPr>
          <a:xfrm>
            <a:off x="9116568" y="2926080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파일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메일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시간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DB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adapter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경계로 모음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E884AC-17CD-3B26-F921-3170BF7069D4}"/>
              </a:ext>
            </a:extLst>
          </p:cNvPr>
          <p:cNvSpPr/>
          <p:nvPr/>
        </p:nvSpPr>
        <p:spPr>
          <a:xfrm>
            <a:off x="640080" y="4663440"/>
            <a:ext cx="106527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9FF48FD-7423-114D-B854-B6875C939B14}"/>
              </a:ext>
            </a:extLst>
          </p:cNvPr>
          <p:cNvSpPr/>
          <p:nvPr/>
        </p:nvSpPr>
        <p:spPr>
          <a:xfrm>
            <a:off x="640080" y="4663440"/>
            <a:ext cx="64008" cy="86868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AF625D-0ABD-4D2C-FF47-18B4A6181D75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읽는 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E6A818-1A35-956A-68EA-A2249BE54C4C}"/>
              </a:ext>
            </a:extLst>
          </p:cNvPr>
          <p:cNvSpPr txBox="1"/>
          <p:nvPr/>
        </p:nvSpPr>
        <p:spPr>
          <a:xfrm>
            <a:off x="804672" y="5010912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구조의 강도는 개발 취향이 아니라 “실패했을 때 무엇이 깨지는가”를 기준으로 달라집니다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88E5C-35A2-AD2B-EBB9-570D8D0FB91D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10BA83-19E9-521A-BD81-EB934D83BE97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14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930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6A8C28-50D8-0D21-0A36-554118C766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9C4FD7-001E-C39A-DD5B-8677B726C1D0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664E08-7007-3229-8FB3-04184FD0988D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6AA62-5C30-4E3F-1BAF-629EB33B8E5B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CONTEXT MAP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9C067-9242-347D-70EA-FC3B3A990CC8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책임 경계는 사용자 흐름에서 나왔다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3A7047-0AA6-8B9F-6647-771B627C456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28AF78-8A7B-D45F-A890-23F40978516E}"/>
              </a:ext>
            </a:extLst>
          </p:cNvPr>
          <p:cNvSpPr/>
          <p:nvPr/>
        </p:nvSpPr>
        <p:spPr>
          <a:xfrm>
            <a:off x="640080" y="1225296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742C7E-E24F-3D02-AA2C-A5A9C05F2439}"/>
              </a:ext>
            </a:extLst>
          </p:cNvPr>
          <p:cNvSpPr/>
          <p:nvPr/>
        </p:nvSpPr>
        <p:spPr>
          <a:xfrm>
            <a:off x="640080" y="1225296"/>
            <a:ext cx="64008" cy="86868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1CF83-693C-E9B8-6801-B5CCE7E237AD}"/>
              </a:ext>
            </a:extLst>
          </p:cNvPr>
          <p:cNvSpPr txBox="1"/>
          <p:nvPr/>
        </p:nvSpPr>
        <p:spPr>
          <a:xfrm>
            <a:off x="804672" y="132588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누가 작업하는가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178C4-F420-F014-55E6-BED646F060F6}"/>
              </a:ext>
            </a:extLst>
          </p:cNvPr>
          <p:cNvSpPr txBox="1"/>
          <p:nvPr/>
        </p:nvSpPr>
        <p:spPr>
          <a:xfrm>
            <a:off x="804672" y="1572768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auth, admin, workspace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사업장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권한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F475C2-47DB-D9E7-5D6E-4D3F5DC324E2}"/>
              </a:ext>
            </a:extLst>
          </p:cNvPr>
          <p:cNvSpPr/>
          <p:nvPr/>
        </p:nvSpPr>
        <p:spPr>
          <a:xfrm>
            <a:off x="3410712" y="1225296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21C8A0-BCC2-DE96-6DEB-6F4C1DD771B1}"/>
              </a:ext>
            </a:extLst>
          </p:cNvPr>
          <p:cNvSpPr/>
          <p:nvPr/>
        </p:nvSpPr>
        <p:spPr>
          <a:xfrm>
            <a:off x="3410712" y="1225296"/>
            <a:ext cx="64008" cy="86868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DF444B-B4F4-E160-A0DF-56AD2C21BB79}"/>
              </a:ext>
            </a:extLst>
          </p:cNvPr>
          <p:cNvSpPr txBox="1"/>
          <p:nvPr/>
        </p:nvSpPr>
        <p:spPr>
          <a:xfrm>
            <a:off x="3575304" y="1325880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무엇을 기준으로 삼는가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A52B3-8B64-0C02-9290-243893164A82}"/>
              </a:ext>
            </a:extLst>
          </p:cNvPr>
          <p:cNvSpPr txBox="1"/>
          <p:nvPr/>
        </p:nvSpPr>
        <p:spPr>
          <a:xfrm>
            <a:off x="3575304" y="1572768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reference data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계좌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카테고리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계정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112CC9-5560-404D-21F9-E5BD3A73EF20}"/>
              </a:ext>
            </a:extLst>
          </p:cNvPr>
          <p:cNvSpPr/>
          <p:nvPr/>
        </p:nvSpPr>
        <p:spPr>
          <a:xfrm>
            <a:off x="6181344" y="1225296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325944-60D8-A0CE-BF89-C14F37173B65}"/>
              </a:ext>
            </a:extLst>
          </p:cNvPr>
          <p:cNvSpPr/>
          <p:nvPr/>
        </p:nvSpPr>
        <p:spPr>
          <a:xfrm>
            <a:off x="6181344" y="1225296"/>
            <a:ext cx="64008" cy="86868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819A6-91FE-1A53-CAB3-FB49C69AEC32}"/>
              </a:ext>
            </a:extLst>
          </p:cNvPr>
          <p:cNvSpPr txBox="1"/>
          <p:nvPr/>
        </p:nvSpPr>
        <p:spPr>
          <a:xfrm>
            <a:off x="6345936" y="132588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무엇을 입력했는가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ACFA7D-4658-156C-9A2B-4D06F6574865}"/>
              </a:ext>
            </a:extLst>
          </p:cNvPr>
          <p:cNvSpPr txBox="1"/>
          <p:nvPr/>
        </p:nvSpPr>
        <p:spPr>
          <a:xfrm>
            <a:off x="6345936" y="1572768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collected, imports, plans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검토 가능한 입력 후보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B6B49B-2D05-424B-F7B3-8F81D4AD8C8E}"/>
              </a:ext>
            </a:extLst>
          </p:cNvPr>
          <p:cNvSpPr/>
          <p:nvPr/>
        </p:nvSpPr>
        <p:spPr>
          <a:xfrm>
            <a:off x="8951976" y="1225296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4B88B5-6124-C59F-F0FF-47B35EBCFB2A}"/>
              </a:ext>
            </a:extLst>
          </p:cNvPr>
          <p:cNvSpPr/>
          <p:nvPr/>
        </p:nvSpPr>
        <p:spPr>
          <a:xfrm>
            <a:off x="8951976" y="1225296"/>
            <a:ext cx="64008" cy="86868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4854B6-DECE-D18A-0DCE-B75AE1C4AA28}"/>
              </a:ext>
            </a:extLst>
          </p:cNvPr>
          <p:cNvSpPr txBox="1"/>
          <p:nvPr/>
        </p:nvSpPr>
        <p:spPr>
          <a:xfrm>
            <a:off x="9116568" y="132588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무엇이 공식인가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0D3BBD-9E35-CB6B-EE8B-B1F101B8DA20}"/>
              </a:ext>
            </a:extLst>
          </p:cNvPr>
          <p:cNvSpPr txBox="1"/>
          <p:nvPr/>
        </p:nvSpPr>
        <p:spPr>
          <a:xfrm>
            <a:off x="9116568" y="1572768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journal, periods, statements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 기준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FC697E3-191C-4548-2B30-2D4431DE5D13}"/>
              </a:ext>
            </a:extLst>
          </p:cNvPr>
          <p:cNvSpPr/>
          <p:nvPr/>
        </p:nvSpPr>
        <p:spPr>
          <a:xfrm>
            <a:off x="640080" y="2578608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021AC6-3C6F-2B34-638B-80A12AC6E278}"/>
              </a:ext>
            </a:extLst>
          </p:cNvPr>
          <p:cNvSpPr/>
          <p:nvPr/>
        </p:nvSpPr>
        <p:spPr>
          <a:xfrm>
            <a:off x="640080" y="2578608"/>
            <a:ext cx="64008" cy="86868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7C0C54-D58E-4266-46B9-4EBD98F81026}"/>
              </a:ext>
            </a:extLst>
          </p:cNvPr>
          <p:cNvSpPr txBox="1"/>
          <p:nvPr/>
        </p:nvSpPr>
        <p:spPr>
          <a:xfrm>
            <a:off x="804672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다음 달로 무엇을 넘기는가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EF285E-E458-B66B-74CC-48D452AC7D3E}"/>
              </a:ext>
            </a:extLst>
          </p:cNvPr>
          <p:cNvSpPr txBox="1"/>
          <p:nvPr/>
        </p:nvSpPr>
        <p:spPr>
          <a:xfrm>
            <a:off x="804672" y="2926080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carry-forwards, forecast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결과와 전망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B99AA8-55CA-9A04-AB04-D4CED69B7780}"/>
              </a:ext>
            </a:extLst>
          </p:cNvPr>
          <p:cNvSpPr/>
          <p:nvPr/>
        </p:nvSpPr>
        <p:spPr>
          <a:xfrm>
            <a:off x="3410712" y="2578608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BBD77A-F0A1-9563-E767-F3F5A0CD5B60}"/>
              </a:ext>
            </a:extLst>
          </p:cNvPr>
          <p:cNvSpPr/>
          <p:nvPr/>
        </p:nvSpPr>
        <p:spPr>
          <a:xfrm>
            <a:off x="3410712" y="2578608"/>
            <a:ext cx="64008" cy="86868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8F038-12A0-3E4E-D1E9-89643C6AB578}"/>
              </a:ext>
            </a:extLst>
          </p:cNvPr>
          <p:cNvSpPr txBox="1"/>
          <p:nvPr/>
        </p:nvSpPr>
        <p:spPr>
          <a:xfrm>
            <a:off x="3575304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운영자는 무엇을 봐야 하나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B3F26A-E30F-1037-8091-33319CC0EF12}"/>
              </a:ext>
            </a:extLst>
          </p:cNvPr>
          <p:cNvSpPr txBox="1"/>
          <p:nvPr/>
        </p:nvSpPr>
        <p:spPr>
          <a:xfrm>
            <a:off x="3575304" y="2926080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operations, dashboard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우선 작업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요약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97F6F1-C7B9-A98D-BECB-AC965D4008F4}"/>
              </a:ext>
            </a:extLst>
          </p:cNvPr>
          <p:cNvSpPr/>
          <p:nvPr/>
        </p:nvSpPr>
        <p:spPr>
          <a:xfrm>
            <a:off x="6181344" y="2578608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CF0420-8869-6CC3-EEAB-5AB0A47630CD}"/>
              </a:ext>
            </a:extLst>
          </p:cNvPr>
          <p:cNvSpPr/>
          <p:nvPr/>
        </p:nvSpPr>
        <p:spPr>
          <a:xfrm>
            <a:off x="6181344" y="2578608"/>
            <a:ext cx="64008" cy="86868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C2AEA6-4996-FC61-208E-6C945C939F96}"/>
              </a:ext>
            </a:extLst>
          </p:cNvPr>
          <p:cNvSpPr txBox="1"/>
          <p:nvPr/>
        </p:nvSpPr>
        <p:spPr>
          <a:xfrm>
            <a:off x="6345936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어떤 입력원이 붙는가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BCF266-CC34-56DC-0C33-804B702FE62C}"/>
              </a:ext>
            </a:extLst>
          </p:cNvPr>
          <p:cNvSpPr txBox="1"/>
          <p:nvPr/>
        </p:nvSpPr>
        <p:spPr>
          <a:xfrm>
            <a:off x="6345936" y="2926080"/>
            <a:ext cx="2020824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vehicles, insurances, liabilities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자산 비용 연결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596C9C-133C-B53D-203F-703F856EAB9E}"/>
              </a:ext>
            </a:extLst>
          </p:cNvPr>
          <p:cNvSpPr/>
          <p:nvPr/>
        </p:nvSpPr>
        <p:spPr>
          <a:xfrm>
            <a:off x="8951976" y="2578608"/>
            <a:ext cx="231343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BBF3E10-9EDB-8496-4AAA-23A2E7D04A0C}"/>
              </a:ext>
            </a:extLst>
          </p:cNvPr>
          <p:cNvSpPr/>
          <p:nvPr/>
        </p:nvSpPr>
        <p:spPr>
          <a:xfrm>
            <a:off x="8951976" y="2578608"/>
            <a:ext cx="64008" cy="86868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E9C714-2999-C40F-E710-51C0E3D2DE91}"/>
              </a:ext>
            </a:extLst>
          </p:cNvPr>
          <p:cNvSpPr txBox="1"/>
          <p:nvPr/>
        </p:nvSpPr>
        <p:spPr>
          <a:xfrm>
            <a:off x="9116568" y="2679192"/>
            <a:ext cx="202082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무엇을 공통으로 고정하나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C99C44-B544-61DF-EC05-0B8B8525D73D}"/>
              </a:ext>
            </a:extLst>
          </p:cNvPr>
          <p:cNvSpPr txBox="1"/>
          <p:nvPr/>
        </p:nvSpPr>
        <p:spPr>
          <a:xfrm>
            <a:off x="9116568" y="2926080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contracts, money, env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계약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금액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런타임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369C33-B130-AFD2-F46D-154B1C9C5858}"/>
              </a:ext>
            </a:extLst>
          </p:cNvPr>
          <p:cNvSpPr/>
          <p:nvPr/>
        </p:nvSpPr>
        <p:spPr>
          <a:xfrm>
            <a:off x="640080" y="4663440"/>
            <a:ext cx="1065276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86D25F-D4D8-4452-0973-E5691EA92E35}"/>
              </a:ext>
            </a:extLst>
          </p:cNvPr>
          <p:cNvSpPr/>
          <p:nvPr/>
        </p:nvSpPr>
        <p:spPr>
          <a:xfrm>
            <a:off x="640080" y="4663440"/>
            <a:ext cx="64008" cy="89611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091018-78E6-548C-9FD5-354ED9D953E4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읽는 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D0A03-B3F3-F072-D09D-6C811E3D2184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모듈 경계는 폴더를 보기 좋게 나눈 결과가 아니라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중 사용자가 던지는 질문을 따라 생긴 책임 경계입니다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E092F5-3911-9B42-6A9B-4B0A58936A17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A4B373-0EDD-69A5-8C3E-4E9C61FDF2C9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15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53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1485117-AE9A-F7DD-7A00-ECC7A72D325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C5EB06-1B29-B7BE-2B98-226772DB013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57F2154-70A1-71FD-EE03-EB006A236FC8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AA1D6-BDB0-6FC7-FD03-66CAB0EB894E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MODULE MAP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AF48F-85DF-5C50-147B-6635D3DF5E12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강한 경계의 근거</a:t>
            </a:r>
            <a:r>
              <a:rPr lang="en-US" altLang="ko-KR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: </a:t>
            </a:r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어떤 실패를 막는가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ECB80C-32D1-2B00-4D85-AB2070613AC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99B5A1-E83C-8E53-4F51-68AFFDBDF48A}"/>
              </a:ext>
            </a:extLst>
          </p:cNvPr>
          <p:cNvSpPr/>
          <p:nvPr/>
        </p:nvSpPr>
        <p:spPr>
          <a:xfrm>
            <a:off x="640080" y="1170432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E3BCB6-9C81-DB18-7261-246D6F883969}"/>
              </a:ext>
            </a:extLst>
          </p:cNvPr>
          <p:cNvSpPr/>
          <p:nvPr/>
        </p:nvSpPr>
        <p:spPr>
          <a:xfrm>
            <a:off x="640080" y="1170432"/>
            <a:ext cx="64008" cy="82296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B77B4-E3DC-4A28-54A2-EDACE6F514CB}"/>
              </a:ext>
            </a:extLst>
          </p:cNvPr>
          <p:cNvSpPr txBox="1"/>
          <p:nvPr/>
        </p:nvSpPr>
        <p:spPr>
          <a:xfrm>
            <a:off x="804672" y="126187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collected</a:t>
            </a:r>
            <a:endParaRPr lang="ko-KR" altLang="en-US" sz="10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C3EC5-7161-B01B-4C29-E9410FEED5D7}"/>
              </a:ext>
            </a:extLst>
          </p:cNvPr>
          <p:cNvSpPr txBox="1"/>
          <p:nvPr/>
        </p:nvSpPr>
        <p:spPr>
          <a:xfrm>
            <a:off x="804672" y="1499616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잘못된 참조나 중복 확정이 전표로 승격되는 것을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89EF67-2148-CF90-DA2B-971B376A1F5A}"/>
              </a:ext>
            </a:extLst>
          </p:cNvPr>
          <p:cNvSpPr/>
          <p:nvPr/>
        </p:nvSpPr>
        <p:spPr>
          <a:xfrm>
            <a:off x="3410712" y="1170432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45CF78-D773-56C8-4742-EA22F47B9E43}"/>
              </a:ext>
            </a:extLst>
          </p:cNvPr>
          <p:cNvSpPr/>
          <p:nvPr/>
        </p:nvSpPr>
        <p:spPr>
          <a:xfrm>
            <a:off x="3410712" y="1170432"/>
            <a:ext cx="64008" cy="82296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3232F-44CB-8367-330E-2B65C338851B}"/>
              </a:ext>
            </a:extLst>
          </p:cNvPr>
          <p:cNvSpPr txBox="1"/>
          <p:nvPr/>
        </p:nvSpPr>
        <p:spPr>
          <a:xfrm>
            <a:off x="3575304" y="126187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periods</a:t>
            </a:r>
            <a:endParaRPr lang="ko-KR" altLang="en-US" sz="10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5477D-24FE-EB11-A5C9-117481902899}"/>
              </a:ext>
            </a:extLst>
          </p:cNvPr>
          <p:cNvSpPr txBox="1"/>
          <p:nvPr/>
        </p:nvSpPr>
        <p:spPr>
          <a:xfrm>
            <a:off x="3575304" y="1499616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닫힌 월에 쓰거나 전표번호가 겹치는 상황을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C200C3-2419-98F7-5BF9-C1A9C145B115}"/>
              </a:ext>
            </a:extLst>
          </p:cNvPr>
          <p:cNvSpPr/>
          <p:nvPr/>
        </p:nvSpPr>
        <p:spPr>
          <a:xfrm>
            <a:off x="6181344" y="1170432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9386B1-0154-5A6C-C8AB-71080554D0C2}"/>
              </a:ext>
            </a:extLst>
          </p:cNvPr>
          <p:cNvSpPr/>
          <p:nvPr/>
        </p:nvSpPr>
        <p:spPr>
          <a:xfrm>
            <a:off x="6181344" y="1170432"/>
            <a:ext cx="64008" cy="82296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C33186-6530-190D-95BC-4AEC4CD9502E}"/>
              </a:ext>
            </a:extLst>
          </p:cNvPr>
          <p:cNvSpPr txBox="1"/>
          <p:nvPr/>
        </p:nvSpPr>
        <p:spPr>
          <a:xfrm>
            <a:off x="6345936" y="126187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imports</a:t>
            </a:r>
            <a:endParaRPr lang="ko-KR" altLang="en-US" sz="105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B7ED31-334D-0ABA-35A8-4A933027130A}"/>
              </a:ext>
            </a:extLst>
          </p:cNvPr>
          <p:cNvSpPr txBox="1"/>
          <p:nvPr/>
        </p:nvSpPr>
        <p:spPr>
          <a:xfrm>
            <a:off x="6345936" y="1499616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원본 행 유실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 수집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동시 일괄 등록 충돌을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097004-7EAB-C949-89D4-D39292E277B4}"/>
              </a:ext>
            </a:extLst>
          </p:cNvPr>
          <p:cNvSpPr/>
          <p:nvPr/>
        </p:nvSpPr>
        <p:spPr>
          <a:xfrm>
            <a:off x="8951976" y="1170432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B74168-35C2-06D0-9B21-50464F13EB09}"/>
              </a:ext>
            </a:extLst>
          </p:cNvPr>
          <p:cNvSpPr/>
          <p:nvPr/>
        </p:nvSpPr>
        <p:spPr>
          <a:xfrm>
            <a:off x="8951976" y="1170432"/>
            <a:ext cx="64008" cy="82296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979B6-4BA5-DC0F-FD77-FBF88DEAFBED}"/>
              </a:ext>
            </a:extLst>
          </p:cNvPr>
          <p:cNvSpPr txBox="1"/>
          <p:nvPr/>
        </p:nvSpPr>
        <p:spPr>
          <a:xfrm>
            <a:off x="9116568" y="1261872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journal</a:t>
            </a:r>
            <a:endParaRPr lang="ko-KR" altLang="en-US" sz="1050" b="1">
              <a:solidFill>
                <a:srgbClr val="E11D4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116F80-BA9F-8AAE-9F84-A1B749A5D770}"/>
              </a:ext>
            </a:extLst>
          </p:cNvPr>
          <p:cNvSpPr txBox="1"/>
          <p:nvPr/>
        </p:nvSpPr>
        <p:spPr>
          <a:xfrm>
            <a:off x="9116568" y="1499616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기록을 덮어쓰지 않고 반전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정정으로 추적합니다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54BEF8-C786-BB43-22EA-3D684DD97A1B}"/>
              </a:ext>
            </a:extLst>
          </p:cNvPr>
          <p:cNvSpPr/>
          <p:nvPr/>
        </p:nvSpPr>
        <p:spPr>
          <a:xfrm>
            <a:off x="640080" y="2331720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8CD812-02F0-F25F-BD60-EE93A8A36A86}"/>
              </a:ext>
            </a:extLst>
          </p:cNvPr>
          <p:cNvSpPr/>
          <p:nvPr/>
        </p:nvSpPr>
        <p:spPr>
          <a:xfrm>
            <a:off x="640080" y="2331720"/>
            <a:ext cx="64008" cy="82296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693260-EE5D-5AF4-8C5F-5229DBC0BCB0}"/>
              </a:ext>
            </a:extLst>
          </p:cNvPr>
          <p:cNvSpPr txBox="1"/>
          <p:nvPr/>
        </p:nvSpPr>
        <p:spPr>
          <a:xfrm>
            <a:off x="804672" y="242316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auth</a:t>
            </a:r>
            <a:endParaRPr lang="ko-KR" altLang="en-US" sz="10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0639F1-269A-9D72-C4DB-B48F691AD00B}"/>
              </a:ext>
            </a:extLst>
          </p:cNvPr>
          <p:cNvSpPr txBox="1"/>
          <p:nvPr/>
        </p:nvSpPr>
        <p:spPr>
          <a:xfrm>
            <a:off x="804672" y="266090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세션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토큰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인증 전 접근 같은 보안 경계를 분리합니다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5772C6-92B4-C51B-A07C-A25EE2FFD28A}"/>
              </a:ext>
            </a:extLst>
          </p:cNvPr>
          <p:cNvSpPr/>
          <p:nvPr/>
        </p:nvSpPr>
        <p:spPr>
          <a:xfrm>
            <a:off x="3410712" y="2331720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1061AA-D1C3-1095-2B57-D71C66AF0BA2}"/>
              </a:ext>
            </a:extLst>
          </p:cNvPr>
          <p:cNvSpPr/>
          <p:nvPr/>
        </p:nvSpPr>
        <p:spPr>
          <a:xfrm>
            <a:off x="3410712" y="2331720"/>
            <a:ext cx="64008" cy="82296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B6820F-866F-D446-2BBD-2AAEEF323911}"/>
              </a:ext>
            </a:extLst>
          </p:cNvPr>
          <p:cNvSpPr txBox="1"/>
          <p:nvPr/>
        </p:nvSpPr>
        <p:spPr>
          <a:xfrm>
            <a:off x="3575304" y="242316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admin</a:t>
            </a:r>
            <a:endParaRPr lang="ko-KR" altLang="en-US" sz="10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A9EFAC-11FC-8778-81ED-A4F4BF33EA3B}"/>
              </a:ext>
            </a:extLst>
          </p:cNvPr>
          <p:cNvSpPr txBox="1"/>
          <p:nvPr/>
        </p:nvSpPr>
        <p:spPr>
          <a:xfrm>
            <a:off x="3575304" y="2660904"/>
            <a:ext cx="2020824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Owner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보호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초대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역할 변경의 운영 리스크를 줄입니다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C11B12-D3FB-C2BE-7541-956E070B181F}"/>
              </a:ext>
            </a:extLst>
          </p:cNvPr>
          <p:cNvSpPr/>
          <p:nvPr/>
        </p:nvSpPr>
        <p:spPr>
          <a:xfrm>
            <a:off x="6181344" y="2331720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21DA5F-6D4E-9882-2471-73524C66178A}"/>
              </a:ext>
            </a:extLst>
          </p:cNvPr>
          <p:cNvSpPr/>
          <p:nvPr/>
        </p:nvSpPr>
        <p:spPr>
          <a:xfrm>
            <a:off x="6181344" y="2331720"/>
            <a:ext cx="64008" cy="82296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9B84A-4C76-7661-F870-F2738680AA4B}"/>
              </a:ext>
            </a:extLst>
          </p:cNvPr>
          <p:cNvSpPr txBox="1"/>
          <p:nvPr/>
        </p:nvSpPr>
        <p:spPr>
          <a:xfrm>
            <a:off x="6345936" y="242316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plan/statement</a:t>
            </a:r>
            <a:endParaRPr lang="ko-KR" altLang="en-US" sz="105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49C85F-2846-4024-AC8F-4569D31486C9}"/>
              </a:ext>
            </a:extLst>
          </p:cNvPr>
          <p:cNvSpPr txBox="1"/>
          <p:nvPr/>
        </p:nvSpPr>
        <p:spPr>
          <a:xfrm>
            <a:off x="6345936" y="2660904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중복과 보고 숫자 흔들림을 스냅샷 기준으로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359A91-01C1-0E71-EA81-D8A94A7082A9}"/>
              </a:ext>
            </a:extLst>
          </p:cNvPr>
          <p:cNvSpPr/>
          <p:nvPr/>
        </p:nvSpPr>
        <p:spPr>
          <a:xfrm>
            <a:off x="8951976" y="2331720"/>
            <a:ext cx="231343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5A826B-92CD-B986-7355-A94363242D42}"/>
              </a:ext>
            </a:extLst>
          </p:cNvPr>
          <p:cNvSpPr/>
          <p:nvPr/>
        </p:nvSpPr>
        <p:spPr>
          <a:xfrm>
            <a:off x="8951976" y="2331720"/>
            <a:ext cx="64008" cy="82296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E85D76-35EB-9AAB-F8A8-6C8FE88639E8}"/>
              </a:ext>
            </a:extLst>
          </p:cNvPr>
          <p:cNvSpPr txBox="1"/>
          <p:nvPr/>
        </p:nvSpPr>
        <p:spPr>
          <a:xfrm>
            <a:off x="9116568" y="2423160"/>
            <a:ext cx="202082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5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carry-forward</a:t>
            </a:r>
            <a:endParaRPr lang="ko-KR" altLang="en-US" sz="1050" b="1">
              <a:solidFill>
                <a:srgbClr val="E11D4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E3D92B-BD09-639D-793E-B77363BF5B83}"/>
              </a:ext>
            </a:extLst>
          </p:cNvPr>
          <p:cNvSpPr txBox="1"/>
          <p:nvPr/>
        </p:nvSpPr>
        <p:spPr>
          <a:xfrm>
            <a:off x="9116568" y="2660904"/>
            <a:ext cx="2020824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 생성 후 원천 월 재오픈으로 기준이 깨지는 것을 막습니다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22B972E-21BA-0E46-086E-F691ECEDC365}"/>
              </a:ext>
            </a:extLst>
          </p:cNvPr>
          <p:cNvSpPr/>
          <p:nvPr/>
        </p:nvSpPr>
        <p:spPr>
          <a:xfrm>
            <a:off x="640080" y="4663440"/>
            <a:ext cx="106527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E2713F-DD2A-1F66-ED97-A4D2D13B20F7}"/>
              </a:ext>
            </a:extLst>
          </p:cNvPr>
          <p:cNvSpPr/>
          <p:nvPr/>
        </p:nvSpPr>
        <p:spPr>
          <a:xfrm>
            <a:off x="640080" y="4663440"/>
            <a:ext cx="64008" cy="96012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56A188-AE69-8F60-A818-AC828B7DCB99}"/>
              </a:ext>
            </a:extLst>
          </p:cNvPr>
          <p:cNvSpPr txBox="1"/>
          <p:nvPr/>
        </p:nvSpPr>
        <p:spPr>
          <a:xfrm>
            <a:off x="804672" y="47640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구조로 이어진 결과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9EF0A8-BDD0-AE16-1EE2-7D8E3FE9982E}"/>
              </a:ext>
            </a:extLst>
          </p:cNvPr>
          <p:cNvSpPr txBox="1"/>
          <p:nvPr/>
        </p:nvSpPr>
        <p:spPr>
          <a:xfrm>
            <a:off x="804672" y="5010912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모듈들은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controller -&gt; use case -&gt; port -&gt; adapter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흐름을 사용해 업무 결정과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Prisma/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파일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메일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시간 같은 기술 결합을 분리했습니다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693782-594B-789D-4F8A-6E17E472FE49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0ACDDB-A8F9-E3A5-8B23-6B905D54B214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16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6674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DA6277C-1064-70E8-0F68-88E0B21516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54F310-43E6-57E0-62F0-EEC1943DA6C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3E41EAB-D381-4BC8-F802-B3BD6E5C4F9C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A8523-7FE1-D05B-849C-83232B10CB1F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MODULE MAP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E2A32-E99D-1223-74B6-92076CB7B836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덜 나눈 곳도 이유가 있다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7173F86-4944-C57A-E8E8-4E8F546C2B9A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BFC4E7-78BC-20CE-D2AC-0F781949C4E1}"/>
              </a:ext>
            </a:extLst>
          </p:cNvPr>
          <p:cNvSpPr/>
          <p:nvPr/>
        </p:nvSpPr>
        <p:spPr>
          <a:xfrm>
            <a:off x="640080" y="1234440"/>
            <a:ext cx="324612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2BF7B4-0844-B078-B19F-BA450F0BC8C2}"/>
              </a:ext>
            </a:extLst>
          </p:cNvPr>
          <p:cNvSpPr/>
          <p:nvPr/>
        </p:nvSpPr>
        <p:spPr>
          <a:xfrm>
            <a:off x="640080" y="1234440"/>
            <a:ext cx="64008" cy="111556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275B7-D29F-F7C7-A6DF-67C84EA5B9FE}"/>
              </a:ext>
            </a:extLst>
          </p:cNvPr>
          <p:cNvSpPr txBox="1"/>
          <p:nvPr/>
        </p:nvSpPr>
        <p:spPr>
          <a:xfrm>
            <a:off x="80467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Standard </a:t>
            </a:r>
            <a:r>
              <a:rPr lang="ko-KR" altLang="en-US" sz="11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812643-774F-1E0B-7DF2-B8D23096D589}"/>
              </a:ext>
            </a:extLst>
          </p:cNvPr>
          <p:cNvSpPr txBox="1"/>
          <p:nvPr/>
        </p:nvSpPr>
        <p:spPr>
          <a:xfrm>
            <a:off x="804672" y="1600200"/>
            <a:ext cx="2953512" cy="1754326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funding-accounts, categories, vehicles, workspace-settings
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규칙보다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CRUD·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설정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참조 성격이 커서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service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중심이 더 선명합니다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6FD75D-0BAC-CF8F-6557-CE8DBB82A42E}"/>
              </a:ext>
            </a:extLst>
          </p:cNvPr>
          <p:cNvSpPr/>
          <p:nvPr/>
        </p:nvSpPr>
        <p:spPr>
          <a:xfrm>
            <a:off x="4343400" y="1234440"/>
            <a:ext cx="324612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E89C5D-57DA-9DBF-643F-31FE910AC28F}"/>
              </a:ext>
            </a:extLst>
          </p:cNvPr>
          <p:cNvSpPr/>
          <p:nvPr/>
        </p:nvSpPr>
        <p:spPr>
          <a:xfrm>
            <a:off x="4343400" y="1234440"/>
            <a:ext cx="64008" cy="111556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89544-3D66-D97C-73C5-5F8E3BAB73AA}"/>
              </a:ext>
            </a:extLst>
          </p:cNvPr>
          <p:cNvSpPr txBox="1"/>
          <p:nvPr/>
        </p:nvSpPr>
        <p:spPr>
          <a:xfrm>
            <a:off x="450799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Read Model</a:t>
            </a:r>
            <a:endParaRPr lang="ko-KR" altLang="en-US" sz="110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8F56B-9357-6ED0-C529-4AAEEB345072}"/>
              </a:ext>
            </a:extLst>
          </p:cNvPr>
          <p:cNvSpPr txBox="1"/>
          <p:nvPr/>
        </p:nvSpPr>
        <p:spPr>
          <a:xfrm>
            <a:off x="4507992" y="1600200"/>
            <a:ext cx="2953512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dashboard, funding-account-status, forecast, operations-console
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쓰기 결정을 하지 않고 여러 근거를 조합해 보여줍니다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DDF2C1-C46E-79BE-7A02-9C0F9C65769D}"/>
              </a:ext>
            </a:extLst>
          </p:cNvPr>
          <p:cNvSpPr/>
          <p:nvPr/>
        </p:nvSpPr>
        <p:spPr>
          <a:xfrm>
            <a:off x="8046720" y="1234440"/>
            <a:ext cx="3246119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D06226-48A5-5839-3691-8D6860AE46A1}"/>
              </a:ext>
            </a:extLst>
          </p:cNvPr>
          <p:cNvSpPr/>
          <p:nvPr/>
        </p:nvSpPr>
        <p:spPr>
          <a:xfrm>
            <a:off x="8046720" y="1234440"/>
            <a:ext cx="64007" cy="111556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53E00-9257-B27E-BF1A-C10F9C67D91F}"/>
              </a:ext>
            </a:extLst>
          </p:cNvPr>
          <p:cNvSpPr txBox="1"/>
          <p:nvPr/>
        </p:nvSpPr>
        <p:spPr>
          <a:xfrm>
            <a:off x="821131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Shared Platform</a:t>
            </a:r>
            <a:endParaRPr lang="ko-KR" altLang="en-US" sz="110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DA9B8-C95A-E7A3-AD77-9FD38095D64A}"/>
              </a:ext>
            </a:extLst>
          </p:cNvPr>
          <p:cNvSpPr txBox="1"/>
          <p:nvPr/>
        </p:nvSpPr>
        <p:spPr>
          <a:xfrm>
            <a:off x="8211312" y="1600200"/>
            <a:ext cx="2953512" cy="147732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contracts, money, env, Prisma, health
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공통 기준을 제공하지만 도메인 규칙은 소유하지 않습니다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4CC956-1E35-E3E2-87A5-08975322857B}"/>
              </a:ext>
            </a:extLst>
          </p:cNvPr>
          <p:cNvSpPr/>
          <p:nvPr/>
        </p:nvSpPr>
        <p:spPr>
          <a:xfrm>
            <a:off x="640080" y="2971800"/>
            <a:ext cx="32461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39D784-7CEE-F6FB-CF6A-D34B535AC520}"/>
              </a:ext>
            </a:extLst>
          </p:cNvPr>
          <p:cNvSpPr/>
          <p:nvPr/>
        </p:nvSpPr>
        <p:spPr>
          <a:xfrm>
            <a:off x="640080" y="2971800"/>
            <a:ext cx="64008" cy="96012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595E5B-1B39-3D95-1B49-3B588055684F}"/>
              </a:ext>
            </a:extLst>
          </p:cNvPr>
          <p:cNvSpPr txBox="1"/>
          <p:nvPr/>
        </p:nvSpPr>
        <p:spPr>
          <a:xfrm>
            <a:off x="804672" y="307238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Frontend</a:t>
            </a:r>
            <a:endParaRPr lang="ko-KR" altLang="en-US" sz="108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7FE33-9666-1BD3-C234-C732C1B2542C}"/>
              </a:ext>
            </a:extLst>
          </p:cNvPr>
          <p:cNvSpPr txBox="1"/>
          <p:nvPr/>
        </p:nvSpPr>
        <p:spPr>
          <a:xfrm>
            <a:off x="804672" y="3319272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화면이 많아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app/features/shared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화면 응집도와 재사용성을 우선했습니다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47B9C-3AAC-D664-B24D-E64105BFB19F}"/>
              </a:ext>
            </a:extLst>
          </p:cNvPr>
          <p:cNvSpPr/>
          <p:nvPr/>
        </p:nvSpPr>
        <p:spPr>
          <a:xfrm>
            <a:off x="4343400" y="2971800"/>
            <a:ext cx="32461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606FEB-D30D-E8F4-AF43-E9675835EFAE}"/>
              </a:ext>
            </a:extLst>
          </p:cNvPr>
          <p:cNvSpPr/>
          <p:nvPr/>
        </p:nvSpPr>
        <p:spPr>
          <a:xfrm>
            <a:off x="4343400" y="2971800"/>
            <a:ext cx="64008" cy="960120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831671-9103-3603-FA0F-42D465B326CE}"/>
              </a:ext>
            </a:extLst>
          </p:cNvPr>
          <p:cNvSpPr txBox="1"/>
          <p:nvPr/>
        </p:nvSpPr>
        <p:spPr>
          <a:xfrm>
            <a:off x="4507992" y="307238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Backend</a:t>
            </a:r>
            <a:endParaRPr lang="ko-KR" altLang="en-US" sz="108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B56C9F-99B6-8C12-C200-3E2564DD1E3C}"/>
              </a:ext>
            </a:extLst>
          </p:cNvPr>
          <p:cNvSpPr txBox="1"/>
          <p:nvPr/>
        </p:nvSpPr>
        <p:spPr>
          <a:xfrm>
            <a:off x="4507992" y="3319272"/>
            <a:ext cx="2953512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비승격 모듈은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controller -&gt; service -&gt; repository -&gt; mapper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가 더 빨리 읽힙니다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7C838F-6C35-5E32-8A0D-09BB865A40B1}"/>
              </a:ext>
            </a:extLst>
          </p:cNvPr>
          <p:cNvSpPr/>
          <p:nvPr/>
        </p:nvSpPr>
        <p:spPr>
          <a:xfrm>
            <a:off x="8046720" y="2971800"/>
            <a:ext cx="3246119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BC86E1-1C82-4136-3DEB-9DA69B641973}"/>
              </a:ext>
            </a:extLst>
          </p:cNvPr>
          <p:cNvSpPr/>
          <p:nvPr/>
        </p:nvSpPr>
        <p:spPr>
          <a:xfrm>
            <a:off x="8046720" y="2971800"/>
            <a:ext cx="64007" cy="960120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F599D3-74C4-D25F-471E-372F6587A488}"/>
              </a:ext>
            </a:extLst>
          </p:cNvPr>
          <p:cNvSpPr txBox="1"/>
          <p:nvPr/>
        </p:nvSpPr>
        <p:spPr>
          <a:xfrm>
            <a:off x="8211312" y="3072384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Public boundary</a:t>
            </a:r>
            <a:endParaRPr lang="ko-KR" altLang="en-US" sz="1080" b="1">
              <a:solidFill>
                <a:srgbClr val="E11D4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E83D72-613F-B771-0560-18D9B9845777}"/>
              </a:ext>
            </a:extLst>
          </p:cNvPr>
          <p:cNvSpPr txBox="1"/>
          <p:nvPr/>
        </p:nvSpPr>
        <p:spPr>
          <a:xfrm>
            <a:off x="8211312" y="3319272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필요한 모듈만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public.ts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를 두어 내부 구현 직접 참조를 줄입니다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ACD378-DF19-BA26-0F86-87D44C4DF54C}"/>
              </a:ext>
            </a:extLst>
          </p:cNvPr>
          <p:cNvSpPr/>
          <p:nvPr/>
        </p:nvSpPr>
        <p:spPr>
          <a:xfrm>
            <a:off x="640080" y="4663440"/>
            <a:ext cx="1065276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55B0DC-8613-D49E-3328-A36CA74AF814}"/>
              </a:ext>
            </a:extLst>
          </p:cNvPr>
          <p:cNvSpPr/>
          <p:nvPr/>
        </p:nvSpPr>
        <p:spPr>
          <a:xfrm>
            <a:off x="640080" y="4663440"/>
            <a:ext cx="64008" cy="77724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17D3A8-08B0-B5BC-2EB2-6756D055E3C7}"/>
              </a:ext>
            </a:extLst>
          </p:cNvPr>
          <p:cNvSpPr txBox="1"/>
          <p:nvPr/>
        </p:nvSpPr>
        <p:spPr>
          <a:xfrm>
            <a:off x="804672" y="4754880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면접 포인트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C78828-26FB-F5F6-950D-B97778D5762B}"/>
              </a:ext>
            </a:extLst>
          </p:cNvPr>
          <p:cNvSpPr txBox="1"/>
          <p:nvPr/>
        </p:nvSpPr>
        <p:spPr>
          <a:xfrm>
            <a:off x="804672" y="4992624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덜 나눈 곳은 미완성이 아니라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실패 비용과 변경 위험이 낮아 단순함을 선택한 영역입니다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F004B5-907D-D0BE-2D9F-A2660F687BDE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6E0953-CB9E-811B-0743-6E527D259B4A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17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82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E56707-7197-64E0-F81C-C176B6CB57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301BE3-D927-8E16-5058-3B40157A65AB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AD195FA-DD6F-67E3-58F3-F98CF38F06BF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CF20F-88C4-1969-199D-28E4DC487060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TRADE-OFF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D4576C-9DDA-2A2D-F94A-C06D7E8E8BE7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의도적으로 하지 않은 것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1B84572-FA6C-74E8-A0ED-C2244EDE4341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442BC0-BB6A-9E20-9DDD-A021FAB1DA98}"/>
              </a:ext>
            </a:extLst>
          </p:cNvPr>
          <p:cNvSpPr/>
          <p:nvPr/>
        </p:nvSpPr>
        <p:spPr>
          <a:xfrm>
            <a:off x="640080" y="1234440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7EDEB3-FAEA-DE26-916E-1864F0BDCFC7}"/>
              </a:ext>
            </a:extLst>
          </p:cNvPr>
          <p:cNvSpPr/>
          <p:nvPr/>
        </p:nvSpPr>
        <p:spPr>
          <a:xfrm>
            <a:off x="640080" y="1234440"/>
            <a:ext cx="64008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76DA8-4FC5-DABF-2CF8-D0564551068C}"/>
              </a:ext>
            </a:extLst>
          </p:cNvPr>
          <p:cNvSpPr txBox="1"/>
          <p:nvPr/>
        </p:nvSpPr>
        <p:spPr>
          <a:xfrm>
            <a:off x="80467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전면 </a:t>
            </a:r>
            <a:r>
              <a:rPr lang="en-US" altLang="ko-KR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Microservice</a:t>
            </a:r>
            <a:endParaRPr lang="ko-KR" altLang="en-US" sz="110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980C1-8FD7-E22C-B578-7651C169E491}"/>
              </a:ext>
            </a:extLst>
          </p:cNvPr>
          <p:cNvSpPr txBox="1"/>
          <p:nvPr/>
        </p:nvSpPr>
        <p:spPr>
          <a:xfrm>
            <a:off x="804672" y="160020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service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별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DB, broker, gateway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현재 제품 범위보다 운영 비용이 큽니다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A4DA31-78D1-CCD6-EA26-51866F30C2B9}"/>
              </a:ext>
            </a:extLst>
          </p:cNvPr>
          <p:cNvSpPr/>
          <p:nvPr/>
        </p:nvSpPr>
        <p:spPr>
          <a:xfrm>
            <a:off x="4343400" y="1234440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D6B932-5619-8AAA-7C12-121536D2B5C2}"/>
              </a:ext>
            </a:extLst>
          </p:cNvPr>
          <p:cNvSpPr/>
          <p:nvPr/>
        </p:nvSpPr>
        <p:spPr>
          <a:xfrm>
            <a:off x="4343400" y="1234440"/>
            <a:ext cx="64008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0FFD6-4A69-2356-2278-D8340F74888F}"/>
              </a:ext>
            </a:extLst>
          </p:cNvPr>
          <p:cNvSpPr txBox="1"/>
          <p:nvPr/>
        </p:nvSpPr>
        <p:spPr>
          <a:xfrm>
            <a:off x="450799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이벤트 버스</a:t>
            </a:r>
            <a:r>
              <a:rPr lang="en-US" altLang="ko-KR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/Outbox</a:t>
            </a:r>
            <a:endParaRPr lang="ko-KR" altLang="en-US" sz="110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84AD2-3EDF-B3CB-C97F-D8F856B23EFB}"/>
              </a:ext>
            </a:extLst>
          </p:cNvPr>
          <p:cNvSpPr txBox="1"/>
          <p:nvPr/>
        </p:nvSpPr>
        <p:spPr>
          <a:xfrm>
            <a:off x="4507992" y="160020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장기 확장 후보지만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지금은 트랜잭션과 공개 경계가 더 직접적인 가치입니다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61C3E7-C763-22C4-D32C-9CD9F278B646}"/>
              </a:ext>
            </a:extLst>
          </p:cNvPr>
          <p:cNvSpPr/>
          <p:nvPr/>
        </p:nvSpPr>
        <p:spPr>
          <a:xfrm>
            <a:off x="8046720" y="1234440"/>
            <a:ext cx="3246119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0FF60B-E100-99EB-8450-6AD691D757F7}"/>
              </a:ext>
            </a:extLst>
          </p:cNvPr>
          <p:cNvSpPr/>
          <p:nvPr/>
        </p:nvSpPr>
        <p:spPr>
          <a:xfrm>
            <a:off x="8046720" y="1234440"/>
            <a:ext cx="64007" cy="107899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31BDB1-1A75-86FC-995C-DACDE5EB20FF}"/>
              </a:ext>
            </a:extLst>
          </p:cNvPr>
          <p:cNvSpPr txBox="1"/>
          <p:nvPr/>
        </p:nvSpPr>
        <p:spPr>
          <a:xfrm>
            <a:off x="8211312" y="1344168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모든 </a:t>
            </a:r>
            <a:r>
              <a:rPr lang="en-US" altLang="ko-KR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Service Interface</a:t>
            </a:r>
            <a:r>
              <a:rPr lang="ko-KR" altLang="en-US" sz="11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9C4FF-41A8-787D-8C1E-4D6C7905C8ED}"/>
              </a:ext>
            </a:extLst>
          </p:cNvPr>
          <p:cNvSpPr txBox="1"/>
          <p:nvPr/>
        </p:nvSpPr>
        <p:spPr>
          <a:xfrm>
            <a:off x="8211312" y="1600200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외부 기술 경계가 아닌 내부 호출까지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port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만들면 읽기 비용이 커집니다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23E3D6-4FB3-D809-81E3-091B0E9C60F3}"/>
              </a:ext>
            </a:extLst>
          </p:cNvPr>
          <p:cNvSpPr/>
          <p:nvPr/>
        </p:nvSpPr>
        <p:spPr>
          <a:xfrm>
            <a:off x="640080" y="2852928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C8D23D-FDCE-74CB-5CA0-1267FF492F4B}"/>
              </a:ext>
            </a:extLst>
          </p:cNvPr>
          <p:cNvSpPr/>
          <p:nvPr/>
        </p:nvSpPr>
        <p:spPr>
          <a:xfrm>
            <a:off x="640080" y="2852928"/>
            <a:ext cx="64008" cy="107899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70C389-E0CF-665C-E315-8C2C7A4B07A9}"/>
              </a:ext>
            </a:extLst>
          </p:cNvPr>
          <p:cNvSpPr txBox="1"/>
          <p:nvPr/>
        </p:nvSpPr>
        <p:spPr>
          <a:xfrm>
            <a:off x="804672" y="296265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프런트 헥사고날화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D632CD-8078-D2AE-97A7-099AF3D5000A}"/>
              </a:ext>
            </a:extLst>
          </p:cNvPr>
          <p:cNvSpPr txBox="1"/>
          <p:nvPr/>
        </p:nvSpPr>
        <p:spPr>
          <a:xfrm>
            <a:off x="804672" y="321868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화면은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feature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응집도와 공통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UI 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재사용이 더 중요한 문제였습니다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49C3FF-DF54-A90D-3589-83DDB7B833C9}"/>
              </a:ext>
            </a:extLst>
          </p:cNvPr>
          <p:cNvSpPr/>
          <p:nvPr/>
        </p:nvSpPr>
        <p:spPr>
          <a:xfrm>
            <a:off x="4343400" y="2852928"/>
            <a:ext cx="32461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454E8F-AB77-CD0D-BA7A-40076E5969E1}"/>
              </a:ext>
            </a:extLst>
          </p:cNvPr>
          <p:cNvSpPr/>
          <p:nvPr/>
        </p:nvSpPr>
        <p:spPr>
          <a:xfrm>
            <a:off x="4343400" y="2852928"/>
            <a:ext cx="64008" cy="107899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707843-536F-0047-3165-308656A5CEC3}"/>
              </a:ext>
            </a:extLst>
          </p:cNvPr>
          <p:cNvSpPr txBox="1"/>
          <p:nvPr/>
        </p:nvSpPr>
        <p:spPr>
          <a:xfrm>
            <a:off x="4507992" y="296265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공통 비즈니스 폴더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C06A8-4E57-BEB7-4472-E26B78893E73}"/>
              </a:ext>
            </a:extLst>
          </p:cNvPr>
          <p:cNvSpPr txBox="1"/>
          <p:nvPr/>
        </p:nvSpPr>
        <p:spPr>
          <a:xfrm>
            <a:off x="4507992" y="321868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서로 다른 도메인 규칙을 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shared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섞는 대신 각 모듈이 책임을 소유합니다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2897B72-33CE-851E-AF44-D6B64E11D2BF}"/>
              </a:ext>
            </a:extLst>
          </p:cNvPr>
          <p:cNvSpPr/>
          <p:nvPr/>
        </p:nvSpPr>
        <p:spPr>
          <a:xfrm>
            <a:off x="8046720" y="2852928"/>
            <a:ext cx="3246119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1F0576-CD5A-D3CE-A53A-BBE7B24FEACA}"/>
              </a:ext>
            </a:extLst>
          </p:cNvPr>
          <p:cNvSpPr/>
          <p:nvPr/>
        </p:nvSpPr>
        <p:spPr>
          <a:xfrm>
            <a:off x="8046720" y="2852928"/>
            <a:ext cx="64007" cy="1078992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17A49-9DDC-0AB9-8D6B-A008B5D33C38}"/>
              </a:ext>
            </a:extLst>
          </p:cNvPr>
          <p:cNvSpPr txBox="1"/>
          <p:nvPr/>
        </p:nvSpPr>
        <p:spPr>
          <a:xfrm>
            <a:off x="8211312" y="2962656"/>
            <a:ext cx="29535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0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장기 운영 자동화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A74600-B93C-C1C0-AD19-8DFA80180E96}"/>
              </a:ext>
            </a:extLst>
          </p:cNvPr>
          <p:cNvSpPr txBox="1"/>
          <p:nvPr/>
        </p:nvSpPr>
        <p:spPr>
          <a:xfrm>
            <a:off x="8211312" y="3218688"/>
            <a:ext cx="295351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백업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모니터링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장애 복구는 공개 데모 이후 후속 운영 과제로 분리했습니다</a:t>
            </a:r>
            <a:r>
              <a:rPr lang="en-US" altLang="ko-KR" sz="106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8D0CB1-D272-9C86-5751-79F07E56067F}"/>
              </a:ext>
            </a:extLst>
          </p:cNvPr>
          <p:cNvSpPr/>
          <p:nvPr/>
        </p:nvSpPr>
        <p:spPr>
          <a:xfrm>
            <a:off x="640080" y="4663440"/>
            <a:ext cx="106527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CB53F9-B91C-A22A-0482-93D6A865CE37}"/>
              </a:ext>
            </a:extLst>
          </p:cNvPr>
          <p:cNvSpPr/>
          <p:nvPr/>
        </p:nvSpPr>
        <p:spPr>
          <a:xfrm>
            <a:off x="640080" y="4663440"/>
            <a:ext cx="64008" cy="82296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797D87-8CA8-06CF-317D-B2F56AED4BCB}"/>
              </a:ext>
            </a:extLst>
          </p:cNvPr>
          <p:cNvSpPr txBox="1"/>
          <p:nvPr/>
        </p:nvSpPr>
        <p:spPr>
          <a:xfrm>
            <a:off x="804672" y="4754880"/>
            <a:ext cx="103601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C41757-669C-BF52-5608-EE847E477526}"/>
              </a:ext>
            </a:extLst>
          </p:cNvPr>
          <p:cNvSpPr txBox="1"/>
          <p:nvPr/>
        </p:nvSpPr>
        <p:spPr>
          <a:xfrm>
            <a:off x="804672" y="4992624"/>
            <a:ext cx="103601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구조를 더 많이 나누는 것이 아니라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흐름을 설명하고 유지할 수 있을 만큼만 나눴습니다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이제 그 판단이 실제 화면에서 어떻게 드러나는지 봅니다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871A75-853C-1D95-097C-55A9626C6A23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1AF88B-C1E3-7E1F-960D-5D033DE3B53A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18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642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B0B919-5E1B-62EF-792C-3350339994E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F34F3F-6B42-9766-050C-FEDE2A67EE13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470F93C-3046-3798-5EBB-A96750A70E0D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0C769-5C0B-49C6-0FFA-BFB2CD396338}"/>
              </a:ext>
            </a:extLst>
          </p:cNvPr>
          <p:cNvSpPr txBox="1"/>
          <p:nvPr/>
        </p:nvSpPr>
        <p:spPr>
          <a:xfrm>
            <a:off x="630936" y="338328"/>
            <a:ext cx="96012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PRODUCT SURFACE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F8E68-7D79-58EC-CDDC-485389C65AC1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표면 지도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0406A8C-4C41-7105-CD6D-3B8280CDC682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2EF2A6-D54C-E935-E31C-28875F8E5668}"/>
              </a:ext>
            </a:extLst>
          </p:cNvPr>
          <p:cNvSpPr/>
          <p:nvPr/>
        </p:nvSpPr>
        <p:spPr>
          <a:xfrm>
            <a:off x="694944" y="1353312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92929-5DDF-0414-BB46-6159E32CE7D7}"/>
              </a:ext>
            </a:extLst>
          </p:cNvPr>
          <p:cNvSpPr/>
          <p:nvPr/>
        </p:nvSpPr>
        <p:spPr>
          <a:xfrm>
            <a:off x="694944" y="1353312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5F7A3-BCD0-25B2-1889-B6E83B590B91}"/>
              </a:ext>
            </a:extLst>
          </p:cNvPr>
          <p:cNvSpPr txBox="1"/>
          <p:nvPr/>
        </p:nvSpPr>
        <p:spPr>
          <a:xfrm>
            <a:off x="859536" y="1453896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인증</a:t>
            </a:r>
            <a:r>
              <a:rPr lang="en-US" altLang="ko-KR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3A693-584A-0AA4-79DA-290F90A334BF}"/>
              </a:ext>
            </a:extLst>
          </p:cNvPr>
          <p:cNvSpPr txBox="1"/>
          <p:nvPr/>
        </p:nvSpPr>
        <p:spPr>
          <a:xfrm>
            <a:off x="859536" y="1700784"/>
            <a:ext cx="27706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홈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회원가입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로그인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계정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워크스페이스 설정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ECC329-37D3-9C5C-AA6E-058792C709E0}"/>
              </a:ext>
            </a:extLst>
          </p:cNvPr>
          <p:cNvSpPr/>
          <p:nvPr/>
        </p:nvSpPr>
        <p:spPr>
          <a:xfrm>
            <a:off x="4315968" y="1353312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5E6E29-62D9-06F8-80DD-2A52034834CA}"/>
              </a:ext>
            </a:extLst>
          </p:cNvPr>
          <p:cNvSpPr/>
          <p:nvPr/>
        </p:nvSpPr>
        <p:spPr>
          <a:xfrm>
            <a:off x="4315968" y="1353312"/>
            <a:ext cx="64008" cy="93268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71779-96AD-65A2-5986-A2CDD1C6275E}"/>
              </a:ext>
            </a:extLst>
          </p:cNvPr>
          <p:cNvSpPr txBox="1"/>
          <p:nvPr/>
        </p:nvSpPr>
        <p:spPr>
          <a:xfrm>
            <a:off x="4480560" y="1453896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지원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132FC-1EF4-9AC9-D11D-D700DA09D591}"/>
              </a:ext>
            </a:extLst>
          </p:cNvPr>
          <p:cNvSpPr txBox="1"/>
          <p:nvPr/>
        </p:nvSpPr>
        <p:spPr>
          <a:xfrm>
            <a:off x="4480560" y="1700784"/>
            <a:ext cx="277063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허브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체크리스트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 상태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메모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E93886-A917-0EAD-2086-95EAA6D2D2B1}"/>
              </a:ext>
            </a:extLst>
          </p:cNvPr>
          <p:cNvSpPr/>
          <p:nvPr/>
        </p:nvSpPr>
        <p:spPr>
          <a:xfrm>
            <a:off x="7936992" y="1353312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A58EC8-8B68-C6EB-1CB0-6CBF3180471F}"/>
              </a:ext>
            </a:extLst>
          </p:cNvPr>
          <p:cNvSpPr/>
          <p:nvPr/>
        </p:nvSpPr>
        <p:spPr>
          <a:xfrm>
            <a:off x="7936992" y="1353312"/>
            <a:ext cx="64008" cy="93268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3DF546-A742-2548-2B21-6AAF24650076}"/>
              </a:ext>
            </a:extLst>
          </p:cNvPr>
          <p:cNvSpPr txBox="1"/>
          <p:nvPr/>
        </p:nvSpPr>
        <p:spPr>
          <a:xfrm>
            <a:off x="8101584" y="1453896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</a:t>
            </a:r>
            <a:r>
              <a:rPr lang="en-US" altLang="ko-KR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0670B-8481-4998-DB92-7A5EFC9E107C}"/>
              </a:ext>
            </a:extLst>
          </p:cNvPr>
          <p:cNvSpPr txBox="1"/>
          <p:nvPr/>
        </p:nvSpPr>
        <p:spPr>
          <a:xfrm>
            <a:off x="8101584" y="1700784"/>
            <a:ext cx="27706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자금수단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카테고리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부채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8CA23E-EB64-44A5-1BDD-30707D36915F}"/>
              </a:ext>
            </a:extLst>
          </p:cNvPr>
          <p:cNvSpPr/>
          <p:nvPr/>
        </p:nvSpPr>
        <p:spPr>
          <a:xfrm>
            <a:off x="694944" y="2743200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229A17-8B45-01E0-E7EE-0573099FDA5B}"/>
              </a:ext>
            </a:extLst>
          </p:cNvPr>
          <p:cNvSpPr/>
          <p:nvPr/>
        </p:nvSpPr>
        <p:spPr>
          <a:xfrm>
            <a:off x="694944" y="2743200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C3F69-B19D-7D6D-E254-D9C9ED66597F}"/>
              </a:ext>
            </a:extLst>
          </p:cNvPr>
          <p:cNvSpPr txBox="1"/>
          <p:nvPr/>
        </p:nvSpPr>
        <p:spPr>
          <a:xfrm>
            <a:off x="859536" y="2843784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실행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05F1AD-D81B-4CEF-FA20-8AA8D710970C}"/>
              </a:ext>
            </a:extLst>
          </p:cNvPr>
          <p:cNvSpPr txBox="1"/>
          <p:nvPr/>
        </p:nvSpPr>
        <p:spPr>
          <a:xfrm>
            <a:off x="859536" y="3090672"/>
            <a:ext cx="27706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기간 열기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9123072-9CBB-81A2-65BF-E2789CCCDF91}"/>
              </a:ext>
            </a:extLst>
          </p:cNvPr>
          <p:cNvSpPr/>
          <p:nvPr/>
        </p:nvSpPr>
        <p:spPr>
          <a:xfrm>
            <a:off x="4315968" y="2743200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F31601A-1DF5-14C1-8C52-A596223E2BA4}"/>
              </a:ext>
            </a:extLst>
          </p:cNvPr>
          <p:cNvSpPr/>
          <p:nvPr/>
        </p:nvSpPr>
        <p:spPr>
          <a:xfrm>
            <a:off x="4315968" y="2743200"/>
            <a:ext cx="64008" cy="93268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A464DF-C6C8-3CCE-8CB3-69D9CF5B2ABD}"/>
              </a:ext>
            </a:extLst>
          </p:cNvPr>
          <p:cNvSpPr txBox="1"/>
          <p:nvPr/>
        </p:nvSpPr>
        <p:spPr>
          <a:xfrm>
            <a:off x="4480560" y="2843784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보고</a:t>
            </a:r>
            <a:r>
              <a:rPr lang="en-US" altLang="ko-KR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판단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6ECF37-D9A4-F016-FB2C-E444381665D5}"/>
              </a:ext>
            </a:extLst>
          </p:cNvPr>
          <p:cNvSpPr txBox="1"/>
          <p:nvPr/>
        </p:nvSpPr>
        <p:spPr>
          <a:xfrm>
            <a:off x="4480560" y="3090672"/>
            <a:ext cx="27706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대시보드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재무제표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자금수단 현황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453D78-E4C5-B382-B4E1-D3498BEAF9C8}"/>
              </a:ext>
            </a:extLst>
          </p:cNvPr>
          <p:cNvSpPr/>
          <p:nvPr/>
        </p:nvSpPr>
        <p:spPr>
          <a:xfrm>
            <a:off x="7936992" y="2743200"/>
            <a:ext cx="306324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817D03-F4DD-9079-44A4-DE56DC20B108}"/>
              </a:ext>
            </a:extLst>
          </p:cNvPr>
          <p:cNvSpPr/>
          <p:nvPr/>
        </p:nvSpPr>
        <p:spPr>
          <a:xfrm>
            <a:off x="7936992" y="2743200"/>
            <a:ext cx="64008" cy="93268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010921-4130-5066-5C30-98851AB6D434}"/>
              </a:ext>
            </a:extLst>
          </p:cNvPr>
          <p:cNvSpPr txBox="1"/>
          <p:nvPr/>
        </p:nvSpPr>
        <p:spPr>
          <a:xfrm>
            <a:off x="8101584" y="2843784"/>
            <a:ext cx="27706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관리자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A4A2FE-D7E5-33F3-1A11-3FF6AA6DBA9D}"/>
              </a:ext>
            </a:extLst>
          </p:cNvPr>
          <p:cNvSpPr txBox="1"/>
          <p:nvPr/>
        </p:nvSpPr>
        <p:spPr>
          <a:xfrm>
            <a:off x="8101584" y="3090672"/>
            <a:ext cx="27706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멤버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권한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메뉴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감사 로그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보안 위협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9147A28-1F65-3C60-6B00-948048CD1A10}"/>
              </a:ext>
            </a:extLst>
          </p:cNvPr>
          <p:cNvSpPr/>
          <p:nvPr/>
        </p:nvSpPr>
        <p:spPr>
          <a:xfrm>
            <a:off x="960120" y="4709160"/>
            <a:ext cx="101955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308CA3-0E17-338B-F81D-3F514CCCEF77}"/>
              </a:ext>
            </a:extLst>
          </p:cNvPr>
          <p:cNvSpPr/>
          <p:nvPr/>
        </p:nvSpPr>
        <p:spPr>
          <a:xfrm>
            <a:off x="960120" y="4709160"/>
            <a:ext cx="64008" cy="786384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F303C7-18E9-377E-2B8F-855FA7483D22}"/>
              </a:ext>
            </a:extLst>
          </p:cNvPr>
          <p:cNvSpPr txBox="1"/>
          <p:nvPr/>
        </p:nvSpPr>
        <p:spPr>
          <a:xfrm>
            <a:off x="1124712" y="4800600"/>
            <a:ext cx="99029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읽는 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D7185C-1A02-1589-B693-AAB8256149D7}"/>
              </a:ext>
            </a:extLst>
          </p:cNvPr>
          <p:cNvSpPr txBox="1"/>
          <p:nvPr/>
        </p:nvSpPr>
        <p:spPr>
          <a:xfrm>
            <a:off x="1124712" y="5038344"/>
            <a:ext cx="99029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화면이 많다는 인상보다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각 화면이 월 운영 사이클에서 맡는 역할을 보여주는 지도입니다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98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2860BF-3998-74E4-9243-7D8836EE4B60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434872-CEBE-3C4F-7605-2E510B67EAAD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19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368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E3C281-B4D1-4615-C7D5-6FD210A7547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628BD-90B7-A0A9-605A-9C17A01B9368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F88C0E-4F67-D27F-41AA-39EF23D4849F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301EC-860C-763F-898E-E37B7A956767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DB24B-0F44-100C-B8D2-B040F6A2A30A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홈과 데모 진입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A126EC-CD9E-03AF-8A91-64C5B8C820A6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B004E3-BAC9-A456-1CCA-393AF3EC7B78}"/>
              </a:ext>
            </a:extLst>
          </p:cNvPr>
          <p:cNvSpPr/>
          <p:nvPr/>
        </p:nvSpPr>
        <p:spPr>
          <a:xfrm>
            <a:off x="548640" y="1353312"/>
            <a:ext cx="6876288" cy="4599432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8DB961-753E-6C46-EEA1-BBF8A0508E58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E3C9840-91E7-9BBA-C669-0B19B6808DF7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72A740F-E10E-336C-615D-3E850ED6FC51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F02AFE-5345-882E-3364-819A821C198C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3CBF70-80EF-1532-905D-673FD7571BDB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27A3E-4B1D-0B50-007A-26E6784EBDCF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F720D-4A00-AABA-6372-2678052C8475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01-public-home.png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B992F-DD71-9DA7-102C-C6DB4E38290E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752D27E-16C3-CA5F-27BE-F4A00EEBAC92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CEBA5-13FA-B869-B4EB-A69C4EE74BE0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505BF6-FD52-CF39-6477-2F7DA53FDB3C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C8AC05-BAF2-1DAA-8BBE-07E17350BF16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1CAD01-3347-F1D2-121A-34DCEDD260B5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0D6D1-A05A-89D3-98B8-88E7022678E6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 dirty="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목적과 데모 진입을 보여주는 공개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367DB0-A404-989B-5C43-B6EEF3A604E8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333FDD8-7697-A527-1DB4-B03744843A57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DCBBA5-CC20-3812-A27F-A3015E08CC44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03076A-42EA-3C5A-9732-99EBA13D6AAD}"/>
              </a:ext>
            </a:extLst>
          </p:cNvPr>
          <p:cNvSpPr txBox="1"/>
          <p:nvPr/>
        </p:nvSpPr>
        <p:spPr>
          <a:xfrm>
            <a:off x="7918704" y="3182112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데모 체험 또는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GitHub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이동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4DAB6C2-8549-8936-84D4-DB86C2CD5C08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115EA1-4736-FE9D-A41E-183382816D1D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69E1-4F6A-D796-571D-CA6009D28D58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EB19B8-0DBA-3613-0E30-CFE838311751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검색 메타데이터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FAQ,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공유 이미지 구성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41ED05-BC31-8C80-DDB0-DF88B09A16F4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399659-30EE-47D1-95B4-16942DE43F5C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15AF4D-B9C3-1F88-CC04-6D54591E9BFC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72EDB7-9F9C-06E7-BFD6-8FB2DE9C9AAF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보여주는 방식까지 설계한 프로젝트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9F96A8-1154-5A7D-4D08-70931E86F3FF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EE76E7-78FF-1D7A-A189-0B01DD911C97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20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185A2BC-AD92-0329-8FA0-59A74503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04" t="7703" r="11954" b="6232"/>
          <a:stretch>
            <a:fillRect/>
          </a:stretch>
        </p:blipFill>
        <p:spPr>
          <a:xfrm>
            <a:off x="548640" y="1367028"/>
            <a:ext cx="6910026" cy="459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41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4FDA39-CED2-A209-A6DA-15073E9C93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FBBCA7-B8CB-FC11-4C80-0FA6ACB34DFD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4A75D0-2EF8-FEEA-0A6F-ED177591D4AC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B8A45-D45D-FA90-8DFD-FC794B873DC5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600BC-9D3A-0B9B-3271-B35EAEA26ABA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대시보드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5830356-0F80-056B-7254-02F9D5897E46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91BC48-9314-D8F0-94A2-E67F6FCE3A66}"/>
              </a:ext>
            </a:extLst>
          </p:cNvPr>
          <p:cNvSpPr/>
          <p:nvPr/>
        </p:nvSpPr>
        <p:spPr>
          <a:xfrm>
            <a:off x="548640" y="1353312"/>
            <a:ext cx="6876288" cy="4599432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2AB2AC-860D-473A-59EF-3D80F5FDC13A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1561CFC-AD86-CD4D-9AB2-22AB1573C1B0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55A28F6-3241-D1D8-58BE-936E509D0CD2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C0B085B-3366-1F3D-C3B2-884DED8C7D90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905E2-32DE-76B7-9092-02D6B5C9F74D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/dashboard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B8DAD-A713-999A-0282-5A374895B880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F630F-9345-1097-36B2-8639AA75085E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03-dashboard.png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DA723-394B-6504-11CA-C46E48359FB0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9980298-7877-0295-5C6B-6E509028C302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927D16-5293-E1F9-93B1-8C3864D25F82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/dashboard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6D1696-A4FD-867A-9F0E-C808F6AA9343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6BDF65-8388-855E-7B74-491C3D578EFA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8BDC99-D7EF-07F4-4223-860682579EC7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AE380B-CCB1-7CBC-42E5-1A0DBCAEFAAE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현재 월 운영 상태의 시작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3CBF96-A5D6-D311-3A18-52A5237A2CAB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E5C67A-8F0A-D98A-1EBF-6DB746C6D60A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749CA4-AE7F-EFD5-7E2F-88C4C5E97891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B73494-DDF1-E1B2-BE22-8F0682A1EBD2}"/>
              </a:ext>
            </a:extLst>
          </p:cNvPr>
          <p:cNvSpPr txBox="1"/>
          <p:nvPr/>
        </p:nvSpPr>
        <p:spPr>
          <a:xfrm>
            <a:off x="7918704" y="318211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요약 숫자와 다음 액션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3B0ED5-D4E3-16E9-0FC7-AD4D994F8D16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896006-425D-8706-1F03-D9D58F544C1E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94BED8-3387-C625-198F-003143B824F3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36D87B-E108-A16E-19B9-81A78385F895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대시보드 조회 모델로 운영 데이터 요약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53E22F9-1F00-4346-6F62-62E5CAE6EAC3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2FFEB6-66B9-C0BD-C491-CE10ECC2F66C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4E388-304D-D512-446E-58CB6CABDFCF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63DA9D-AF8D-80D3-B1C0-04939D16F204}"/>
              </a:ext>
            </a:extLst>
          </p:cNvPr>
          <p:cNvSpPr txBox="1"/>
          <p:nvPr/>
        </p:nvSpPr>
        <p:spPr>
          <a:xfrm>
            <a:off x="7918704" y="515721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운영을 한 화면에서 시작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3348FB-AD27-60D1-9A03-2D4E0EE4FCD7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900714-11F7-AB38-3378-2CEB49C42832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21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491D29B-6936-7937-9BE5-F90643C9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6" t="13260" r="13805" b="-629"/>
          <a:stretch>
            <a:fillRect/>
          </a:stretch>
        </p:blipFill>
        <p:spPr>
          <a:xfrm>
            <a:off x="566929" y="1353312"/>
            <a:ext cx="6940295" cy="540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23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CF51F5-DD0C-F415-BE4E-49738D3E842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85898C-D032-6B6D-C9C1-C6E7D41DA02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9ECD1CD-9CD1-308F-B4A4-4342ABCF7745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355AB-7EF9-EFF7-6B03-45F8E1F5C8F6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53790-ABA8-29F1-C3F2-4A3CDFE896D2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허브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214A02-FE81-341C-1D95-49A5A22225E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7E8FDA-74EF-C889-5A17-7B6FE0A5E943}"/>
              </a:ext>
            </a:extLst>
          </p:cNvPr>
          <p:cNvSpPr/>
          <p:nvPr/>
        </p:nvSpPr>
        <p:spPr>
          <a:xfrm>
            <a:off x="548640" y="1353312"/>
            <a:ext cx="6876288" cy="4072289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438A7B-B301-C526-EE53-3E1BC2FAEF01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EE4D3E9-628A-796A-FDB8-C02307141838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1876B0-0B3A-F56F-41DD-329AC4324034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B3A42BA-32AC-CBA6-437C-054F8598BC65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38CD39-5D86-38CE-3BB8-AE5265027BEF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/operations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42D3DE-E7BA-6C9F-34D0-A9AB34F18FD2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1F7FB-7F6A-20E5-6210-0F5C3E5F61A2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04-operations.png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23B5D-8AB4-91EE-B066-0AA81BEF1F83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8CC65C7-02EB-6A87-540C-D069AFD7A6CB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BEBA6-D174-4E52-226C-6F4DA2D2BF60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/operations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FAB354-6676-8BCF-512B-E26623DB21B9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A7971B-43A4-DDB5-37E7-48D355124538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C7CDB6-49E2-DEA5-9899-81208AD48AB6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AB75B-47F4-5E5E-8070-9C18D135A8FD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전 운영 신호를 모으는 관제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70DC6E-14C9-0F32-EE3F-C100C33C5017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3C1ECC-EE0C-C28F-8C7C-DDF06F9E2137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1A728-38A2-C65A-337B-D808C09629C8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FD9EE9-A0EA-6792-7373-DF69D4D9F0F1}"/>
              </a:ext>
            </a:extLst>
          </p:cNvPr>
          <p:cNvSpPr txBox="1"/>
          <p:nvPr/>
        </p:nvSpPr>
        <p:spPr>
          <a:xfrm>
            <a:off x="7918704" y="3182112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우선 확인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차단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알림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EA3880-AF8C-BC14-5E4E-BA4C2384EA5B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4E5BCE-2D71-A19E-B154-9F8FADAF3996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9AC67C-2E85-92A5-6FB9-13B2358383E6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62BBCB-B66A-6323-D28D-3460FAEEC210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허브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와 운영 상태 연결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4DB6DC3-3253-0844-0FB3-A97250F132FA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D9654-FA88-0A2F-429F-FDDDEF78DB24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C7E233-4421-339E-81B0-3E77F4776D92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B95EA8-9CDF-3163-A605-F8C2B1FCADED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실제 운영자가 볼 화면까지 구성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903B0E-86D4-42CE-860B-121001329478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EA737-03D6-7903-4990-7E5CD171289C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22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3A78B16-2201-9E76-AA1C-F9C6BD6FF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05" t="8233" r="461"/>
          <a:stretch>
            <a:fillRect/>
          </a:stretch>
        </p:blipFill>
        <p:spPr>
          <a:xfrm>
            <a:off x="548639" y="1353312"/>
            <a:ext cx="6967347" cy="416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43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33476C-461E-E69C-C275-F67EBF16BA7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A5932B-260D-ECB1-A297-19CA99ACA217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EDBE36-A326-BFAB-BDC1-D158FD6FD8CE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D492D-B11C-992C-C587-59D352F83207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27E3F-BE77-05D7-FEE0-022CC5CA32F9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기준 데이터와 운영 준비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3ADF811-79AA-4105-82DF-C076FCA1C96F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551EAD-AF2E-C3D6-1650-9BD2312A861C}"/>
              </a:ext>
            </a:extLst>
          </p:cNvPr>
          <p:cNvSpPr/>
          <p:nvPr/>
        </p:nvSpPr>
        <p:spPr>
          <a:xfrm>
            <a:off x="548640" y="1353312"/>
            <a:ext cx="6876288" cy="4599432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DF5292-B12D-EACD-11B1-A8A473CF6433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EA42EBA-6FBE-CD20-6066-951A3C63868A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F733DDA-CB1D-0765-CEE8-ABB154E8211B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58EFD11-C1C5-C463-19A0-020FD49EBB87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F3BE4-28BF-C8AE-98BF-929AF8D75E28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/reference-data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E44FC-F41A-8138-9FC6-E6BC5260C1B4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A2B8E5-154A-707B-3515-FF9E8227C5B9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05-reference-data.png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FF8D8-BD97-D0DF-86C5-B4C30153873D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9FC83A7-E85A-21D9-248D-2E17F3F93700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E9E410-9419-C7CB-0D8C-F7629BBB77ED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/reference-data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9003C6-5EFE-5101-834F-BCF31B928AF9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C26B55-0326-5F46-71C0-491852A35FB2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713E1D-580D-67E6-74BD-A5D23D86EA2C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5797AD-7F24-B0B3-63E0-D23FE9651995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전 기준 데이터를 준비하는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3F58F0-0E55-589C-4390-02647C903486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1CCA31-19E7-7CBE-C52D-DFC48624B781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A0A62-0725-7FFC-F758-8B061BC2BB4B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56CDB-DD65-3C7B-8208-EB6CD7480DD7}"/>
              </a:ext>
            </a:extLst>
          </p:cNvPr>
          <p:cNvSpPr txBox="1"/>
          <p:nvPr/>
        </p:nvSpPr>
        <p:spPr>
          <a:xfrm>
            <a:off x="7918704" y="318211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준비 상태와 부족 항목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D9B4C6B-AA1F-383F-FD6A-90739A3F383C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851E72-7E88-E172-2E16-C9909B2B7D78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B551FC-3E3F-D2D4-3E16-B0F18A108233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A9B842-9A51-BDC1-318C-8349D4EEC35D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자금수단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카테고리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조회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연결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83BB7F-B199-0F92-94FA-41E01774D2D7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7DFB8F4-01F5-80A7-B6AB-564173F62D19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1D9D10-54C7-7C16-CDCB-3A23A24F565C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B3C06B-80E0-8CFE-022D-B3CDFFD42A6E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기준 데이터가 먼저임을 표현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7085E3-23B2-B884-B5EB-AAC99B6DF281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F1F3F1-7D5E-E3E6-2E66-00852066DDEE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23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4E3869E-0ECF-05D5-3B3E-E920D49B4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7" t="14603" r="11484"/>
          <a:stretch>
            <a:fillRect/>
          </a:stretch>
        </p:blipFill>
        <p:spPr>
          <a:xfrm>
            <a:off x="505968" y="1299075"/>
            <a:ext cx="6973825" cy="496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52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46511E-9DC4-57C3-E18C-401217BDB18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66C8D5-9ED4-F1C9-5C6E-B6F2687134D6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690CA2E-AC98-2D37-90B9-35E1705AB21A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5748B-0C0E-D8CE-5D3C-8CA859EE027B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0C9A5-5D79-39C8-9FEC-2067DFF01173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항목과 반복 규칙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534514C-F573-AC16-4FBA-1132BC7B9ECE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56ED68-D553-51F1-F990-9B7B19CFFEB2}"/>
              </a:ext>
            </a:extLst>
          </p:cNvPr>
          <p:cNvSpPr/>
          <p:nvPr/>
        </p:nvSpPr>
        <p:spPr>
          <a:xfrm>
            <a:off x="548640" y="1353312"/>
            <a:ext cx="6876288" cy="3803904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7496AF-BB5F-67A6-B06F-2E72CC3DA9FA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C46CFAF-984C-49D3-A640-3F7D2DF80556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7C14765-FD70-2174-F9F3-902E05ECAF01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52C8111-D3B9-F00B-DA22-7748FDE295BD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BA4483-0480-10D0-C99D-7F899B913D70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/plan-items, /recurring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06E7D-12DF-1059-1E3B-667843D359E5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B89CF7-28CB-919E-C549-507C89D4BE3A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06-plan-items-recurring.png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48157-AE26-9DF7-DF07-347C717CED0D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A2E94A-4DC6-8A28-CB01-DA22E6A9282A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BAF451-714C-D47C-324E-2F1C00BA3F97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/plan-items, /recurring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1548EA-4D68-283A-3562-427A06C9F2AA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1709152-E74C-D742-F44C-076B4351851E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AA090-92C4-57B7-B962-33EBE17327C4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4C5A8-747B-04FC-B587-BF4CAD77AF48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예정 거래를 실제 흐름과 잇는 계획 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D07FBC-98FA-04B3-C74A-399EBD64DEEB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F249499-3F85-052D-9F5C-22997BF9C7BF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05832C-A11B-8D93-F270-16F8A96B48CF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AC17A9-210B-8994-2204-0082D5CE9DA4}"/>
              </a:ext>
            </a:extLst>
          </p:cNvPr>
          <p:cNvSpPr txBox="1"/>
          <p:nvPr/>
        </p:nvSpPr>
        <p:spPr>
          <a:xfrm>
            <a:off x="7918704" y="318211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규칙과 계획 항목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77CC6A-7A5E-9EB0-57EF-13D7896A5F82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E5726E-AFF1-00E2-2A00-CD050A92169B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E753F9-C8CF-659D-7458-C48C59FD627A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CDD05-1917-EE89-B768-C84953CEC30D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반복 규칙과 계획 항목 모델 연결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C60CE3-FA4C-9994-BDC8-C929255BB974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0BD78C-5F43-0B7B-7676-6F02263617DD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7C6549-F267-8D90-74F0-71104B691E2D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72EF59-7082-A410-B187-119ECA250D90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사후 기록이 아닌 월 운영 준비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69627A-92E9-0FE7-3CEA-BAD1F6FBC329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6A212D-1CCD-F6D6-D4AB-95DC390752E7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24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CDE56B2-01E3-A8D5-8507-2AA7F7DB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09" t="15028" r="1568"/>
          <a:stretch>
            <a:fillRect/>
          </a:stretch>
        </p:blipFill>
        <p:spPr>
          <a:xfrm>
            <a:off x="521208" y="1317349"/>
            <a:ext cx="6931151" cy="38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78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F7A211-C77F-5AF0-9FF3-241DD5EBD6BB}"/>
              </a:ext>
            </a:extLst>
          </p:cNvPr>
          <p:cNvSpPr/>
          <p:nvPr/>
        </p:nvSpPr>
        <p:spPr>
          <a:xfrm>
            <a:off x="7772" y="41148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2304CB-459B-1E6B-233B-E315D5287E6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7E38EBC-5C91-BE79-0419-3FE5631335B4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A7AA4-6FDD-C57A-F8F6-23D28EF3FDE7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9800C-CBAE-D54F-5176-27D75C89D7CC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C59645-DC77-8754-1131-F5B8AC5B3A1A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E7DAEA-4EE7-6D8E-79EE-F30E12B8E098}"/>
              </a:ext>
            </a:extLst>
          </p:cNvPr>
          <p:cNvSpPr/>
          <p:nvPr/>
        </p:nvSpPr>
        <p:spPr>
          <a:xfrm>
            <a:off x="548640" y="1353312"/>
            <a:ext cx="6876288" cy="4247384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5C943A-B84F-4621-26EA-8AF574F622BD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F1B96C9-A5A4-0ADF-49C1-DB6A439D330C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349C2AD-818E-4A5C-6E63-218AA7FCD9C5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D63A482-C26B-DA93-B577-86BBC3614D47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63C8D-A8AA-C36F-3384-00740C5E2C1F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/transactions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D9AC2-5A73-3E42-64B5-4BE77821DE30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E01525-C8EF-5FAF-F1B1-FFACE668D45D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08-transactions.png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2F5FE-55B5-A54D-E038-B13C53EC8408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01AC82-0C93-F526-9917-7A7FF62AEC0F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639DF-A932-39A5-F4FD-41F179CF96A6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/transactions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26B6BA-B553-1DF2-ED68-48725CB62C2D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06AB3F-82D2-B205-768E-E0CBC3FF6014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9AF2DA-D131-FCC0-F649-D1696960E8BD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29EC76-837A-FDA2-231C-B6EB535CF62C}"/>
              </a:ext>
            </a:extLst>
          </p:cNvPr>
          <p:cNvSpPr txBox="1"/>
          <p:nvPr/>
        </p:nvSpPr>
        <p:spPr>
          <a:xfrm>
            <a:off x="7918704" y="2194560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공식 전표 전 거래 검토 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717F33-3A2D-B47F-643F-7780818A7BDE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48BE7B-077B-0544-8667-D9AF1A5457CA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2C4414-9701-9373-4DF4-0E151A91548F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69EBCF-3EE4-D674-EBCD-006F23DDBECF}"/>
              </a:ext>
            </a:extLst>
          </p:cNvPr>
          <p:cNvSpPr txBox="1"/>
          <p:nvPr/>
        </p:nvSpPr>
        <p:spPr>
          <a:xfrm>
            <a:off x="7918704" y="3182112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금액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분류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계획 연결 후 전표 확정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10A9B0-C5E4-94F9-2CD4-16BD2EAE5612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2C2658-3F44-7B8D-3B3E-7098E7812C5B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FF504A-C5F4-AEBA-7DAB-E49CA609F78A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99C06D-C9BF-7916-F32C-26BC52314668}"/>
              </a:ext>
            </a:extLst>
          </p:cNvPr>
          <p:cNvSpPr txBox="1"/>
          <p:nvPr/>
        </p:nvSpPr>
        <p:spPr>
          <a:xfrm>
            <a:off x="7918704" y="416966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거래와 전표 모델 분리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AED0707-5D7B-73EE-38C6-9EA31183E7E6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CA73B55-8721-31E7-C7D2-3CDCB711BDA3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9E49F0-381A-0837-FBE0-89AC63FA9BE0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9D08F2-D4A0-BA2B-3EC0-B0E8A5C57F88}"/>
              </a:ext>
            </a:extLst>
          </p:cNvPr>
          <p:cNvSpPr txBox="1"/>
          <p:nvPr/>
        </p:nvSpPr>
        <p:spPr>
          <a:xfrm>
            <a:off x="7918704" y="515721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회계 상태 전이를 설계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29FABA-07CD-F8D9-889A-F7A735B21E6C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5C29CC-0C3E-FC96-F083-F6050034CBF4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25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5BEA02CD-E39F-C07C-7DC5-5900F0CF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77" t="14962" r="6375" b="423"/>
          <a:stretch>
            <a:fillRect/>
          </a:stretch>
        </p:blipFill>
        <p:spPr>
          <a:xfrm>
            <a:off x="552070" y="1360642"/>
            <a:ext cx="6956632" cy="433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4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4D06243-A4DF-5FCF-90DB-EE38F1947A6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E07346-F363-D6AA-8AA9-A6244AC2FF43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27A532C-021D-5858-E32D-E84CB74E87BF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6FB0A-1BD9-0F6A-2D3D-5B92445AB0AE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7BB14-9226-05D2-2F20-AEF3297EC9EE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업로드와 수집 처리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4D1C30-C375-23A6-1C12-65B8011DEA41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988C4D-7EDE-2FA2-082F-5BEEB2F57C19}"/>
              </a:ext>
            </a:extLst>
          </p:cNvPr>
          <p:cNvSpPr/>
          <p:nvPr/>
        </p:nvSpPr>
        <p:spPr>
          <a:xfrm>
            <a:off x="548640" y="1353312"/>
            <a:ext cx="6876288" cy="3785617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598C0C-7B9E-3F74-B6FC-217C71D81BF5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FCEF5A6-2388-3E1C-5AFF-869A389E2706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D0D5AE0-6A9D-D2CF-E144-D0E5DCC28A49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CD58A99-51FA-EAE1-9D6E-02CFC43CCFD1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A88677-251E-5021-FF06-EE79E9D46A2B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/imports, /imports/[batchId]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DD1F4-C703-B2FC-F683-A3BFD8CF3CC7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D868D-28F2-D482-FF48-7F153B9F49AC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09-imports.png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DF1BD-8622-4DB0-38F6-AC8A7F650E27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A05E825-972D-55E0-0FEC-EB153B5A4CD6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97855-207B-B69A-6612-07AD77D04FD1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/imports, /imports/[batchId]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259A0E-42FC-6CB4-214B-EFAE1D9BD1DF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14FB05-D58B-0B07-8321-D1D778DEA6BA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7871EC-F3A4-E7F0-2A16-8B61930D9AA3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37A4D9-6668-5C49-58F2-B1A70AE26BF5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외부 원본을 거래 후보로 바꾸는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013F79-AD9C-6A2A-4DFB-59C97BF44A79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01FDA3-19F2-CA13-A09D-4318E447D313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669E05-B5C9-775C-0A47-75F7FF29E202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26D656-F15A-D20A-865B-35D8EF43716B}"/>
              </a:ext>
            </a:extLst>
          </p:cNvPr>
          <p:cNvSpPr txBox="1"/>
          <p:nvPr/>
        </p:nvSpPr>
        <p:spPr>
          <a:xfrm>
            <a:off x="7918704" y="318211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행 상태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중복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일괄 수집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011D92-6400-B95C-C316-F61E101C346F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7DE0EC-22D9-C14F-339D-61E61BCF80A7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3D471D-E41F-D627-C381-D1DAAB410C9E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D9DE80-5C53-B6E7-8C65-9723629D4C8A}"/>
              </a:ext>
            </a:extLst>
          </p:cNvPr>
          <p:cNvSpPr txBox="1"/>
          <p:nvPr/>
        </p:nvSpPr>
        <p:spPr>
          <a:xfrm>
            <a:off x="7918704" y="416966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원본을 수집 단계로 승격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0322C7D-BDC3-C4AB-FF38-1D73A39D504A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772C5E-7E16-EFC0-7580-487A3499C0F2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C43DCE-F90A-CF32-3171-95079DB68FF3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5B4CD8-013F-DC04-4CED-212792A463CC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실제 운영 데이터 유입까지 고려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560CF2-A857-5719-254D-BFEB2453135F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4CD954-E4F1-B3BA-61F7-7BA47977C59C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26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276655CB-A3D8-B163-FD8B-6870B05D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48" t="15449" r="1672"/>
          <a:stretch>
            <a:fillRect/>
          </a:stretch>
        </p:blipFill>
        <p:spPr>
          <a:xfrm>
            <a:off x="548640" y="1328446"/>
            <a:ext cx="6919676" cy="38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1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84E93A-583A-0820-FB09-1EDB4876C579}"/>
              </a:ext>
            </a:extLst>
          </p:cNvPr>
          <p:cNvSpPr/>
          <p:nvPr/>
        </p:nvSpPr>
        <p:spPr>
          <a:xfrm>
            <a:off x="4572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D331AE-1F38-9930-B3F7-355C7BF31BF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B3B79E-9DE1-518C-840B-E5473328DC4D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C05EE-AF58-7132-EACB-AB46AE44F29E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E6544-77B1-8F19-FB35-E67612A99756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조회와 정정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F0A75C5-0B3C-004B-F76E-A62D7105C608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1CB87B-7558-98C2-8C2C-195EEB9B49DD}"/>
              </a:ext>
            </a:extLst>
          </p:cNvPr>
          <p:cNvSpPr/>
          <p:nvPr/>
        </p:nvSpPr>
        <p:spPr>
          <a:xfrm>
            <a:off x="548640" y="1353312"/>
            <a:ext cx="6876288" cy="3785617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FCA3FF-F6F6-3778-C4BF-8B0CDDBF5173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D404D0-5FBA-6EE8-9B35-D3E73ECEB446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53EE69B-AD28-3391-C95F-45290A99F3DE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F88D2A9-0749-CB54-2D91-2AA921582855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E757C-2D25-98C5-3306-03F13FEE77E4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/journal-entries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65514-C349-0BDA-227C-0966F1F1CBFB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60DEC-70C5-B6F2-ADC6-89DF4FD4FEF7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10-journal-entries.png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A396F-1674-C0E1-6364-1F74989F598A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FE1CCA6-084F-A872-FBE5-2FFFA8EFCA10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D7194-5FEB-06AB-1F3D-454DEB0790FC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/journal-entries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4B75D1-4838-EFA1-3414-968A00EFAAE4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4A8C1F-CA37-AB49-55FA-A276A7E90598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4204ED-E9C9-98E2-68FE-55B01524A28C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E1E8D-5764-5954-D200-8F1CD82EDBAB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마감과 보고의 기준인 공식 기록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886774-5727-ECF4-49A8-6D3579C809EB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FEE47A-A9E6-AAB0-D7BF-305F1AF34115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355398-9CAE-7DAF-56E3-CA4DBAE99BAF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F97071-0BAC-AA7B-3632-52A1D5117A28}"/>
              </a:ext>
            </a:extLst>
          </p:cNvPr>
          <p:cNvSpPr txBox="1"/>
          <p:nvPr/>
        </p:nvSpPr>
        <p:spPr>
          <a:xfrm>
            <a:off x="7918704" y="3182112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전표 번호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라인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반전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CDBC354-3AEF-FCF9-099C-E1AFA60535FB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A095D6-7621-B68A-88EA-EEED68790A9B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1161D5-AA55-2526-9B6B-99765EAE5E80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AFAD9C-6DF5-2569-8CDF-2757EB1F2744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확정 후 수정은 반전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정정으로 추적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551EFA-B8B6-6AAA-1AC1-0DE7C4B8BA6D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A185F99-DF00-E529-315D-2228717B1B22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03F974-F02A-443D-75C7-2C07726AB7EF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7FC2F-B6E1-62C5-1412-5BDB51409217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회계 경계를 화면으로 설명 가능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E0F979-8747-BE93-7E9E-74D73311AD68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9FFB8A-DCDF-3787-D36A-9F41DD0B14B6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27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D07AD97-22D3-C00A-01BC-C3D9911D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75" t="15346" r="1751" b="1716"/>
          <a:stretch>
            <a:fillRect/>
          </a:stretch>
        </p:blipFill>
        <p:spPr>
          <a:xfrm>
            <a:off x="498423" y="1352699"/>
            <a:ext cx="6976721" cy="38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62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E8752D-23F2-C6CC-3A51-67DCF83A0F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E9F88-8A9E-5C63-D6A4-0D7DDDC06A5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304DDE8-BFD0-E869-C9E5-F0A07B53E865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B6A4-E125-C493-06A3-49877C1C1B97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8C955-1304-4F2E-1874-47A5FB76E51B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마감과 재무제표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99D0B72-E4CD-EFE5-17D2-6A1DD02D4367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F98FA-19AC-4895-D080-921B1BDB7CF8}"/>
              </a:ext>
            </a:extLst>
          </p:cNvPr>
          <p:cNvSpPr/>
          <p:nvPr/>
        </p:nvSpPr>
        <p:spPr>
          <a:xfrm>
            <a:off x="548640" y="1353312"/>
            <a:ext cx="6876288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BF5446-0088-7ACC-4A41-C24F9DD2E3B5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2277F4-5D74-E0F0-31BF-8D05BC894F94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82BFD7C-7B27-3F48-1F49-EB8A8ED98BF9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236FAB6-7D55-89FD-E426-9C2E30A27BD3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AE0400-264C-88D5-A7FA-5F7F191A28D0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/periods, /financial-statements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EF4337-8BA1-10B0-8456-9A9765B1D160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4630A-137D-23ED-E78E-10626D8A875E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11-periods-financial-statements.png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E2F19-76A9-C818-AC48-857B36611A9F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6C3695-3CBB-450A-66AF-E2C2815F0631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86575-E2FD-5167-F400-4FAFC2303DB0}"/>
              </a:ext>
            </a:extLst>
          </p:cNvPr>
          <p:cNvSpPr txBox="1"/>
          <p:nvPr/>
        </p:nvSpPr>
        <p:spPr>
          <a:xfrm>
            <a:off x="7882128" y="1444752"/>
            <a:ext cx="315468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/periods, /financial-statements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A4CF1F-A62A-A810-41D1-118381E0D85E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7C74D5-D037-CDBC-5CFB-F8E4AFF6CFD1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D0BCC1-8A67-D552-EE53-7B885527FDA4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45B273-08A4-2200-6541-878D0D0AA62B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운영을 닫고 보고서로 남기는 화면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37BB96-B269-5A5D-BB44-7DA4C1CA6F4D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97AD33-60DE-BC7E-726D-FA598922B1C8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2545E9-1324-8457-CAA7-F5F0EB23B829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582BA-FCAD-44F5-684E-33882B6484CB}"/>
              </a:ext>
            </a:extLst>
          </p:cNvPr>
          <p:cNvSpPr txBox="1"/>
          <p:nvPr/>
        </p:nvSpPr>
        <p:spPr>
          <a:xfrm>
            <a:off x="7918704" y="3182112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조건과 재무제표 스냅샷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765E4C-81F9-EEEB-8919-93328569291E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56916B-C795-C3C8-3F75-38AD4C4E4D10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DD5818-1F44-9932-05E3-2ED11A484250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224732-6897-4C60-5648-F0187FF6029D}"/>
              </a:ext>
            </a:extLst>
          </p:cNvPr>
          <p:cNvSpPr txBox="1"/>
          <p:nvPr/>
        </p:nvSpPr>
        <p:spPr>
          <a:xfrm>
            <a:off x="7918704" y="4169664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잠긴 운영 기간과 재무제표 스냅샷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CDC0AE-7283-FD8C-FBFD-6884238BE619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847E0E4-AE1D-EF68-8B2D-FC25FF87C276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1BCDEE-D2C4-1D43-E42D-EB5D40AA3FAE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061117-0488-0005-2F90-72498D4B903F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운영 마감 흐름을 직접 증명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8B4A11-BF9A-5A4C-3B74-A48395008F76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60D0D9-CD00-5FE2-3052-44FA399AB313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28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F2747C2-5A1C-D038-B3E5-223503830C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19" t="16077" r="1484"/>
          <a:stretch>
            <a:fillRect/>
          </a:stretch>
        </p:blipFill>
        <p:spPr>
          <a:xfrm>
            <a:off x="548640" y="1348105"/>
            <a:ext cx="6931152" cy="385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91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9855B8-E6D4-65B3-4BE2-767FEC921C4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313CB1-7466-3478-E2B7-F6F6BA44B224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15D62F-A466-700C-1CF5-17BDE4225E3A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8F3E6-E9F3-1E4C-19FC-E84BF0BCAEBA}"/>
              </a:ext>
            </a:extLst>
          </p:cNvPr>
          <p:cNvSpPr txBox="1"/>
          <p:nvPr/>
        </p:nvSpPr>
        <p:spPr>
          <a:xfrm>
            <a:off x="630936" y="338328"/>
            <a:ext cx="9601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SCREEN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E8A59-A44B-5AF9-336B-398C4E48C73C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차기 이월과 전망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CED42E-6C37-1633-A2EC-8F5FC44736EC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63EFEB-54B8-A5DF-19A4-BE6412A843DB}"/>
              </a:ext>
            </a:extLst>
          </p:cNvPr>
          <p:cNvSpPr/>
          <p:nvPr/>
        </p:nvSpPr>
        <p:spPr>
          <a:xfrm>
            <a:off x="548640" y="1353312"/>
            <a:ext cx="6876288" cy="4599432"/>
          </a:xfrm>
          <a:prstGeom prst="rect">
            <a:avLst/>
          </a:prstGeom>
          <a:solidFill>
            <a:srgbClr val="FFFFFF"/>
          </a:solidFill>
          <a:ln w="10160">
            <a:solidFill>
              <a:srgbClr val="94A3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E85DA3-603C-DF37-ABDA-280BCE7EE150}"/>
              </a:ext>
            </a:extLst>
          </p:cNvPr>
          <p:cNvSpPr/>
          <p:nvPr/>
        </p:nvSpPr>
        <p:spPr>
          <a:xfrm>
            <a:off x="548640" y="1353312"/>
            <a:ext cx="6876288" cy="365760"/>
          </a:xfrm>
          <a:prstGeom prst="rect">
            <a:avLst/>
          </a:prstGeom>
          <a:solidFill>
            <a:srgbClr val="F1F5F9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13BEDA2-A813-D4CC-1B54-AFB5E5C32F9A}"/>
              </a:ext>
            </a:extLst>
          </p:cNvPr>
          <p:cNvSpPr/>
          <p:nvPr/>
        </p:nvSpPr>
        <p:spPr>
          <a:xfrm>
            <a:off x="713232" y="1490472"/>
            <a:ext cx="82296" cy="82296"/>
          </a:xfrm>
          <a:prstGeom prst="ellipse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295187E-A1C9-3954-6D6B-1D7923B22E48}"/>
              </a:ext>
            </a:extLst>
          </p:cNvPr>
          <p:cNvSpPr/>
          <p:nvPr/>
        </p:nvSpPr>
        <p:spPr>
          <a:xfrm>
            <a:off x="859536" y="1490472"/>
            <a:ext cx="82296" cy="82296"/>
          </a:xfrm>
          <a:prstGeom prst="ellipse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C7EA0F-2817-20CD-E070-75313931F93A}"/>
              </a:ext>
            </a:extLst>
          </p:cNvPr>
          <p:cNvSpPr/>
          <p:nvPr/>
        </p:nvSpPr>
        <p:spPr>
          <a:xfrm>
            <a:off x="1005840" y="1490472"/>
            <a:ext cx="82296" cy="82296"/>
          </a:xfrm>
          <a:prstGeom prst="ellipse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AF5A4-AAA6-390F-0AFC-A618C1DA5903}"/>
              </a:ext>
            </a:extLst>
          </p:cNvPr>
          <p:cNvSpPr txBox="1"/>
          <p:nvPr/>
        </p:nvSpPr>
        <p:spPr>
          <a:xfrm>
            <a:off x="1188720" y="1463040"/>
            <a:ext cx="59618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/carry-forwards, /forecast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AAA4C-67D3-DA62-5202-87B89D31DFAB}"/>
              </a:ext>
            </a:extLst>
          </p:cNvPr>
          <p:cNvSpPr txBox="1"/>
          <p:nvPr/>
        </p:nvSpPr>
        <p:spPr>
          <a:xfrm>
            <a:off x="777240" y="2084832"/>
            <a:ext cx="641908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102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캡처 삽입 영역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401D6-E165-9DF6-3FE4-7708A659E36A}"/>
              </a:ext>
            </a:extLst>
          </p:cNvPr>
          <p:cNvSpPr txBox="1"/>
          <p:nvPr/>
        </p:nvSpPr>
        <p:spPr>
          <a:xfrm>
            <a:off x="868680" y="3470148"/>
            <a:ext cx="623620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70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13-carry-forwards-forecast.png</a:t>
            </a:r>
            <a:endParaRPr lang="ko-KR" altLang="en-US" sz="1700" b="1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79551-807A-D8BF-8E60-5014FE41D77A}"/>
              </a:ext>
            </a:extLst>
          </p:cNvPr>
          <p:cNvSpPr txBox="1"/>
          <p:nvPr/>
        </p:nvSpPr>
        <p:spPr>
          <a:xfrm>
            <a:off x="1051560" y="3909060"/>
            <a:ext cx="5870448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ko-KR" altLang="en-US" sz="94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영역에 실제 화면 캡처를 배치하세요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CE3BE8A-E982-7458-984E-E0A4D5BA01EF}"/>
              </a:ext>
            </a:extLst>
          </p:cNvPr>
          <p:cNvSpPr/>
          <p:nvPr/>
        </p:nvSpPr>
        <p:spPr>
          <a:xfrm>
            <a:off x="7754112" y="1353312"/>
            <a:ext cx="3493008" cy="329184"/>
          </a:xfrm>
          <a:prstGeom prst="roundRect">
            <a:avLst/>
          </a:prstGeom>
          <a:solidFill>
            <a:srgbClr val="EE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B8FAF2-A571-8820-6958-FB696B017CFB}"/>
              </a:ext>
            </a:extLst>
          </p:cNvPr>
          <p:cNvSpPr txBox="1"/>
          <p:nvPr/>
        </p:nvSpPr>
        <p:spPr>
          <a:xfrm>
            <a:off x="7882128" y="1444752"/>
            <a:ext cx="31546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85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/carry-forwards, /forecast</a:t>
            </a:r>
            <a:endParaRPr lang="ko-KR" altLang="en-US" sz="85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0EE1B6-D0DC-E2CD-F5A4-31A3363C9C43}"/>
              </a:ext>
            </a:extLst>
          </p:cNvPr>
          <p:cNvSpPr/>
          <p:nvPr/>
        </p:nvSpPr>
        <p:spPr>
          <a:xfrm>
            <a:off x="7754112" y="1847088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3701FC-D0DB-931E-588B-476513A9BB49}"/>
              </a:ext>
            </a:extLst>
          </p:cNvPr>
          <p:cNvSpPr/>
          <p:nvPr/>
        </p:nvSpPr>
        <p:spPr>
          <a:xfrm>
            <a:off x="7754112" y="1847088"/>
            <a:ext cx="64008" cy="859536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FE49A-1669-17D3-4BBB-0520360C317C}"/>
              </a:ext>
            </a:extLst>
          </p:cNvPr>
          <p:cNvSpPr txBox="1"/>
          <p:nvPr/>
        </p:nvSpPr>
        <p:spPr>
          <a:xfrm>
            <a:off x="7918704" y="194767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 화면의 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FE5862-F8A8-A90F-1519-F374CC9F3345}"/>
              </a:ext>
            </a:extLst>
          </p:cNvPr>
          <p:cNvSpPr txBox="1"/>
          <p:nvPr/>
        </p:nvSpPr>
        <p:spPr>
          <a:xfrm>
            <a:off x="7918704" y="2194560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결과를 다음 월 시작점으로 연결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0A9EF9-38EC-9483-9277-3EC48ECD1AB0}"/>
              </a:ext>
            </a:extLst>
          </p:cNvPr>
          <p:cNvSpPr/>
          <p:nvPr/>
        </p:nvSpPr>
        <p:spPr>
          <a:xfrm>
            <a:off x="7754112" y="2834640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D62B23-DE43-5010-1B4D-CA5BA94FEBCB}"/>
              </a:ext>
            </a:extLst>
          </p:cNvPr>
          <p:cNvSpPr/>
          <p:nvPr/>
        </p:nvSpPr>
        <p:spPr>
          <a:xfrm>
            <a:off x="7754112" y="2834640"/>
            <a:ext cx="64008" cy="85953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849B5-1CD2-2E8E-5A26-0ACA727DC072}"/>
              </a:ext>
            </a:extLst>
          </p:cNvPr>
          <p:cNvSpPr txBox="1"/>
          <p:nvPr/>
        </p:nvSpPr>
        <p:spPr>
          <a:xfrm>
            <a:off x="7918704" y="293522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사용자가 하는 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FA1624-CA58-B84E-8970-958A1607B750}"/>
              </a:ext>
            </a:extLst>
          </p:cNvPr>
          <p:cNvSpPr txBox="1"/>
          <p:nvPr/>
        </p:nvSpPr>
        <p:spPr>
          <a:xfrm>
            <a:off x="7918704" y="3182112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이월과 다음 달 전망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23D1EE-D433-A40C-1AF1-A271B2719932}"/>
              </a:ext>
            </a:extLst>
          </p:cNvPr>
          <p:cNvSpPr/>
          <p:nvPr/>
        </p:nvSpPr>
        <p:spPr>
          <a:xfrm>
            <a:off x="7754112" y="3822192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D9FE65-6C69-2C12-4FBA-274D5A53CDE1}"/>
              </a:ext>
            </a:extLst>
          </p:cNvPr>
          <p:cNvSpPr/>
          <p:nvPr/>
        </p:nvSpPr>
        <p:spPr>
          <a:xfrm>
            <a:off x="7754112" y="3822192"/>
            <a:ext cx="64008" cy="85953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3ACCF-7AE0-5E21-87E9-3B181FBB317C}"/>
              </a:ext>
            </a:extLst>
          </p:cNvPr>
          <p:cNvSpPr txBox="1"/>
          <p:nvPr/>
        </p:nvSpPr>
        <p:spPr>
          <a:xfrm>
            <a:off x="7918704" y="3922776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334380-4748-C0BB-1E1B-00C8917617ED}"/>
              </a:ext>
            </a:extLst>
          </p:cNvPr>
          <p:cNvSpPr txBox="1"/>
          <p:nvPr/>
        </p:nvSpPr>
        <p:spPr>
          <a:xfrm>
            <a:off x="7918704" y="4169664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마감 스냅샷 기반 차기 이월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8A0F3ED-1D42-F9D9-F222-D2E4EC5F641A}"/>
              </a:ext>
            </a:extLst>
          </p:cNvPr>
          <p:cNvSpPr/>
          <p:nvPr/>
        </p:nvSpPr>
        <p:spPr>
          <a:xfrm>
            <a:off x="7754112" y="4809744"/>
            <a:ext cx="3493008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A336F4-65F1-1EC8-9846-4A667602348B}"/>
              </a:ext>
            </a:extLst>
          </p:cNvPr>
          <p:cNvSpPr/>
          <p:nvPr/>
        </p:nvSpPr>
        <p:spPr>
          <a:xfrm>
            <a:off x="7754112" y="4809744"/>
            <a:ext cx="64008" cy="859536"/>
          </a:xfrm>
          <a:prstGeom prst="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DF3EA2-1D5A-29DF-9914-6DB6A3011EA7}"/>
              </a:ext>
            </a:extLst>
          </p:cNvPr>
          <p:cNvSpPr txBox="1"/>
          <p:nvPr/>
        </p:nvSpPr>
        <p:spPr>
          <a:xfrm>
            <a:off x="7918704" y="4910328"/>
            <a:ext cx="32004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E11D4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포트폴리오 메시지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BCE4B4-12CE-DD50-989D-EBE4F05D8A6E}"/>
              </a:ext>
            </a:extLst>
          </p:cNvPr>
          <p:cNvSpPr txBox="1"/>
          <p:nvPr/>
        </p:nvSpPr>
        <p:spPr>
          <a:xfrm>
            <a:off x="7918704" y="5157216"/>
            <a:ext cx="320040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월 마감 이후까지 이어지는 제품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7B2596-CD76-4E22-AF2E-A86B64ED5DC3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93058B-092E-6DE7-1EC2-4D546EFC0627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29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9DA6F0A-A856-DA92-7CFA-6E775F1D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81" t="14603" r="11094"/>
          <a:stretch>
            <a:fillRect/>
          </a:stretch>
        </p:blipFill>
        <p:spPr>
          <a:xfrm>
            <a:off x="548640" y="1299075"/>
            <a:ext cx="6976872" cy="491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28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CF1109-F0D1-1630-C039-558A2CF2764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9F8DF-C9A5-C1FE-B72C-873C62AB7146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D4EA87-2E53-A204-B6E8-E7491887AA75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47CBF-A33D-0142-47BE-23680091B849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QUALITY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2E692-A58D-F50F-AB11-14867102EFF5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 체계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FEA1781-26DC-3555-FCB8-12530671ED4B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F687AE-AE66-C595-531A-156C4CDD7F2F}"/>
              </a:ext>
            </a:extLst>
          </p:cNvPr>
          <p:cNvSpPr/>
          <p:nvPr/>
        </p:nvSpPr>
        <p:spPr>
          <a:xfrm>
            <a:off x="685800" y="1417320"/>
            <a:ext cx="23774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0B928F-CB9E-69CA-A19A-864E79BAB981}"/>
              </a:ext>
            </a:extLst>
          </p:cNvPr>
          <p:cNvSpPr/>
          <p:nvPr/>
        </p:nvSpPr>
        <p:spPr>
          <a:xfrm>
            <a:off x="685800" y="1417320"/>
            <a:ext cx="2377440" cy="7315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D98D3-D6BE-46D2-0AEE-F085BE82163F}"/>
              </a:ext>
            </a:extLst>
          </p:cNvPr>
          <p:cNvSpPr txBox="1"/>
          <p:nvPr/>
        </p:nvSpPr>
        <p:spPr>
          <a:xfrm>
            <a:off x="777240" y="1618488"/>
            <a:ext cx="2194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pPr algn="ctr"/>
            <a:r>
              <a:rPr lang="en-US" altLang="ko-KR" sz="26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61</a:t>
            </a:r>
            <a:endParaRPr lang="ko-KR" altLang="en-US" sz="260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E0293-A59A-DBF2-6BF4-4AD8A33B44D8}"/>
              </a:ext>
            </a:extLst>
          </p:cNvPr>
          <p:cNvSpPr txBox="1"/>
          <p:nvPr/>
        </p:nvSpPr>
        <p:spPr>
          <a:xfrm>
            <a:off x="850392" y="2075688"/>
            <a:ext cx="204825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 route
</a:t>
            </a:r>
            <a:r>
              <a:rPr lang="ko-KR" altLang="en-US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문서</a:t>
            </a:r>
            <a:r>
              <a:rPr lang="en-US" altLang="ko-KR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-</a:t>
            </a:r>
            <a:r>
              <a:rPr lang="ko-KR" altLang="en-US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코드 대조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34175-D153-2D62-448F-25648863A72D}"/>
              </a:ext>
            </a:extLst>
          </p:cNvPr>
          <p:cNvSpPr/>
          <p:nvPr/>
        </p:nvSpPr>
        <p:spPr>
          <a:xfrm>
            <a:off x="3447288" y="1417320"/>
            <a:ext cx="23774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F73210-9C23-4CC1-76E1-885A663F7FFB}"/>
              </a:ext>
            </a:extLst>
          </p:cNvPr>
          <p:cNvSpPr/>
          <p:nvPr/>
        </p:nvSpPr>
        <p:spPr>
          <a:xfrm>
            <a:off x="3447288" y="1417320"/>
            <a:ext cx="2377440" cy="73152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5CD17-7D53-FD04-33E2-D7DC8291D511}"/>
              </a:ext>
            </a:extLst>
          </p:cNvPr>
          <p:cNvSpPr txBox="1"/>
          <p:nvPr/>
        </p:nvSpPr>
        <p:spPr>
          <a:xfrm>
            <a:off x="3538728" y="1618488"/>
            <a:ext cx="2194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pPr algn="ctr"/>
            <a:r>
              <a:rPr lang="en-US" altLang="ko-KR" sz="260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136</a:t>
            </a:r>
            <a:endParaRPr lang="ko-KR" altLang="en-US" sz="260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08F2C-C6B7-D6FE-7D58-B051DAAE5217}"/>
              </a:ext>
            </a:extLst>
          </p:cNvPr>
          <p:cNvSpPr txBox="1"/>
          <p:nvPr/>
        </p:nvSpPr>
        <p:spPr>
          <a:xfrm>
            <a:off x="3611880" y="2075688"/>
            <a:ext cx="2048256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 operation
Swagger/controller </a:t>
            </a:r>
            <a:r>
              <a:rPr lang="ko-KR" altLang="en-US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대조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2A8478-6C02-E6C1-267C-3201B3F64E2D}"/>
              </a:ext>
            </a:extLst>
          </p:cNvPr>
          <p:cNvSpPr/>
          <p:nvPr/>
        </p:nvSpPr>
        <p:spPr>
          <a:xfrm>
            <a:off x="6208776" y="1417320"/>
            <a:ext cx="23774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30A762-4809-443C-7477-6840C9173D4F}"/>
              </a:ext>
            </a:extLst>
          </p:cNvPr>
          <p:cNvSpPr/>
          <p:nvPr/>
        </p:nvSpPr>
        <p:spPr>
          <a:xfrm>
            <a:off x="6208776" y="1417320"/>
            <a:ext cx="2377440" cy="73152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91D2DF-AA23-662D-14DA-44A1DF0DEDAE}"/>
              </a:ext>
            </a:extLst>
          </p:cNvPr>
          <p:cNvSpPr txBox="1"/>
          <p:nvPr/>
        </p:nvSpPr>
        <p:spPr>
          <a:xfrm>
            <a:off x="6300216" y="1618488"/>
            <a:ext cx="2194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pPr algn="ctr"/>
            <a:r>
              <a:rPr lang="en-US" altLang="ko-KR" sz="260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37</a:t>
            </a:r>
            <a:endParaRPr lang="ko-KR" altLang="en-US" sz="260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152797-EC83-1390-6FD7-70492D385059}"/>
              </a:ext>
            </a:extLst>
          </p:cNvPr>
          <p:cNvSpPr txBox="1"/>
          <p:nvPr/>
        </p:nvSpPr>
        <p:spPr>
          <a:xfrm>
            <a:off x="6373368" y="2075688"/>
            <a:ext cx="204825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 tests
pass 37</a:t>
            </a:r>
            <a:endParaRPr lang="ko-KR" altLang="en-US" sz="103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8F426C-B642-90C5-4A8C-39674765D8F7}"/>
              </a:ext>
            </a:extLst>
          </p:cNvPr>
          <p:cNvSpPr/>
          <p:nvPr/>
        </p:nvSpPr>
        <p:spPr>
          <a:xfrm>
            <a:off x="8970264" y="1417320"/>
            <a:ext cx="23774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58CB4D-A38B-D1D2-A840-965D58271271}"/>
              </a:ext>
            </a:extLst>
          </p:cNvPr>
          <p:cNvSpPr/>
          <p:nvPr/>
        </p:nvSpPr>
        <p:spPr>
          <a:xfrm>
            <a:off x="8970264" y="1417320"/>
            <a:ext cx="2377440" cy="73152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42B2A-8D19-0250-88FD-BB321B05C890}"/>
              </a:ext>
            </a:extLst>
          </p:cNvPr>
          <p:cNvSpPr txBox="1"/>
          <p:nvPr/>
        </p:nvSpPr>
        <p:spPr>
          <a:xfrm>
            <a:off x="9061704" y="1618488"/>
            <a:ext cx="21945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pPr algn="ctr"/>
            <a:r>
              <a:rPr lang="en-US" altLang="ko-KR" sz="260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359</a:t>
            </a:r>
            <a:endParaRPr lang="ko-KR" altLang="en-US" sz="260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AEF8CD-6364-3C19-1AF8-9C2D7F0AA7EE}"/>
              </a:ext>
            </a:extLst>
          </p:cNvPr>
          <p:cNvSpPr txBox="1"/>
          <p:nvPr/>
        </p:nvSpPr>
        <p:spPr>
          <a:xfrm>
            <a:off x="9134856" y="2075688"/>
            <a:ext cx="2048256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103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 tests
pass 359 / skip 6</a:t>
            </a:r>
            <a:endParaRPr lang="ko-KR" altLang="en-US" sz="103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01927D-D1BB-5FC0-7E7A-8D6F5093C958}"/>
              </a:ext>
            </a:extLst>
          </p:cNvPr>
          <p:cNvSpPr/>
          <p:nvPr/>
        </p:nvSpPr>
        <p:spPr>
          <a:xfrm>
            <a:off x="868680" y="3246120"/>
            <a:ext cx="480060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FBD7DA-70C4-25FD-E6FC-769EBB1E959C}"/>
              </a:ext>
            </a:extLst>
          </p:cNvPr>
          <p:cNvSpPr txBox="1"/>
          <p:nvPr/>
        </p:nvSpPr>
        <p:spPr>
          <a:xfrm>
            <a:off x="1078992" y="3520440"/>
            <a:ext cx="4224528" cy="1754326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docs:check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</a:t>
            </a:r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Web/API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표면 정합성 확인</a:t>
            </a:r>
          </a:p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runtime audit high/critical 0, moderate 5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추적</a:t>
            </a:r>
          </a:p>
          <a:p>
            <a:r>
              <a:rPr lang="en-US" altLang="ko-KR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• Docker </a:t>
            </a:r>
            <a:r>
              <a:rPr lang="ko-KR" altLang="en-US" sz="114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의존 검증은 발표 직전 별도 재확인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83264D-9025-35A3-8C1A-B019D282DA7B}"/>
              </a:ext>
            </a:extLst>
          </p:cNvPr>
          <p:cNvSpPr/>
          <p:nvPr/>
        </p:nvSpPr>
        <p:spPr>
          <a:xfrm>
            <a:off x="6199632" y="3154680"/>
            <a:ext cx="4754880" cy="1481328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0B5336-1A0C-636D-3474-10B19669DE62}"/>
              </a:ext>
            </a:extLst>
          </p:cNvPr>
          <p:cNvSpPr txBox="1"/>
          <p:nvPr/>
        </p:nvSpPr>
        <p:spPr>
          <a:xfrm>
            <a:off x="6419088" y="3410712"/>
            <a:ext cx="4251960" cy="120032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주의
검증 숫자는 사용자 지표가 아니라</a:t>
            </a:r>
            <a:r>
              <a:rPr lang="en-US" altLang="ko-KR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문서</a:t>
            </a:r>
            <a:r>
              <a:rPr lang="en-US" altLang="ko-KR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코드</a:t>
            </a:r>
            <a:r>
              <a:rPr lang="en-US" altLang="ko-KR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테스트</a:t>
            </a:r>
            <a:r>
              <a:rPr lang="en-US" altLang="ko-KR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·</a:t>
            </a:r>
            <a:r>
              <a:rPr lang="ko-KR" altLang="en-US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보안 게이트가 함께 관리되는 상태를 보여주는 근거입니다</a:t>
            </a:r>
            <a:r>
              <a:rPr lang="en-US" altLang="ko-KR" sz="133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33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C61D6-7581-1D49-B891-9D805DF51659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9C6937-5725-DAEB-5C61-3829FDE744B5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30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741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888C57-D3AA-96D7-6F99-C7A110EB51C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CD2105-CD28-63AD-93F3-456D9E95452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05C3203-C9CC-1B40-A86D-213CA77509CE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132DC-BF02-17D2-E757-20C853E9EE97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OPERATIONS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7E93A-4364-C6FB-3FBA-20CB3C1AD1FB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배포와 운영 인식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31949D4-6CAD-4B7C-A2DC-C91A47057E07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20172D-BCF0-3E8F-EBE6-BB2405E8E58B}"/>
              </a:ext>
            </a:extLst>
          </p:cNvPr>
          <p:cNvSpPr/>
          <p:nvPr/>
        </p:nvSpPr>
        <p:spPr>
          <a:xfrm>
            <a:off x="749808" y="1371600"/>
            <a:ext cx="23317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E9DB4A-9A65-AB80-64B0-EABD2C3B36A0}"/>
              </a:ext>
            </a:extLst>
          </p:cNvPr>
          <p:cNvSpPr/>
          <p:nvPr/>
        </p:nvSpPr>
        <p:spPr>
          <a:xfrm>
            <a:off x="749808" y="1371600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D4129-9BDC-D323-DE52-E7FBBFCA749A}"/>
              </a:ext>
            </a:extLst>
          </p:cNvPr>
          <p:cNvSpPr txBox="1"/>
          <p:nvPr/>
        </p:nvSpPr>
        <p:spPr>
          <a:xfrm>
            <a:off x="914400" y="1472184"/>
            <a:ext cx="20391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Docker</a:t>
            </a:r>
            <a:endParaRPr lang="ko-KR" altLang="en-US" sz="1080" b="1">
              <a:solidFill>
                <a:srgbClr val="2454D9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9153D-9A70-F8CA-DE7B-2FA829DDCF9C}"/>
              </a:ext>
            </a:extLst>
          </p:cNvPr>
          <p:cNvSpPr txBox="1"/>
          <p:nvPr/>
        </p:nvSpPr>
        <p:spPr>
          <a:xfrm>
            <a:off x="914400" y="1719072"/>
            <a:ext cx="20391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개인 서버 배포
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API/Web/MySQL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A262A3-246E-033B-3972-C955D405C96F}"/>
              </a:ext>
            </a:extLst>
          </p:cNvPr>
          <p:cNvSpPr/>
          <p:nvPr/>
        </p:nvSpPr>
        <p:spPr>
          <a:xfrm>
            <a:off x="3447288" y="1371600"/>
            <a:ext cx="23317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457073-762D-731D-3247-53A55875F799}"/>
              </a:ext>
            </a:extLst>
          </p:cNvPr>
          <p:cNvSpPr/>
          <p:nvPr/>
        </p:nvSpPr>
        <p:spPr>
          <a:xfrm>
            <a:off x="3447288" y="1371600"/>
            <a:ext cx="64008" cy="93268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D3656-1AB9-1DD1-B141-B7960162ADBC}"/>
              </a:ext>
            </a:extLst>
          </p:cNvPr>
          <p:cNvSpPr txBox="1"/>
          <p:nvPr/>
        </p:nvSpPr>
        <p:spPr>
          <a:xfrm>
            <a:off x="3611880" y="1472184"/>
            <a:ext cx="20391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Compose</a:t>
            </a:r>
            <a:endParaRPr lang="ko-KR" altLang="en-US" sz="108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B491EC-087A-D9B1-52C8-091D3EEE97F9}"/>
              </a:ext>
            </a:extLst>
          </p:cNvPr>
          <p:cNvSpPr txBox="1"/>
          <p:nvPr/>
        </p:nvSpPr>
        <p:spPr>
          <a:xfrm>
            <a:off x="3611880" y="1719072"/>
            <a:ext cx="20391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 + API + DB
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마이그레이션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582256-8605-28F7-F2F8-A51674BF5B68}"/>
              </a:ext>
            </a:extLst>
          </p:cNvPr>
          <p:cNvSpPr/>
          <p:nvPr/>
        </p:nvSpPr>
        <p:spPr>
          <a:xfrm>
            <a:off x="6144768" y="1371600"/>
            <a:ext cx="23317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2D632F-19EB-FE15-5692-C50742120E8B}"/>
              </a:ext>
            </a:extLst>
          </p:cNvPr>
          <p:cNvSpPr/>
          <p:nvPr/>
        </p:nvSpPr>
        <p:spPr>
          <a:xfrm>
            <a:off x="6144768" y="1371600"/>
            <a:ext cx="64008" cy="93268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03500-5FCE-6254-EA2F-2297769D279E}"/>
              </a:ext>
            </a:extLst>
          </p:cNvPr>
          <p:cNvSpPr txBox="1"/>
          <p:nvPr/>
        </p:nvSpPr>
        <p:spPr>
          <a:xfrm>
            <a:off x="6309360" y="1472184"/>
            <a:ext cx="20391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DDNS/HTTPS</a:t>
            </a:r>
            <a:endParaRPr lang="ko-KR" altLang="en-US" sz="1080" b="1">
              <a:solidFill>
                <a:srgbClr val="D97706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7D0D2-00AA-5A89-3031-9ECA19340323}"/>
              </a:ext>
            </a:extLst>
          </p:cNvPr>
          <p:cNvSpPr txBox="1"/>
          <p:nvPr/>
        </p:nvSpPr>
        <p:spPr>
          <a:xfrm>
            <a:off x="6309360" y="1719072"/>
            <a:ext cx="20391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Dynu DDNS
Caddy TLS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4B2852-ED92-4F7A-3518-43371FEB5BB6}"/>
              </a:ext>
            </a:extLst>
          </p:cNvPr>
          <p:cNvSpPr/>
          <p:nvPr/>
        </p:nvSpPr>
        <p:spPr>
          <a:xfrm>
            <a:off x="8842248" y="1371600"/>
            <a:ext cx="23317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EC4627-EA06-49C3-C827-5CDAB98B3632}"/>
              </a:ext>
            </a:extLst>
          </p:cNvPr>
          <p:cNvSpPr/>
          <p:nvPr/>
        </p:nvSpPr>
        <p:spPr>
          <a:xfrm>
            <a:off x="8842248" y="1371600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02A7D5-DFCF-3C6E-D6CF-1B7065EE1F56}"/>
              </a:ext>
            </a:extLst>
          </p:cNvPr>
          <p:cNvSpPr txBox="1"/>
          <p:nvPr/>
        </p:nvSpPr>
        <p:spPr>
          <a:xfrm>
            <a:off x="9006840" y="1472184"/>
            <a:ext cx="203911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환경</a:t>
            </a:r>
            <a:r>
              <a:rPr lang="en-US" altLang="ko-KR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비밀값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B4DF50-E1A7-09F1-7CE1-3ADA5E0BE466}"/>
              </a:ext>
            </a:extLst>
          </p:cNvPr>
          <p:cNvSpPr txBox="1"/>
          <p:nvPr/>
        </p:nvSpPr>
        <p:spPr>
          <a:xfrm>
            <a:off x="9006840" y="1719072"/>
            <a:ext cx="203911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환경값과
비밀값 분리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3C17CA4-2D21-D969-4197-394DC56BA05C}"/>
              </a:ext>
            </a:extLst>
          </p:cNvPr>
          <p:cNvSpPr/>
          <p:nvPr/>
        </p:nvSpPr>
        <p:spPr>
          <a:xfrm>
            <a:off x="1005840" y="2944368"/>
            <a:ext cx="99669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A3FF8F2-C0A8-1005-109C-A046513317EA}"/>
              </a:ext>
            </a:extLst>
          </p:cNvPr>
          <p:cNvSpPr/>
          <p:nvPr/>
        </p:nvSpPr>
        <p:spPr>
          <a:xfrm>
            <a:off x="1005840" y="2944368"/>
            <a:ext cx="64008" cy="96012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4273B-A436-F5E9-181A-E45E152E5196}"/>
              </a:ext>
            </a:extLst>
          </p:cNvPr>
          <p:cNvSpPr txBox="1"/>
          <p:nvPr/>
        </p:nvSpPr>
        <p:spPr>
          <a:xfrm>
            <a:off x="1170432" y="3044952"/>
            <a:ext cx="967435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개인 서버 배포 기준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11B644-C772-C569-DB03-DF71E2E0A705}"/>
              </a:ext>
            </a:extLst>
          </p:cNvPr>
          <p:cNvSpPr txBox="1"/>
          <p:nvPr/>
        </p:nvSpPr>
        <p:spPr>
          <a:xfrm>
            <a:off x="1170432" y="3291840"/>
            <a:ext cx="967435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Docker Compose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로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Web/API/MySQL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을 개인 서버에 배포하고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Dynu DDNS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와 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Caddy HTTPS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리버스 프록시로 외부 접속을 구성했습니다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20">
              <a:solidFill>
                <a:srgbClr val="111827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403E4F-56E6-8C47-AECE-8D79815ADD03}"/>
              </a:ext>
            </a:extLst>
          </p:cNvPr>
          <p:cNvSpPr/>
          <p:nvPr/>
        </p:nvSpPr>
        <p:spPr>
          <a:xfrm>
            <a:off x="1005840" y="4370832"/>
            <a:ext cx="9966960" cy="804672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41F544-8E0F-951A-E1EB-FD38D4087A30}"/>
              </a:ext>
            </a:extLst>
          </p:cNvPr>
          <p:cNvSpPr txBox="1"/>
          <p:nvPr/>
        </p:nvSpPr>
        <p:spPr>
          <a:xfrm>
            <a:off x="1261872" y="4553712"/>
            <a:ext cx="18745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12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실무로 이어진 이해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A37C7-9DBB-A31B-B968-2F4051175C0D}"/>
              </a:ext>
            </a:extLst>
          </p:cNvPr>
          <p:cNvSpPr txBox="1"/>
          <p:nvPr/>
        </p:nvSpPr>
        <p:spPr>
          <a:xfrm>
            <a:off x="2971800" y="4480560"/>
            <a:ext cx="717804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직접 배포 경험은 </a:t>
            </a:r>
            <a:r>
              <a:rPr lang="en-US" altLang="ko-KR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DB </a:t>
            </a:r>
            <a:r>
              <a:rPr lang="ko-KR" altLang="en-US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서버 간 연결</a:t>
            </a:r>
            <a:r>
              <a:rPr lang="en-US" altLang="ko-KR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방화벽 인바운드</a:t>
            </a:r>
            <a:r>
              <a:rPr lang="en-US" altLang="ko-KR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DTC/RPC Dynamic Port </a:t>
            </a:r>
            <a:r>
              <a:rPr lang="ko-KR" altLang="en-US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같은 통신 이슈를 구조적으로 보는 기반이 되었습니다</a:t>
            </a:r>
            <a:r>
              <a:rPr lang="en-US" altLang="ko-KR" sz="1080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1080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65FD2-4496-532C-3BD6-D92D1DE6EA36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E6EE44-B729-2A10-561B-976152F2CC94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31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4656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086246-6F73-0568-A3C5-167446339F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E95F0E-E921-4173-61A3-27DADFB5BA2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C2276ED-193F-8961-4608-0E32E541C23D}"/>
              </a:ext>
            </a:extLst>
          </p:cNvPr>
          <p:cNvSpPr/>
          <p:nvPr/>
        </p:nvSpPr>
        <p:spPr>
          <a:xfrm>
            <a:off x="548640" y="310896"/>
            <a:ext cx="1170432" cy="228600"/>
          </a:xfrm>
          <a:prstGeom prst="roundRect">
            <a:avLst/>
          </a:prstGeom>
          <a:solidFill>
            <a:srgbClr val="EAFB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8977B-2E24-3B34-A6F4-F223A3CBBAA0}"/>
              </a:ext>
            </a:extLst>
          </p:cNvPr>
          <p:cNvSpPr txBox="1"/>
          <p:nvPr/>
        </p:nvSpPr>
        <p:spPr>
          <a:xfrm>
            <a:off x="630936" y="338328"/>
            <a:ext cx="960120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ctr"/>
            <a:r>
              <a:rPr lang="en-US" altLang="ko-KR" sz="7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ROADMAP</a:t>
            </a:r>
            <a:endParaRPr lang="ko-KR" altLang="en-US" sz="750" b="1">
              <a:solidFill>
                <a:srgbClr val="008A8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45FB5-7E4D-4D57-A0BA-47717EB121DD}"/>
              </a:ext>
            </a:extLst>
          </p:cNvPr>
          <p:cNvSpPr txBox="1"/>
          <p:nvPr/>
        </p:nvSpPr>
        <p:spPr>
          <a:xfrm>
            <a:off x="530352" y="603504"/>
            <a:ext cx="1069848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350" b="1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한계와 다음 단계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C30532D-AFD8-E0C6-8175-1A796E883E51}"/>
              </a:ext>
            </a:extLst>
          </p:cNvPr>
          <p:cNvCxnSpPr/>
          <p:nvPr/>
        </p:nvCxnSpPr>
        <p:spPr>
          <a:xfrm>
            <a:off x="548640" y="1097280"/>
            <a:ext cx="11109960" cy="0"/>
          </a:xfrm>
          <a:prstGeom prst="line">
            <a:avLst/>
          </a:prstGeom>
          <a:ln w="15240">
            <a:solidFill>
              <a:srgbClr val="E8E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AB838B-F066-9C23-3627-D3D3323FD2B2}"/>
              </a:ext>
            </a:extLst>
          </p:cNvPr>
          <p:cNvSpPr/>
          <p:nvPr/>
        </p:nvSpPr>
        <p:spPr>
          <a:xfrm>
            <a:off x="749808" y="1298448"/>
            <a:ext cx="2377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98E0E7-68BF-18E3-DAF0-0497BE6E12A0}"/>
              </a:ext>
            </a:extLst>
          </p:cNvPr>
          <p:cNvSpPr/>
          <p:nvPr/>
        </p:nvSpPr>
        <p:spPr>
          <a:xfrm>
            <a:off x="749808" y="1298448"/>
            <a:ext cx="64008" cy="67665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5B141-9A4D-D47A-02F1-033C4FDF7438}"/>
              </a:ext>
            </a:extLst>
          </p:cNvPr>
          <p:cNvSpPr txBox="1"/>
          <p:nvPr/>
        </p:nvSpPr>
        <p:spPr>
          <a:xfrm>
            <a:off x="914400" y="1389888"/>
            <a:ext cx="20848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라이선스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269DE-C5B1-906E-DEC9-31EEFD25EE83}"/>
              </a:ext>
            </a:extLst>
          </p:cNvPr>
          <p:cNvSpPr txBox="1"/>
          <p:nvPr/>
        </p:nvSpPr>
        <p:spPr>
          <a:xfrm>
            <a:off x="914400" y="1627632"/>
            <a:ext cx="2084832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루트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LICENSE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와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THIRD_PARTY_NOTICES.md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명시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B62ECC0-3E8B-F81C-166F-E8B5223C51BA}"/>
              </a:ext>
            </a:extLst>
          </p:cNvPr>
          <p:cNvCxnSpPr/>
          <p:nvPr/>
        </p:nvCxnSpPr>
        <p:spPr>
          <a:xfrm>
            <a:off x="3246120" y="1636776"/>
            <a:ext cx="30175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2E7E2C-F4F9-087C-27DE-70FB5A0CD2F5}"/>
              </a:ext>
            </a:extLst>
          </p:cNvPr>
          <p:cNvSpPr/>
          <p:nvPr/>
        </p:nvSpPr>
        <p:spPr>
          <a:xfrm>
            <a:off x="3703320" y="1298448"/>
            <a:ext cx="729691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A8F60A-EDC2-9A58-C320-56ED473486DA}"/>
              </a:ext>
            </a:extLst>
          </p:cNvPr>
          <p:cNvSpPr/>
          <p:nvPr/>
        </p:nvSpPr>
        <p:spPr>
          <a:xfrm>
            <a:off x="3703320" y="1298448"/>
            <a:ext cx="64008" cy="67665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9E050-C9D9-FDDB-EBED-F1CBC1C265E0}"/>
              </a:ext>
            </a:extLst>
          </p:cNvPr>
          <p:cNvSpPr txBox="1"/>
          <p:nvPr/>
        </p:nvSpPr>
        <p:spPr>
          <a:xfrm>
            <a:off x="3867912" y="1389888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보완 방향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83422-C574-C392-DBD6-4D95BC9BBCA9}"/>
              </a:ext>
            </a:extLst>
          </p:cNvPr>
          <p:cNvSpPr txBox="1"/>
          <p:nvPr/>
        </p:nvSpPr>
        <p:spPr>
          <a:xfrm>
            <a:off x="3867912" y="1627632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배포 전 번들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컨테이너 기준 고지 재점검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AC494F-27D1-3FDA-92C8-314D403D5563}"/>
              </a:ext>
            </a:extLst>
          </p:cNvPr>
          <p:cNvSpPr/>
          <p:nvPr/>
        </p:nvSpPr>
        <p:spPr>
          <a:xfrm>
            <a:off x="749808" y="2176272"/>
            <a:ext cx="2377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CAEBE6-7805-B0F5-04B4-0AE6C5235231}"/>
              </a:ext>
            </a:extLst>
          </p:cNvPr>
          <p:cNvSpPr/>
          <p:nvPr/>
        </p:nvSpPr>
        <p:spPr>
          <a:xfrm>
            <a:off x="749808" y="2176272"/>
            <a:ext cx="64008" cy="67665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CFF36A-F00A-1784-2863-D951F6E15E58}"/>
              </a:ext>
            </a:extLst>
          </p:cNvPr>
          <p:cNvSpPr txBox="1"/>
          <p:nvPr/>
        </p:nvSpPr>
        <p:spPr>
          <a:xfrm>
            <a:off x="914400" y="2267712"/>
            <a:ext cx="20848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프록시 설정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CEB332-BC0C-0644-EFC3-D49E0D81050F}"/>
              </a:ext>
            </a:extLst>
          </p:cNvPr>
          <p:cNvSpPr txBox="1"/>
          <p:nvPr/>
        </p:nvSpPr>
        <p:spPr>
          <a:xfrm>
            <a:off x="914400" y="2505456"/>
            <a:ext cx="20848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실제 서버 설정은 저장소 외부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42EC51B-2EE3-DB45-E4AC-85A318BC9F12}"/>
              </a:ext>
            </a:extLst>
          </p:cNvPr>
          <p:cNvCxnSpPr/>
          <p:nvPr/>
        </p:nvCxnSpPr>
        <p:spPr>
          <a:xfrm>
            <a:off x="3246120" y="2514600"/>
            <a:ext cx="30175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9B76D7-8732-AEE8-19CF-84441BA96886}"/>
              </a:ext>
            </a:extLst>
          </p:cNvPr>
          <p:cNvSpPr/>
          <p:nvPr/>
        </p:nvSpPr>
        <p:spPr>
          <a:xfrm>
            <a:off x="3703320" y="2176272"/>
            <a:ext cx="729691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75C59E-FF0D-8987-0A4B-EF6593C5887F}"/>
              </a:ext>
            </a:extLst>
          </p:cNvPr>
          <p:cNvSpPr/>
          <p:nvPr/>
        </p:nvSpPr>
        <p:spPr>
          <a:xfrm>
            <a:off x="3703320" y="2176272"/>
            <a:ext cx="64008" cy="67665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C593A2-062E-1435-1412-CE04AF26CAEB}"/>
              </a:ext>
            </a:extLst>
          </p:cNvPr>
          <p:cNvSpPr txBox="1"/>
          <p:nvPr/>
        </p:nvSpPr>
        <p:spPr>
          <a:xfrm>
            <a:off x="3867912" y="2267712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보완 방향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42BB9-BF24-FE85-4D8A-F81BF0F17D78}"/>
              </a:ext>
            </a:extLst>
          </p:cNvPr>
          <p:cNvSpPr txBox="1"/>
          <p:nvPr/>
        </p:nvSpPr>
        <p:spPr>
          <a:xfrm>
            <a:off x="3867912" y="2505456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공개 가능한 예시 템플릿 추가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60BFB17-1A24-5328-EA6B-E6E0E827D159}"/>
              </a:ext>
            </a:extLst>
          </p:cNvPr>
          <p:cNvSpPr/>
          <p:nvPr/>
        </p:nvSpPr>
        <p:spPr>
          <a:xfrm>
            <a:off x="749808" y="3054096"/>
            <a:ext cx="2377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1CF842-41D1-F9DB-27C7-E05C212E4249}"/>
              </a:ext>
            </a:extLst>
          </p:cNvPr>
          <p:cNvSpPr/>
          <p:nvPr/>
        </p:nvSpPr>
        <p:spPr>
          <a:xfrm>
            <a:off x="749808" y="3054096"/>
            <a:ext cx="64008" cy="67665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F9CBD-CFBB-E96E-54E0-9EB77DB4E80B}"/>
              </a:ext>
            </a:extLst>
          </p:cNvPr>
          <p:cNvSpPr txBox="1"/>
          <p:nvPr/>
        </p:nvSpPr>
        <p:spPr>
          <a:xfrm>
            <a:off x="914400" y="3145536"/>
            <a:ext cx="20848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최신 보안 점검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6D6553-492F-C370-1DE6-0D54E1BEFA41}"/>
              </a:ext>
            </a:extLst>
          </p:cNvPr>
          <p:cNvSpPr txBox="1"/>
          <p:nvPr/>
        </p:nvSpPr>
        <p:spPr>
          <a:xfrm>
            <a:off x="914400" y="3383280"/>
            <a:ext cx="20848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발표 시점 최신 실행 로그 필요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D08C564-AF0E-DA2D-14D8-13983DF71150}"/>
              </a:ext>
            </a:extLst>
          </p:cNvPr>
          <p:cNvCxnSpPr/>
          <p:nvPr/>
        </p:nvCxnSpPr>
        <p:spPr>
          <a:xfrm>
            <a:off x="3246120" y="3392424"/>
            <a:ext cx="30175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AFE70D-ED4C-E6C2-F4BC-B5B0C35CE26A}"/>
              </a:ext>
            </a:extLst>
          </p:cNvPr>
          <p:cNvSpPr/>
          <p:nvPr/>
        </p:nvSpPr>
        <p:spPr>
          <a:xfrm>
            <a:off x="3703320" y="3054096"/>
            <a:ext cx="729691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C9F076-34DE-2036-108E-BDA43F1B7281}"/>
              </a:ext>
            </a:extLst>
          </p:cNvPr>
          <p:cNvSpPr/>
          <p:nvPr/>
        </p:nvSpPr>
        <p:spPr>
          <a:xfrm>
            <a:off x="3703320" y="3054096"/>
            <a:ext cx="64008" cy="67665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2D9961-7425-7983-50AE-225468B0F276}"/>
              </a:ext>
            </a:extLst>
          </p:cNvPr>
          <p:cNvSpPr txBox="1"/>
          <p:nvPr/>
        </p:nvSpPr>
        <p:spPr>
          <a:xfrm>
            <a:off x="3867912" y="3145536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보완 방향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1F3706-3C20-B6EE-A255-9BE5320B7689}"/>
              </a:ext>
            </a:extLst>
          </p:cNvPr>
          <p:cNvSpPr txBox="1"/>
          <p:nvPr/>
        </p:nvSpPr>
        <p:spPr>
          <a:xfrm>
            <a:off x="3867912" y="3383280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PPT 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제작 직전 실행 결과 캡처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BBB0736-8013-28B7-E391-57A52A7A7C2E}"/>
              </a:ext>
            </a:extLst>
          </p:cNvPr>
          <p:cNvSpPr/>
          <p:nvPr/>
        </p:nvSpPr>
        <p:spPr>
          <a:xfrm>
            <a:off x="749808" y="3931920"/>
            <a:ext cx="2377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662764-DB7B-9B8C-9688-48CFAD1A781A}"/>
              </a:ext>
            </a:extLst>
          </p:cNvPr>
          <p:cNvSpPr/>
          <p:nvPr/>
        </p:nvSpPr>
        <p:spPr>
          <a:xfrm>
            <a:off x="749808" y="3931920"/>
            <a:ext cx="64008" cy="67665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6867A5-A642-329D-754F-46F640D2D716}"/>
              </a:ext>
            </a:extLst>
          </p:cNvPr>
          <p:cNvSpPr txBox="1"/>
          <p:nvPr/>
        </p:nvSpPr>
        <p:spPr>
          <a:xfrm>
            <a:off x="914400" y="4023360"/>
            <a:ext cx="20848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장기 운영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560270-80D0-9F75-3D1C-2569ACA122F7}"/>
              </a:ext>
            </a:extLst>
          </p:cNvPr>
          <p:cNvSpPr txBox="1"/>
          <p:nvPr/>
        </p:nvSpPr>
        <p:spPr>
          <a:xfrm>
            <a:off x="914400" y="4261104"/>
            <a:ext cx="20848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백업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모니터링은 추가 과제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3068657-E6DC-E076-3B11-3C318D3541C8}"/>
              </a:ext>
            </a:extLst>
          </p:cNvPr>
          <p:cNvCxnSpPr/>
          <p:nvPr/>
        </p:nvCxnSpPr>
        <p:spPr>
          <a:xfrm>
            <a:off x="3246120" y="4270248"/>
            <a:ext cx="30175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D7CFF2C-674B-A973-9850-AE5584DF0CEC}"/>
              </a:ext>
            </a:extLst>
          </p:cNvPr>
          <p:cNvSpPr/>
          <p:nvPr/>
        </p:nvSpPr>
        <p:spPr>
          <a:xfrm>
            <a:off x="3703320" y="3931920"/>
            <a:ext cx="729691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02E00D-AA6A-053E-A2CE-CF0A592C8D61}"/>
              </a:ext>
            </a:extLst>
          </p:cNvPr>
          <p:cNvSpPr/>
          <p:nvPr/>
        </p:nvSpPr>
        <p:spPr>
          <a:xfrm>
            <a:off x="3703320" y="3931920"/>
            <a:ext cx="64008" cy="67665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943008-8552-1164-D289-CB3DB392DA18}"/>
              </a:ext>
            </a:extLst>
          </p:cNvPr>
          <p:cNvSpPr txBox="1"/>
          <p:nvPr/>
        </p:nvSpPr>
        <p:spPr>
          <a:xfrm>
            <a:off x="3867912" y="4023360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보완 방향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AB92AC-E61D-2F46-7036-9BE0A57BC28A}"/>
              </a:ext>
            </a:extLst>
          </p:cNvPr>
          <p:cNvSpPr txBox="1"/>
          <p:nvPr/>
        </p:nvSpPr>
        <p:spPr>
          <a:xfrm>
            <a:off x="3867912" y="4261104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운영 문서와 복구 시나리오 보강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C80C127-2165-6304-90A2-207D8AB647BE}"/>
              </a:ext>
            </a:extLst>
          </p:cNvPr>
          <p:cNvSpPr/>
          <p:nvPr/>
        </p:nvSpPr>
        <p:spPr>
          <a:xfrm>
            <a:off x="749808" y="4809744"/>
            <a:ext cx="2377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19E1E6-8696-0634-CC0A-1DE8927F835B}"/>
              </a:ext>
            </a:extLst>
          </p:cNvPr>
          <p:cNvSpPr/>
          <p:nvPr/>
        </p:nvSpPr>
        <p:spPr>
          <a:xfrm>
            <a:off x="749808" y="4809744"/>
            <a:ext cx="64008" cy="676656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36CDC8-1D1B-872A-025F-EB15D4E46F1F}"/>
              </a:ext>
            </a:extLst>
          </p:cNvPr>
          <p:cNvSpPr txBox="1"/>
          <p:nvPr/>
        </p:nvSpPr>
        <p:spPr>
          <a:xfrm>
            <a:off x="914400" y="4901184"/>
            <a:ext cx="2084832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외부 연동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C48544-E8EC-D2E6-7C30-1B685B03B26B}"/>
              </a:ext>
            </a:extLst>
          </p:cNvPr>
          <p:cNvSpPr txBox="1"/>
          <p:nvPr/>
        </p:nvSpPr>
        <p:spPr>
          <a:xfrm>
            <a:off x="914400" y="5138928"/>
            <a:ext cx="2084832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세무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은행 </a:t>
            </a:r>
            <a:r>
              <a:rPr lang="en-US" altLang="ko-KR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API</a:t>
            </a:r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는 범위 밖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F8F2803-4ECA-A54D-04FC-958D206AE0C0}"/>
              </a:ext>
            </a:extLst>
          </p:cNvPr>
          <p:cNvCxnSpPr/>
          <p:nvPr/>
        </p:nvCxnSpPr>
        <p:spPr>
          <a:xfrm>
            <a:off x="3246120" y="5148072"/>
            <a:ext cx="301752" cy="0"/>
          </a:xfrm>
          <a:prstGeom prst="line">
            <a:avLst/>
          </a:prstGeom>
          <a:ln w="15240">
            <a:solidFill>
              <a:srgbClr val="D8DE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487FA26-47E4-E1F0-F2CD-1755B0D07726}"/>
              </a:ext>
            </a:extLst>
          </p:cNvPr>
          <p:cNvSpPr/>
          <p:nvPr/>
        </p:nvSpPr>
        <p:spPr>
          <a:xfrm>
            <a:off x="3703320" y="4809744"/>
            <a:ext cx="729691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BA6C990-2876-0B0E-9199-95E5661EB2F4}"/>
              </a:ext>
            </a:extLst>
          </p:cNvPr>
          <p:cNvSpPr/>
          <p:nvPr/>
        </p:nvSpPr>
        <p:spPr>
          <a:xfrm>
            <a:off x="3703320" y="4809744"/>
            <a:ext cx="64008" cy="676656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34D952-1B20-A5F3-25C1-06F71D240146}"/>
              </a:ext>
            </a:extLst>
          </p:cNvPr>
          <p:cNvSpPr txBox="1"/>
          <p:nvPr/>
        </p:nvSpPr>
        <p:spPr>
          <a:xfrm>
            <a:off x="3867912" y="4901184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5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보완 방향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14F570-346D-7FB5-2E5A-D405C65E0A1A}"/>
              </a:ext>
            </a:extLst>
          </p:cNvPr>
          <p:cNvSpPr txBox="1"/>
          <p:nvPr/>
        </p:nvSpPr>
        <p:spPr>
          <a:xfrm>
            <a:off x="3867912" y="5138928"/>
            <a:ext cx="700430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98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후속 제품 로드맵으로 분리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89E905-AC88-3106-7B87-830EF3A78A63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FB10C6-3DA6-6218-5C3B-901E5AD9D8E8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64748B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32</a:t>
            </a:r>
            <a:endParaRPr lang="ko-KR" altLang="en-US" sz="780">
              <a:solidFill>
                <a:srgbClr val="64748B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973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925DEA-CF96-D3B1-4F31-DE91AC125FB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906B03-A730-31D7-F8A7-A2B59AAD4FD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16BBC2-6364-F258-51A4-E9ADEEA9BB8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2A6016-0BB3-60B5-6406-E82924E2B1F9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63BAB-4FDA-1332-19A7-7923B35A0881}"/>
              </a:ext>
            </a:extLst>
          </p:cNvPr>
          <p:cNvSpPr txBox="1"/>
          <p:nvPr/>
        </p:nvSpPr>
        <p:spPr>
          <a:xfrm>
            <a:off x="749808" y="749808"/>
            <a:ext cx="98755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en-US" altLang="ko-KR" sz="29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</a:t>
            </a:r>
            <a:r>
              <a:rPr lang="ko-KR" altLang="en-US" sz="29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가 보여주는 것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E1526D-E22B-A0C3-EA0F-D4B3B7F061E5}"/>
              </a:ext>
            </a:extLst>
          </p:cNvPr>
          <p:cNvSpPr/>
          <p:nvPr/>
        </p:nvSpPr>
        <p:spPr>
          <a:xfrm>
            <a:off x="804672" y="1828800"/>
            <a:ext cx="327355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058650-F0FC-E11F-2EC7-0C135254E7F9}"/>
              </a:ext>
            </a:extLst>
          </p:cNvPr>
          <p:cNvSpPr/>
          <p:nvPr/>
        </p:nvSpPr>
        <p:spPr>
          <a:xfrm>
            <a:off x="804672" y="1828800"/>
            <a:ext cx="64008" cy="932688"/>
          </a:xfrm>
          <a:prstGeom prst="rect">
            <a:avLst/>
          </a:prstGeom>
          <a:solidFill>
            <a:srgbClr val="2454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F91F8-D0A2-0905-93BB-83D8D190C5FF}"/>
              </a:ext>
            </a:extLst>
          </p:cNvPr>
          <p:cNvSpPr txBox="1"/>
          <p:nvPr/>
        </p:nvSpPr>
        <p:spPr>
          <a:xfrm>
            <a:off x="969264" y="1929384"/>
            <a:ext cx="298094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2454D9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실무 관점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164A48-6B85-2049-CBEA-B2B95AD8E25E}"/>
              </a:ext>
            </a:extLst>
          </p:cNvPr>
          <p:cNvSpPr txBox="1"/>
          <p:nvPr/>
        </p:nvSpPr>
        <p:spPr>
          <a:xfrm>
            <a:off x="969264" y="2176272"/>
            <a:ext cx="298094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 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유지보수 경험을 화면과 흐름에 반영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177ED4-BA30-B57C-F000-8E87F826820D}"/>
              </a:ext>
            </a:extLst>
          </p:cNvPr>
          <p:cNvSpPr/>
          <p:nvPr/>
        </p:nvSpPr>
        <p:spPr>
          <a:xfrm>
            <a:off x="4462272" y="1828800"/>
            <a:ext cx="327355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620C83-7B81-16A8-779A-F32516C59830}"/>
              </a:ext>
            </a:extLst>
          </p:cNvPr>
          <p:cNvSpPr/>
          <p:nvPr/>
        </p:nvSpPr>
        <p:spPr>
          <a:xfrm>
            <a:off x="4462272" y="1828800"/>
            <a:ext cx="64008" cy="932688"/>
          </a:xfrm>
          <a:prstGeom prst="rect">
            <a:avLst/>
          </a:prstGeom>
          <a:solidFill>
            <a:srgbClr val="008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AADA8-02AF-A537-1C60-D2A50882E8C1}"/>
              </a:ext>
            </a:extLst>
          </p:cNvPr>
          <p:cNvSpPr txBox="1"/>
          <p:nvPr/>
        </p:nvSpPr>
        <p:spPr>
          <a:xfrm>
            <a:off x="4626864" y="1929384"/>
            <a:ext cx="298094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008A8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도메인 경계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10DF28-1510-3DD1-7827-5914213EBBFA}"/>
              </a:ext>
            </a:extLst>
          </p:cNvPr>
          <p:cNvSpPr txBox="1"/>
          <p:nvPr/>
        </p:nvSpPr>
        <p:spPr>
          <a:xfrm>
            <a:off x="4626864" y="2176272"/>
            <a:ext cx="298094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수집 거래와 전표를 분리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76FFB6-79B5-2AE8-F6B2-1D7CBE70B7BC}"/>
              </a:ext>
            </a:extLst>
          </p:cNvPr>
          <p:cNvSpPr/>
          <p:nvPr/>
        </p:nvSpPr>
        <p:spPr>
          <a:xfrm>
            <a:off x="8119872" y="1828800"/>
            <a:ext cx="327355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DC4839-FB56-1B61-BD10-D3CA1DB6509C}"/>
              </a:ext>
            </a:extLst>
          </p:cNvPr>
          <p:cNvSpPr/>
          <p:nvPr/>
        </p:nvSpPr>
        <p:spPr>
          <a:xfrm>
            <a:off x="8119872" y="1828800"/>
            <a:ext cx="64008" cy="932688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59B66-E677-933F-AF7F-3F5F585B9A71}"/>
              </a:ext>
            </a:extLst>
          </p:cNvPr>
          <p:cNvSpPr txBox="1"/>
          <p:nvPr/>
        </p:nvSpPr>
        <p:spPr>
          <a:xfrm>
            <a:off x="8284464" y="1929384"/>
            <a:ext cx="2980944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ko-KR" altLang="en-US" sz="1080" b="1">
                <a:solidFill>
                  <a:srgbClr val="D97706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제품 완성도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45481-FEB5-CF3E-CA39-F305FA02B727}"/>
              </a:ext>
            </a:extLst>
          </p:cNvPr>
          <p:cNvSpPr txBox="1"/>
          <p:nvPr/>
        </p:nvSpPr>
        <p:spPr>
          <a:xfrm>
            <a:off x="8284464" y="2176272"/>
            <a:ext cx="2980944" cy="609398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Web/API/DB/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검증</a:t>
            </a:r>
            <a:r>
              <a:rPr lang="en-US" altLang="ko-KR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/</a:t>
            </a:r>
            <a:r>
              <a:rPr lang="ko-KR" altLang="en-US" sz="1020">
                <a:solidFill>
                  <a:srgbClr val="111827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배포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B5AECB-A6E8-3B32-8385-B0CD2EA29413}"/>
              </a:ext>
            </a:extLst>
          </p:cNvPr>
          <p:cNvSpPr/>
          <p:nvPr/>
        </p:nvSpPr>
        <p:spPr>
          <a:xfrm>
            <a:off x="859536" y="3749040"/>
            <a:ext cx="10424160" cy="1115568"/>
          </a:xfrm>
          <a:prstGeom prst="rect">
            <a:avLst/>
          </a:prstGeom>
          <a:solidFill>
            <a:srgbClr val="272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5747BB-DC61-2D77-07C2-DEFDBBD37DCA}"/>
              </a:ext>
            </a:extLst>
          </p:cNvPr>
          <p:cNvSpPr txBox="1"/>
          <p:nvPr/>
        </p:nvSpPr>
        <p:spPr>
          <a:xfrm>
            <a:off x="1097280" y="3950208"/>
            <a:ext cx="9784080" cy="886397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Autofit/>
          </a:bodyPr>
          <a:lstStyle/>
          <a:p>
            <a:r>
              <a:rPr lang="ko-KR" altLang="en-US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마지막 문장
실무 </a:t>
            </a:r>
            <a:r>
              <a:rPr lang="en-US" altLang="ko-KR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 </a:t>
            </a:r>
            <a:r>
              <a:rPr lang="ko-KR" altLang="en-US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유지보수에서 배운 운영 기준을 바탕으로</a:t>
            </a:r>
            <a:r>
              <a:rPr lang="en-US" altLang="ko-KR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도메인 경계와 월 운영 흐름을 끝까지 설명할 수 있게 만든 </a:t>
            </a:r>
            <a:r>
              <a:rPr lang="en-US" altLang="ko-KR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ERP</a:t>
            </a:r>
            <a:r>
              <a:rPr lang="ko-KR" altLang="en-US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입니다</a:t>
            </a:r>
            <a:r>
              <a:rPr lang="en-US" altLang="ko-KR" sz="2100" b="1">
                <a:solidFill>
                  <a:srgbClr val="FFFFFF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FFFFFF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2F390-1BAC-89EB-AF00-BF706A4592A5}"/>
              </a:ext>
            </a:extLst>
          </p:cNvPr>
          <p:cNvSpPr txBox="1"/>
          <p:nvPr/>
        </p:nvSpPr>
        <p:spPr>
          <a:xfrm>
            <a:off x="1024128" y="5513832"/>
            <a:ext cx="49377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5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public demo: personalerp.theworkpc.com</a:t>
            </a:r>
            <a:endParaRPr lang="ko-KR" altLang="en-US" sz="1150">
              <a:solidFill>
                <a:srgbClr val="D4D4D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478F1-365F-1043-B1D6-FD92E602BD99}"/>
              </a:ext>
            </a:extLst>
          </p:cNvPr>
          <p:cNvSpPr txBox="1"/>
          <p:nvPr/>
        </p:nvSpPr>
        <p:spPr>
          <a:xfrm>
            <a:off x="1024128" y="5870448"/>
            <a:ext cx="525780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1150">
                <a:solidFill>
                  <a:srgbClr val="D4D4D8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github.com/cheon0965/PERSONAL_ERP</a:t>
            </a:r>
            <a:endParaRPr lang="ko-KR" altLang="en-US" sz="1150">
              <a:solidFill>
                <a:srgbClr val="D4D4D8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936357-8CEF-FD1D-AB0D-334C4B1BE2E2}"/>
              </a:ext>
            </a:extLst>
          </p:cNvPr>
          <p:cNvSpPr txBox="1"/>
          <p:nvPr/>
        </p:nvSpPr>
        <p:spPr>
          <a:xfrm>
            <a:off x="530352" y="6473952"/>
            <a:ext cx="539496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r>
              <a:rPr lang="en-US" altLang="ko-KR" sz="780">
                <a:solidFill>
                  <a:srgbClr val="A1A1A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PERSONAL_ERP Portfolio Case Study</a:t>
            </a:r>
            <a:endParaRPr lang="ko-KR" altLang="en-US" sz="780">
              <a:solidFill>
                <a:srgbClr val="A1A1A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BDC252-5CF6-8050-A098-B572021C9156}"/>
              </a:ext>
            </a:extLst>
          </p:cNvPr>
          <p:cNvSpPr txBox="1"/>
          <p:nvPr/>
        </p:nvSpPr>
        <p:spPr>
          <a:xfrm>
            <a:off x="11201400" y="6473952"/>
            <a:ext cx="502920" cy="332399"/>
          </a:xfrm>
          <a:prstGeom prst="rect">
            <a:avLst/>
          </a:prstGeom>
          <a:noFill/>
        </p:spPr>
        <p:txBody>
          <a:bodyPr vert="horz" wrap="square" lIns="54864" tIns="27432" rIns="54864" bIns="27432" rtlCol="0">
            <a:normAutofit/>
          </a:bodyPr>
          <a:lstStyle/>
          <a:p>
            <a:pPr algn="r"/>
            <a:r>
              <a:rPr lang="en-US" altLang="ko-KR" sz="780">
                <a:solidFill>
                  <a:srgbClr val="A1A1AA"/>
                </a:solidFill>
                <a:latin typeface="Aptos" panose="020B0004020202020204" pitchFamily="34" charset="0"/>
                <a:ea typeface="Malgun Gothic" panose="020B0503020000020004" pitchFamily="50" charset="-127"/>
              </a:rPr>
              <a:t>33</a:t>
            </a:r>
            <a:endParaRPr lang="ko-KR" altLang="en-US" sz="780">
              <a:solidFill>
                <a:srgbClr val="A1A1AA"/>
              </a:solidFill>
              <a:latin typeface="Aptos" panose="020B0004020202020204" pitchFamily="34" charset="0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53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3287</Words>
  <Application>Microsoft Office PowerPoint</Application>
  <PresentationFormat>와이드스크린</PresentationFormat>
  <Paragraphs>608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chc</dc:creator>
  <cp:lastModifiedBy>chc</cp:lastModifiedBy>
  <cp:revision>11</cp:revision>
  <dcterms:created xsi:type="dcterms:W3CDTF">2026-06-18T00:30:58Z</dcterms:created>
  <dcterms:modified xsi:type="dcterms:W3CDTF">2026-06-19T00:16:30Z</dcterms:modified>
</cp:coreProperties>
</file>